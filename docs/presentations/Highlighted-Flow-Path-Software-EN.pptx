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1" d="100"/>
          <a:sy n="61" d="100"/>
        </p:scale>
        <p:origin x="152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52B0FA-5C25-4218-BEDD-533E8927841A}" type="datetimeFigureOut">
              <a:rPr lang="zh-CN" altLang="en-US" smtClean="0"/>
              <a:t>2026/8/13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F89A79-E9B9-4A9A-BB6A-C1DD7ABD9571}" type="slidenum">
              <a:rPr lang="zh-CN" altLang="en-US" smtClean="0"/>
              <a:t>‹#›</a:t>
            </a:fld>
            <a:endParaRPr lang="zh-CN" altLang="en-US"/>
          </a:p>
        </p:txBody>
      </p:sp>
    </p:spTree>
    <p:extLst>
      <p:ext uri="{BB962C8B-B14F-4D97-AF65-F5344CB8AC3E}">
        <p14:creationId xmlns:p14="http://schemas.microsoft.com/office/powerpoint/2010/main" val="33492303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The focus today is not a PDF utility. It is a design-stage platform for digital P&amp;ID flow analysis and simulation, supporting pharmaceutical, bioreactor, solution preparation, and CIP/SIP systems. It helps engineering teams confirm flow paths and equipment states for each process phase.</a:t>
            </a:r>
            <a:endParaRPr lang="zh-CN" altLang="en-US"/>
          </a:p>
        </p:txBody>
      </p:sp>
      <p:sp>
        <p:nvSpPr>
          <p:cNvPr id="4" name="灯片编号占位符 3"/>
          <p:cNvSpPr>
            <a:spLocks noGrp="1"/>
          </p:cNvSpPr>
          <p:nvPr>
            <p:ph type="sldNum" sz="quarter" idx="5"/>
          </p:nvPr>
        </p:nvSpPr>
        <p:spPr/>
        <p:txBody>
          <a:bodyPr/>
          <a:lstStyle/>
          <a:p>
            <a:fld id="{25F89A79-E9B9-4A9A-BB6A-C1DD7ABD9571}" type="slidenum">
              <a:rPr lang="zh-CN" altLang="en-US" smtClean="0"/>
              <a:t>1</a:t>
            </a:fld>
            <a:endParaRPr lang="zh-CN" altLang="en-US"/>
          </a:p>
        </p:txBody>
      </p:sp>
    </p:spTree>
    <p:extLst>
      <p:ext uri="{BB962C8B-B14F-4D97-AF65-F5344CB8AC3E}">
        <p14:creationId xmlns:p14="http://schemas.microsoft.com/office/powerpoint/2010/main" val="10275697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In CIP and SIP projects, the challenge is not opening the drawing. It is understanding where the medium actually flows in each phase. As system complexity grows, manual tracing can miss valves, branches, and off-page connections, and the result is difficult to communicate consistently across disciplines.</a:t>
            </a:r>
            <a:endParaRPr lang="zh-CN" altLang="en-US"/>
          </a:p>
        </p:txBody>
      </p:sp>
      <p:sp>
        <p:nvSpPr>
          <p:cNvPr id="4" name="灯片编号占位符 3"/>
          <p:cNvSpPr>
            <a:spLocks noGrp="1"/>
          </p:cNvSpPr>
          <p:nvPr>
            <p:ph type="sldNum" sz="quarter" idx="5"/>
          </p:nvPr>
        </p:nvSpPr>
        <p:spPr/>
        <p:txBody>
          <a:bodyPr/>
          <a:lstStyle/>
          <a:p>
            <a:fld id="{25F89A79-E9B9-4A9A-BB6A-C1DD7ABD9571}" type="slidenum">
              <a:rPr lang="zh-CN" altLang="en-US" smtClean="0"/>
              <a:t>2</a:t>
            </a:fld>
            <a:endParaRPr lang="zh-CN" altLang="en-US"/>
          </a:p>
        </p:txBody>
      </p:sp>
    </p:spTree>
    <p:extLst>
      <p:ext uri="{BB962C8B-B14F-4D97-AF65-F5344CB8AC3E}">
        <p14:creationId xmlns:p14="http://schemas.microsoft.com/office/powerpoint/2010/main" val="25315765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The same P&amp;ID is reused across phases, but the highlighted path and equipment states change. Manual copying and annotation scale poorly and introduce missing pages, incorrect sequence, and version inconsistencies. The report is only the final part of this broader workflow problem.</a:t>
            </a:r>
            <a:endParaRPr lang="zh-CN" altLang="en-US"/>
          </a:p>
        </p:txBody>
      </p:sp>
      <p:sp>
        <p:nvSpPr>
          <p:cNvPr id="4" name="灯片编号占位符 3"/>
          <p:cNvSpPr>
            <a:spLocks noGrp="1"/>
          </p:cNvSpPr>
          <p:nvPr>
            <p:ph type="sldNum" sz="quarter" idx="5"/>
          </p:nvPr>
        </p:nvSpPr>
        <p:spPr/>
        <p:txBody>
          <a:bodyPr/>
          <a:lstStyle/>
          <a:p>
            <a:fld id="{25F89A79-E9B9-4A9A-BB6A-C1DD7ABD9571}" type="slidenum">
              <a:rPr lang="zh-CN" altLang="en-US" smtClean="0"/>
              <a:t>3</a:t>
            </a:fld>
            <a:endParaRPr lang="zh-CN" altLang="en-US"/>
          </a:p>
        </p:txBody>
      </p:sp>
    </p:spTree>
    <p:extLst>
      <p:ext uri="{BB962C8B-B14F-4D97-AF65-F5344CB8AC3E}">
        <p14:creationId xmlns:p14="http://schemas.microsoft.com/office/powerpoint/2010/main" val="23575817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The solution first turns the P&amp;ID into an interactive engineering object. Flow analysis and phase-state simulation then support design work. Once reviewed, those results can be shared across disciplines and organized into project deliverables.</a:t>
            </a:r>
            <a:endParaRPr lang="zh-CN" altLang="en-US"/>
          </a:p>
        </p:txBody>
      </p:sp>
      <p:sp>
        <p:nvSpPr>
          <p:cNvPr id="4" name="灯片编号占位符 3"/>
          <p:cNvSpPr>
            <a:spLocks noGrp="1"/>
          </p:cNvSpPr>
          <p:nvPr>
            <p:ph type="sldNum" sz="quarter" idx="5"/>
          </p:nvPr>
        </p:nvSpPr>
        <p:spPr/>
        <p:txBody>
          <a:bodyPr/>
          <a:lstStyle/>
          <a:p>
            <a:fld id="{25F89A79-E9B9-4A9A-BB6A-C1DD7ABD9571}" type="slidenum">
              <a:rPr lang="zh-CN" altLang="en-US" smtClean="0"/>
              <a:t>4</a:t>
            </a:fld>
            <a:endParaRPr lang="zh-CN" altLang="en-US"/>
          </a:p>
        </p:txBody>
      </p:sp>
    </p:spTree>
    <p:extLst>
      <p:ext uri="{BB962C8B-B14F-4D97-AF65-F5344CB8AC3E}">
        <p14:creationId xmlns:p14="http://schemas.microsoft.com/office/powerpoint/2010/main" val="17976329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This is the central capability. The software uses P&amp;ID connectivity to assist in generating a candidate path and presents the related pipes and equipment states clearly. Automation improves efficiency and reduces omission risk, while final engineering approval remains with the engineer.</a:t>
            </a:r>
            <a:endParaRPr lang="zh-CN" altLang="en-US"/>
          </a:p>
        </p:txBody>
      </p:sp>
      <p:sp>
        <p:nvSpPr>
          <p:cNvPr id="4" name="灯片编号占位符 3"/>
          <p:cNvSpPr>
            <a:spLocks noGrp="1"/>
          </p:cNvSpPr>
          <p:nvPr>
            <p:ph type="sldNum" sz="quarter" idx="5"/>
          </p:nvPr>
        </p:nvSpPr>
        <p:spPr/>
        <p:txBody>
          <a:bodyPr/>
          <a:lstStyle/>
          <a:p>
            <a:fld id="{25F89A79-E9B9-4A9A-BB6A-C1DD7ABD9571}" type="slidenum">
              <a:rPr lang="zh-CN" altLang="en-US" smtClean="0"/>
              <a:t>5</a:t>
            </a:fld>
            <a:endParaRPr lang="zh-CN" altLang="en-US"/>
          </a:p>
        </p:txBody>
      </p:sp>
    </p:spTree>
    <p:extLst>
      <p:ext uri="{BB962C8B-B14F-4D97-AF65-F5344CB8AC3E}">
        <p14:creationId xmlns:p14="http://schemas.microsoft.com/office/powerpoint/2010/main" val="8706058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Results are organized according to the actual business process. A process can contain multiple cleaning sequences, and each sequence contains phases. Every phase stores its own path and equipment state, allowing engineers to compare pre-rinse, circulation, discharge, and other scenarios on the same drawing.</a:t>
            </a:r>
            <a:endParaRPr lang="zh-CN" altLang="en-US"/>
          </a:p>
        </p:txBody>
      </p:sp>
      <p:sp>
        <p:nvSpPr>
          <p:cNvPr id="4" name="灯片编号占位符 3"/>
          <p:cNvSpPr>
            <a:spLocks noGrp="1"/>
          </p:cNvSpPr>
          <p:nvPr>
            <p:ph type="sldNum" sz="quarter" idx="5"/>
          </p:nvPr>
        </p:nvSpPr>
        <p:spPr/>
        <p:txBody>
          <a:bodyPr/>
          <a:lstStyle/>
          <a:p>
            <a:fld id="{25F89A79-E9B9-4A9A-BB6A-C1DD7ABD9571}" type="slidenum">
              <a:rPr lang="zh-CN" altLang="en-US" smtClean="0"/>
              <a:t>6</a:t>
            </a:fld>
            <a:endParaRPr lang="zh-CN" altLang="en-US"/>
          </a:p>
        </p:txBody>
      </p:sp>
    </p:spTree>
    <p:extLst>
      <p:ext uri="{BB962C8B-B14F-4D97-AF65-F5344CB8AC3E}">
        <p14:creationId xmlns:p14="http://schemas.microsoft.com/office/powerpoint/2010/main" val="42555977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CIP and SIP are the strongest entry points, but the capability is not limited to cleaning. Any workflow that needs to analyze material paths and equipment states on a P&amp;ID can extend to solution preparation, transfers, bioreactors, WFI, PW, clean steam, and other utilities.</a:t>
            </a:r>
            <a:endParaRPr lang="zh-CN" altLang="en-US"/>
          </a:p>
        </p:txBody>
      </p:sp>
      <p:sp>
        <p:nvSpPr>
          <p:cNvPr id="4" name="灯片编号占位符 3"/>
          <p:cNvSpPr>
            <a:spLocks noGrp="1"/>
          </p:cNvSpPr>
          <p:nvPr>
            <p:ph type="sldNum" sz="quarter" idx="5"/>
          </p:nvPr>
        </p:nvSpPr>
        <p:spPr/>
        <p:txBody>
          <a:bodyPr/>
          <a:lstStyle/>
          <a:p>
            <a:fld id="{25F89A79-E9B9-4A9A-BB6A-C1DD7ABD9571}" type="slidenum">
              <a:rPr lang="zh-CN" altLang="en-US" smtClean="0"/>
              <a:t>7</a:t>
            </a:fld>
            <a:endParaRPr lang="zh-CN" altLang="en-US"/>
          </a:p>
        </p:txBody>
      </p:sp>
    </p:spTree>
    <p:extLst>
      <p:ext uri="{BB962C8B-B14F-4D97-AF65-F5344CB8AC3E}">
        <p14:creationId xmlns:p14="http://schemas.microsoft.com/office/powerpoint/2010/main" val="34433816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Highlighted paths turn complex design reasoning into a visible scenario for all stakeholders. Process engineers can confirm routes, mechanical and automation teams can verify equipment and valve states, and validation teams can understand design intent earlier, reducing repeated explanation and late rework.</a:t>
            </a:r>
            <a:endParaRPr lang="zh-CN" altLang="en-US"/>
          </a:p>
        </p:txBody>
      </p:sp>
      <p:sp>
        <p:nvSpPr>
          <p:cNvPr id="4" name="灯片编号占位符 3"/>
          <p:cNvSpPr>
            <a:spLocks noGrp="1"/>
          </p:cNvSpPr>
          <p:nvPr>
            <p:ph type="sldNum" sz="quarter" idx="5"/>
          </p:nvPr>
        </p:nvSpPr>
        <p:spPr/>
        <p:txBody>
          <a:bodyPr/>
          <a:lstStyle/>
          <a:p>
            <a:fld id="{25F89A79-E9B9-4A9A-BB6A-C1DD7ABD9571}" type="slidenum">
              <a:rPr lang="zh-CN" altLang="en-US" smtClean="0"/>
              <a:t>8</a:t>
            </a:fld>
            <a:endParaRPr lang="zh-CN" altLang="en-US"/>
          </a:p>
        </p:txBody>
      </p:sp>
    </p:spTree>
    <p:extLst>
      <p:ext uri="{BB962C8B-B14F-4D97-AF65-F5344CB8AC3E}">
        <p14:creationId xmlns:p14="http://schemas.microsoft.com/office/powerpoint/2010/main" val="1170548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PDF reporting is one delivery format for approved flow-analysis results. The software follows the business sequence automatically while retaining controlled page adjustments. This reduces manual preparation and lowers the risk of missing pages, incorrect ordering, and inconsistent versions.</a:t>
            </a:r>
            <a:endParaRPr lang="zh-CN" altLang="en-US"/>
          </a:p>
        </p:txBody>
      </p:sp>
      <p:sp>
        <p:nvSpPr>
          <p:cNvPr id="4" name="灯片编号占位符 3"/>
          <p:cNvSpPr>
            <a:spLocks noGrp="1"/>
          </p:cNvSpPr>
          <p:nvPr>
            <p:ph type="sldNum" sz="quarter" idx="5"/>
          </p:nvPr>
        </p:nvSpPr>
        <p:spPr/>
        <p:txBody>
          <a:bodyPr/>
          <a:lstStyle/>
          <a:p>
            <a:fld id="{25F89A79-E9B9-4A9A-BB6A-C1DD7ABD9571}" type="slidenum">
              <a:rPr lang="zh-CN" altLang="en-US" smtClean="0"/>
              <a:t>9</a:t>
            </a:fld>
            <a:endParaRPr lang="zh-CN" altLang="en-US"/>
          </a:p>
        </p:txBody>
      </p:sp>
    </p:spTree>
    <p:extLst>
      <p:ext uri="{BB962C8B-B14F-4D97-AF65-F5344CB8AC3E}">
        <p14:creationId xmlns:p14="http://schemas.microsoft.com/office/powerpoint/2010/main" val="1795684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The current demo covers phase management, state saving and switching, report editing, and output. The priority next step is validation with customer P&amp;IDs, especially complex branches, off-page connections, and customer-specific rules. Audit trails, electronic signatures, and full regulatory compliance remain future scope and are not presented as current capabilities.</a:t>
            </a:r>
            <a:endParaRPr lang="zh-CN" altLang="en-US"/>
          </a:p>
        </p:txBody>
      </p:sp>
      <p:sp>
        <p:nvSpPr>
          <p:cNvPr id="4" name="灯片编号占位符 3"/>
          <p:cNvSpPr>
            <a:spLocks noGrp="1"/>
          </p:cNvSpPr>
          <p:nvPr>
            <p:ph type="sldNum" sz="quarter" idx="5"/>
          </p:nvPr>
        </p:nvSpPr>
        <p:spPr/>
        <p:txBody>
          <a:bodyPr/>
          <a:lstStyle/>
          <a:p>
            <a:fld id="{25F89A79-E9B9-4A9A-BB6A-C1DD7ABD9571}" type="slidenum">
              <a:rPr lang="zh-CN" altLang="en-US" smtClean="0"/>
              <a:t>10</a:t>
            </a:fld>
            <a:endParaRPr lang="zh-CN" altLang="en-US"/>
          </a:p>
        </p:txBody>
      </p:sp>
    </p:spTree>
    <p:extLst>
      <p:ext uri="{BB962C8B-B14F-4D97-AF65-F5344CB8AC3E}">
        <p14:creationId xmlns:p14="http://schemas.microsoft.com/office/powerpoint/2010/main" val="8044093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In summary, the platform upgrades static P&amp;IDs into digital engineering objects that can be analyzed, simulated, reviewed, and delivered. It reduces repetitive work and omission risk, improves cross-discipline communication and delivery consistency, and establishes a foundation for future version, audit, and compliance capabilities.</a:t>
            </a:r>
            <a:endParaRPr lang="zh-CN" altLang="en-US"/>
          </a:p>
        </p:txBody>
      </p:sp>
      <p:sp>
        <p:nvSpPr>
          <p:cNvPr id="4" name="灯片编号占位符 3"/>
          <p:cNvSpPr>
            <a:spLocks noGrp="1"/>
          </p:cNvSpPr>
          <p:nvPr>
            <p:ph type="sldNum" sz="quarter" idx="5"/>
          </p:nvPr>
        </p:nvSpPr>
        <p:spPr/>
        <p:txBody>
          <a:bodyPr/>
          <a:lstStyle/>
          <a:p>
            <a:fld id="{25F89A79-E9B9-4A9A-BB6A-C1DD7ABD9571}" type="slidenum">
              <a:rPr lang="zh-CN" altLang="en-US" smtClean="0"/>
              <a:t>11</a:t>
            </a:fld>
            <a:endParaRPr lang="zh-CN" altLang="en-US"/>
          </a:p>
        </p:txBody>
      </p:sp>
    </p:spTree>
    <p:extLst>
      <p:ext uri="{BB962C8B-B14F-4D97-AF65-F5344CB8AC3E}">
        <p14:creationId xmlns:p14="http://schemas.microsoft.com/office/powerpoint/2010/main" val="21073198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438FB5-36E3-0FD4-28B0-8B0A344A79C8}"/>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74847101-6404-DA2A-9387-3E64852853E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9D6D340F-4DF0-43B4-8305-1EA840AD169C}"/>
              </a:ext>
            </a:extLst>
          </p:cNvPr>
          <p:cNvSpPr>
            <a:spLocks noGrp="1"/>
          </p:cNvSpPr>
          <p:nvPr>
            <p:ph type="dt" sz="half" idx="10"/>
          </p:nvPr>
        </p:nvSpPr>
        <p:spPr/>
        <p:txBody>
          <a:bodyPr/>
          <a:lstStyle/>
          <a:p>
            <a:fld id="{D331F956-17A5-4230-816D-76E564481CF1}" type="datetimeFigureOut">
              <a:rPr lang="zh-CN" altLang="en-US" smtClean="0"/>
              <a:t>2026/8/13</a:t>
            </a:fld>
            <a:endParaRPr lang="zh-CN" altLang="en-US"/>
          </a:p>
        </p:txBody>
      </p:sp>
      <p:sp>
        <p:nvSpPr>
          <p:cNvPr id="5" name="页脚占位符 4">
            <a:extLst>
              <a:ext uri="{FF2B5EF4-FFF2-40B4-BE49-F238E27FC236}">
                <a16:creationId xmlns:a16="http://schemas.microsoft.com/office/drawing/2014/main" id="{21786E50-4C60-CF47-F8FC-BA5A6CEA546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3FE1C84-C8B1-2639-C515-E3F5D5F2FCC9}"/>
              </a:ext>
            </a:extLst>
          </p:cNvPr>
          <p:cNvSpPr>
            <a:spLocks noGrp="1"/>
          </p:cNvSpPr>
          <p:nvPr>
            <p:ph type="sldNum" sz="quarter" idx="12"/>
          </p:nvPr>
        </p:nvSpPr>
        <p:spPr/>
        <p:txBody>
          <a:bodyPr/>
          <a:lstStyle/>
          <a:p>
            <a:fld id="{12AE881B-B09A-474F-BF07-89E9DC26131E}" type="slidenum">
              <a:rPr lang="zh-CN" altLang="en-US" smtClean="0"/>
              <a:t>‹#›</a:t>
            </a:fld>
            <a:endParaRPr lang="zh-CN" altLang="en-US"/>
          </a:p>
        </p:txBody>
      </p:sp>
    </p:spTree>
    <p:extLst>
      <p:ext uri="{BB962C8B-B14F-4D97-AF65-F5344CB8AC3E}">
        <p14:creationId xmlns:p14="http://schemas.microsoft.com/office/powerpoint/2010/main" val="8345314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A7CBD5-2609-8DE5-22A0-58EFB5F41F3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35A73EF-E38A-6762-89C6-964C98ABF46B}"/>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44BF36E-BE0A-2F54-2991-3109B2D55033}"/>
              </a:ext>
            </a:extLst>
          </p:cNvPr>
          <p:cNvSpPr>
            <a:spLocks noGrp="1"/>
          </p:cNvSpPr>
          <p:nvPr>
            <p:ph type="dt" sz="half" idx="10"/>
          </p:nvPr>
        </p:nvSpPr>
        <p:spPr/>
        <p:txBody>
          <a:bodyPr/>
          <a:lstStyle/>
          <a:p>
            <a:fld id="{D331F956-17A5-4230-816D-76E564481CF1}" type="datetimeFigureOut">
              <a:rPr lang="zh-CN" altLang="en-US" smtClean="0"/>
              <a:t>2026/8/13</a:t>
            </a:fld>
            <a:endParaRPr lang="zh-CN" altLang="en-US"/>
          </a:p>
        </p:txBody>
      </p:sp>
      <p:sp>
        <p:nvSpPr>
          <p:cNvPr id="5" name="页脚占位符 4">
            <a:extLst>
              <a:ext uri="{FF2B5EF4-FFF2-40B4-BE49-F238E27FC236}">
                <a16:creationId xmlns:a16="http://schemas.microsoft.com/office/drawing/2014/main" id="{385ED2B0-8BB7-31B6-0BEE-4C28C543449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71A3B7B-8D87-BF29-3E73-8EF75818354F}"/>
              </a:ext>
            </a:extLst>
          </p:cNvPr>
          <p:cNvSpPr>
            <a:spLocks noGrp="1"/>
          </p:cNvSpPr>
          <p:nvPr>
            <p:ph type="sldNum" sz="quarter" idx="12"/>
          </p:nvPr>
        </p:nvSpPr>
        <p:spPr/>
        <p:txBody>
          <a:bodyPr/>
          <a:lstStyle/>
          <a:p>
            <a:fld id="{12AE881B-B09A-474F-BF07-89E9DC26131E}" type="slidenum">
              <a:rPr lang="zh-CN" altLang="en-US" smtClean="0"/>
              <a:t>‹#›</a:t>
            </a:fld>
            <a:endParaRPr lang="zh-CN" altLang="en-US"/>
          </a:p>
        </p:txBody>
      </p:sp>
    </p:spTree>
    <p:extLst>
      <p:ext uri="{BB962C8B-B14F-4D97-AF65-F5344CB8AC3E}">
        <p14:creationId xmlns:p14="http://schemas.microsoft.com/office/powerpoint/2010/main" val="1801894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1F7396-9653-D2CC-644E-A9EE823C9A84}"/>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01A328D0-B4AA-A09A-9E94-051C580C58E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CFCB3875-4015-03BA-7D97-C700C354F0F2}"/>
              </a:ext>
            </a:extLst>
          </p:cNvPr>
          <p:cNvSpPr>
            <a:spLocks noGrp="1"/>
          </p:cNvSpPr>
          <p:nvPr>
            <p:ph type="dt" sz="half" idx="10"/>
          </p:nvPr>
        </p:nvSpPr>
        <p:spPr/>
        <p:txBody>
          <a:bodyPr/>
          <a:lstStyle/>
          <a:p>
            <a:fld id="{D331F956-17A5-4230-816D-76E564481CF1}" type="datetimeFigureOut">
              <a:rPr lang="zh-CN" altLang="en-US" smtClean="0"/>
              <a:t>2026/8/13</a:t>
            </a:fld>
            <a:endParaRPr lang="zh-CN" altLang="en-US"/>
          </a:p>
        </p:txBody>
      </p:sp>
      <p:sp>
        <p:nvSpPr>
          <p:cNvPr id="5" name="页脚占位符 4">
            <a:extLst>
              <a:ext uri="{FF2B5EF4-FFF2-40B4-BE49-F238E27FC236}">
                <a16:creationId xmlns:a16="http://schemas.microsoft.com/office/drawing/2014/main" id="{81B2D59F-9F51-3A5D-488B-910A0D903E8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2AEC0D5-5837-0D42-BAAF-E558BF721F12}"/>
              </a:ext>
            </a:extLst>
          </p:cNvPr>
          <p:cNvSpPr>
            <a:spLocks noGrp="1"/>
          </p:cNvSpPr>
          <p:nvPr>
            <p:ph type="sldNum" sz="quarter" idx="12"/>
          </p:nvPr>
        </p:nvSpPr>
        <p:spPr/>
        <p:txBody>
          <a:bodyPr/>
          <a:lstStyle/>
          <a:p>
            <a:fld id="{12AE881B-B09A-474F-BF07-89E9DC26131E}" type="slidenum">
              <a:rPr lang="zh-CN" altLang="en-US" smtClean="0"/>
              <a:t>‹#›</a:t>
            </a:fld>
            <a:endParaRPr lang="zh-CN" altLang="en-US"/>
          </a:p>
        </p:txBody>
      </p:sp>
    </p:spTree>
    <p:extLst>
      <p:ext uri="{BB962C8B-B14F-4D97-AF65-F5344CB8AC3E}">
        <p14:creationId xmlns:p14="http://schemas.microsoft.com/office/powerpoint/2010/main" val="31907709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824BBC-B3E4-6DF5-4C95-FCD3338C83B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854ABDD-F3B1-035C-C139-BD37D7384BF1}"/>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BB56531A-ECA5-7177-DB5A-2A79568F9E7C}"/>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8FB54591-5C60-4EE5-80E5-F891A019CFFD}"/>
              </a:ext>
            </a:extLst>
          </p:cNvPr>
          <p:cNvSpPr>
            <a:spLocks noGrp="1"/>
          </p:cNvSpPr>
          <p:nvPr>
            <p:ph type="dt" sz="half" idx="10"/>
          </p:nvPr>
        </p:nvSpPr>
        <p:spPr/>
        <p:txBody>
          <a:bodyPr/>
          <a:lstStyle/>
          <a:p>
            <a:fld id="{D331F956-17A5-4230-816D-76E564481CF1}" type="datetimeFigureOut">
              <a:rPr lang="zh-CN" altLang="en-US" smtClean="0"/>
              <a:t>2026/8/13</a:t>
            </a:fld>
            <a:endParaRPr lang="zh-CN" altLang="en-US"/>
          </a:p>
        </p:txBody>
      </p:sp>
      <p:sp>
        <p:nvSpPr>
          <p:cNvPr id="6" name="页脚占位符 5">
            <a:extLst>
              <a:ext uri="{FF2B5EF4-FFF2-40B4-BE49-F238E27FC236}">
                <a16:creationId xmlns:a16="http://schemas.microsoft.com/office/drawing/2014/main" id="{8C3F4E29-44E4-96B9-680D-0727E4D0C11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C8BD5B5-A507-4F91-3EF2-C05C16B9F695}"/>
              </a:ext>
            </a:extLst>
          </p:cNvPr>
          <p:cNvSpPr>
            <a:spLocks noGrp="1"/>
          </p:cNvSpPr>
          <p:nvPr>
            <p:ph type="sldNum" sz="quarter" idx="12"/>
          </p:nvPr>
        </p:nvSpPr>
        <p:spPr/>
        <p:txBody>
          <a:bodyPr/>
          <a:lstStyle/>
          <a:p>
            <a:fld id="{12AE881B-B09A-474F-BF07-89E9DC26131E}" type="slidenum">
              <a:rPr lang="zh-CN" altLang="en-US" smtClean="0"/>
              <a:t>‹#›</a:t>
            </a:fld>
            <a:endParaRPr lang="zh-CN" altLang="en-US"/>
          </a:p>
        </p:txBody>
      </p:sp>
    </p:spTree>
    <p:extLst>
      <p:ext uri="{BB962C8B-B14F-4D97-AF65-F5344CB8AC3E}">
        <p14:creationId xmlns:p14="http://schemas.microsoft.com/office/powerpoint/2010/main" val="12896871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486FC7-859C-1D59-4ADF-121E8B5B01BD}"/>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996C201D-06D1-262F-932A-2A774EFAC5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369E1408-3F24-7E7F-BBAD-F8B6E3693E13}"/>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9D404E5-F054-1EBB-A8EA-30EED31532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52E4CB1C-2386-FE3D-7B70-64EC387BE618}"/>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58F973CD-DD65-6AEB-E9ED-272993258215}"/>
              </a:ext>
            </a:extLst>
          </p:cNvPr>
          <p:cNvSpPr>
            <a:spLocks noGrp="1"/>
          </p:cNvSpPr>
          <p:nvPr>
            <p:ph type="dt" sz="half" idx="10"/>
          </p:nvPr>
        </p:nvSpPr>
        <p:spPr/>
        <p:txBody>
          <a:bodyPr/>
          <a:lstStyle/>
          <a:p>
            <a:fld id="{D331F956-17A5-4230-816D-76E564481CF1}" type="datetimeFigureOut">
              <a:rPr lang="zh-CN" altLang="en-US" smtClean="0"/>
              <a:t>2026/8/13</a:t>
            </a:fld>
            <a:endParaRPr lang="zh-CN" altLang="en-US"/>
          </a:p>
        </p:txBody>
      </p:sp>
      <p:sp>
        <p:nvSpPr>
          <p:cNvPr id="8" name="页脚占位符 7">
            <a:extLst>
              <a:ext uri="{FF2B5EF4-FFF2-40B4-BE49-F238E27FC236}">
                <a16:creationId xmlns:a16="http://schemas.microsoft.com/office/drawing/2014/main" id="{268F3EB0-C61C-34DD-220A-F9C1A05A7CC7}"/>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C346789-14A3-65F1-7D23-8C0D9E0D2F6F}"/>
              </a:ext>
            </a:extLst>
          </p:cNvPr>
          <p:cNvSpPr>
            <a:spLocks noGrp="1"/>
          </p:cNvSpPr>
          <p:nvPr>
            <p:ph type="sldNum" sz="quarter" idx="12"/>
          </p:nvPr>
        </p:nvSpPr>
        <p:spPr/>
        <p:txBody>
          <a:bodyPr/>
          <a:lstStyle/>
          <a:p>
            <a:fld id="{12AE881B-B09A-474F-BF07-89E9DC26131E}" type="slidenum">
              <a:rPr lang="zh-CN" altLang="en-US" smtClean="0"/>
              <a:t>‹#›</a:t>
            </a:fld>
            <a:endParaRPr lang="zh-CN" altLang="en-US"/>
          </a:p>
        </p:txBody>
      </p:sp>
    </p:spTree>
    <p:extLst>
      <p:ext uri="{BB962C8B-B14F-4D97-AF65-F5344CB8AC3E}">
        <p14:creationId xmlns:p14="http://schemas.microsoft.com/office/powerpoint/2010/main" val="13811166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0DED8B-B7B3-B0AA-3AD2-2975CB64317A}"/>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2BA72EF0-71F0-E396-4C9F-BC68A0B1D7DC}"/>
              </a:ext>
            </a:extLst>
          </p:cNvPr>
          <p:cNvSpPr>
            <a:spLocks noGrp="1"/>
          </p:cNvSpPr>
          <p:nvPr>
            <p:ph type="dt" sz="half" idx="10"/>
          </p:nvPr>
        </p:nvSpPr>
        <p:spPr/>
        <p:txBody>
          <a:bodyPr/>
          <a:lstStyle/>
          <a:p>
            <a:fld id="{D331F956-17A5-4230-816D-76E564481CF1}" type="datetimeFigureOut">
              <a:rPr lang="zh-CN" altLang="en-US" smtClean="0"/>
              <a:t>2026/8/13</a:t>
            </a:fld>
            <a:endParaRPr lang="zh-CN" altLang="en-US"/>
          </a:p>
        </p:txBody>
      </p:sp>
      <p:sp>
        <p:nvSpPr>
          <p:cNvPr id="4" name="页脚占位符 3">
            <a:extLst>
              <a:ext uri="{FF2B5EF4-FFF2-40B4-BE49-F238E27FC236}">
                <a16:creationId xmlns:a16="http://schemas.microsoft.com/office/drawing/2014/main" id="{96085678-AF77-117F-708E-4E61B4017FDC}"/>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341462E0-ABCB-1A09-EDC6-EDF7FF8665CC}"/>
              </a:ext>
            </a:extLst>
          </p:cNvPr>
          <p:cNvSpPr>
            <a:spLocks noGrp="1"/>
          </p:cNvSpPr>
          <p:nvPr>
            <p:ph type="sldNum" sz="quarter" idx="12"/>
          </p:nvPr>
        </p:nvSpPr>
        <p:spPr/>
        <p:txBody>
          <a:bodyPr/>
          <a:lstStyle/>
          <a:p>
            <a:fld id="{12AE881B-B09A-474F-BF07-89E9DC26131E}" type="slidenum">
              <a:rPr lang="zh-CN" altLang="en-US" smtClean="0"/>
              <a:t>‹#›</a:t>
            </a:fld>
            <a:endParaRPr lang="zh-CN" altLang="en-US"/>
          </a:p>
        </p:txBody>
      </p:sp>
    </p:spTree>
    <p:extLst>
      <p:ext uri="{BB962C8B-B14F-4D97-AF65-F5344CB8AC3E}">
        <p14:creationId xmlns:p14="http://schemas.microsoft.com/office/powerpoint/2010/main" val="21692427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DD3A0F6-3AF5-4321-476E-8AD28D4BD229}"/>
              </a:ext>
            </a:extLst>
          </p:cNvPr>
          <p:cNvSpPr>
            <a:spLocks noGrp="1"/>
          </p:cNvSpPr>
          <p:nvPr>
            <p:ph type="dt" sz="half" idx="10"/>
          </p:nvPr>
        </p:nvSpPr>
        <p:spPr/>
        <p:txBody>
          <a:bodyPr/>
          <a:lstStyle/>
          <a:p>
            <a:fld id="{D331F956-17A5-4230-816D-76E564481CF1}" type="datetimeFigureOut">
              <a:rPr lang="zh-CN" altLang="en-US" smtClean="0"/>
              <a:t>2026/8/13</a:t>
            </a:fld>
            <a:endParaRPr lang="zh-CN" altLang="en-US"/>
          </a:p>
        </p:txBody>
      </p:sp>
      <p:sp>
        <p:nvSpPr>
          <p:cNvPr id="3" name="页脚占位符 2">
            <a:extLst>
              <a:ext uri="{FF2B5EF4-FFF2-40B4-BE49-F238E27FC236}">
                <a16:creationId xmlns:a16="http://schemas.microsoft.com/office/drawing/2014/main" id="{421383B6-5B53-2900-E6A4-A41416E03AC0}"/>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B81E1269-662B-3185-3DFB-938172BB529E}"/>
              </a:ext>
            </a:extLst>
          </p:cNvPr>
          <p:cNvSpPr>
            <a:spLocks noGrp="1"/>
          </p:cNvSpPr>
          <p:nvPr>
            <p:ph type="sldNum" sz="quarter" idx="12"/>
          </p:nvPr>
        </p:nvSpPr>
        <p:spPr/>
        <p:txBody>
          <a:bodyPr/>
          <a:lstStyle/>
          <a:p>
            <a:fld id="{12AE881B-B09A-474F-BF07-89E9DC26131E}" type="slidenum">
              <a:rPr lang="zh-CN" altLang="en-US" smtClean="0"/>
              <a:t>‹#›</a:t>
            </a:fld>
            <a:endParaRPr lang="zh-CN" altLang="en-US"/>
          </a:p>
        </p:txBody>
      </p:sp>
    </p:spTree>
    <p:extLst>
      <p:ext uri="{BB962C8B-B14F-4D97-AF65-F5344CB8AC3E}">
        <p14:creationId xmlns:p14="http://schemas.microsoft.com/office/powerpoint/2010/main" val="14904655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1749D3D-0A4F-1AED-FF44-5E14677ECDE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6C68C18-E90F-1A33-0E46-9C4F06446AC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49BD366F-0787-18DE-BA74-391032A3DE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246708A-09A5-B218-7199-C67F4D5C290D}"/>
              </a:ext>
            </a:extLst>
          </p:cNvPr>
          <p:cNvSpPr>
            <a:spLocks noGrp="1"/>
          </p:cNvSpPr>
          <p:nvPr>
            <p:ph type="dt" sz="half" idx="10"/>
          </p:nvPr>
        </p:nvSpPr>
        <p:spPr/>
        <p:txBody>
          <a:bodyPr/>
          <a:lstStyle/>
          <a:p>
            <a:fld id="{D331F956-17A5-4230-816D-76E564481CF1}" type="datetimeFigureOut">
              <a:rPr lang="zh-CN" altLang="en-US" smtClean="0"/>
              <a:t>2026/8/13</a:t>
            </a:fld>
            <a:endParaRPr lang="zh-CN" altLang="en-US"/>
          </a:p>
        </p:txBody>
      </p:sp>
      <p:sp>
        <p:nvSpPr>
          <p:cNvPr id="6" name="页脚占位符 5">
            <a:extLst>
              <a:ext uri="{FF2B5EF4-FFF2-40B4-BE49-F238E27FC236}">
                <a16:creationId xmlns:a16="http://schemas.microsoft.com/office/drawing/2014/main" id="{ABF13F5A-2D03-9DA1-2AD2-1E1BAA222F2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0F957A9-42FC-F8AA-EA6D-1E7E662B4250}"/>
              </a:ext>
            </a:extLst>
          </p:cNvPr>
          <p:cNvSpPr>
            <a:spLocks noGrp="1"/>
          </p:cNvSpPr>
          <p:nvPr>
            <p:ph type="sldNum" sz="quarter" idx="12"/>
          </p:nvPr>
        </p:nvSpPr>
        <p:spPr/>
        <p:txBody>
          <a:bodyPr/>
          <a:lstStyle/>
          <a:p>
            <a:fld id="{12AE881B-B09A-474F-BF07-89E9DC26131E}" type="slidenum">
              <a:rPr lang="zh-CN" altLang="en-US" smtClean="0"/>
              <a:t>‹#›</a:t>
            </a:fld>
            <a:endParaRPr lang="zh-CN" altLang="en-US"/>
          </a:p>
        </p:txBody>
      </p:sp>
    </p:spTree>
    <p:extLst>
      <p:ext uri="{BB962C8B-B14F-4D97-AF65-F5344CB8AC3E}">
        <p14:creationId xmlns:p14="http://schemas.microsoft.com/office/powerpoint/2010/main" val="36562250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AA3639-FB0D-D9EC-B326-B2BB5A6BA65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92726D47-D53D-5B71-7F01-6A9C885EB90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4037E0A6-934D-6712-207F-84498713E4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CB52E39-70D6-ADC7-1169-EFC8DF65583D}"/>
              </a:ext>
            </a:extLst>
          </p:cNvPr>
          <p:cNvSpPr>
            <a:spLocks noGrp="1"/>
          </p:cNvSpPr>
          <p:nvPr>
            <p:ph type="dt" sz="half" idx="10"/>
          </p:nvPr>
        </p:nvSpPr>
        <p:spPr/>
        <p:txBody>
          <a:bodyPr/>
          <a:lstStyle/>
          <a:p>
            <a:fld id="{D331F956-17A5-4230-816D-76E564481CF1}" type="datetimeFigureOut">
              <a:rPr lang="zh-CN" altLang="en-US" smtClean="0"/>
              <a:t>2026/8/13</a:t>
            </a:fld>
            <a:endParaRPr lang="zh-CN" altLang="en-US"/>
          </a:p>
        </p:txBody>
      </p:sp>
      <p:sp>
        <p:nvSpPr>
          <p:cNvPr id="6" name="页脚占位符 5">
            <a:extLst>
              <a:ext uri="{FF2B5EF4-FFF2-40B4-BE49-F238E27FC236}">
                <a16:creationId xmlns:a16="http://schemas.microsoft.com/office/drawing/2014/main" id="{C6CCAB79-57F0-1BC4-2A53-54FB9C7173A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EBEA51A-B498-D0E8-F199-E3C45D647D23}"/>
              </a:ext>
            </a:extLst>
          </p:cNvPr>
          <p:cNvSpPr>
            <a:spLocks noGrp="1"/>
          </p:cNvSpPr>
          <p:nvPr>
            <p:ph type="sldNum" sz="quarter" idx="12"/>
          </p:nvPr>
        </p:nvSpPr>
        <p:spPr/>
        <p:txBody>
          <a:bodyPr/>
          <a:lstStyle/>
          <a:p>
            <a:fld id="{12AE881B-B09A-474F-BF07-89E9DC26131E}" type="slidenum">
              <a:rPr lang="zh-CN" altLang="en-US" smtClean="0"/>
              <a:t>‹#›</a:t>
            </a:fld>
            <a:endParaRPr lang="zh-CN" altLang="en-US"/>
          </a:p>
        </p:txBody>
      </p:sp>
    </p:spTree>
    <p:extLst>
      <p:ext uri="{BB962C8B-B14F-4D97-AF65-F5344CB8AC3E}">
        <p14:creationId xmlns:p14="http://schemas.microsoft.com/office/powerpoint/2010/main" val="18349614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4D8B6F-8FF5-3978-AF02-B96567DE51B5}"/>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501D8073-4492-2F3C-B1C5-84E6B5E57200}"/>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6DDB2C5-30A0-C074-1600-668372E14AB4}"/>
              </a:ext>
            </a:extLst>
          </p:cNvPr>
          <p:cNvSpPr>
            <a:spLocks noGrp="1"/>
          </p:cNvSpPr>
          <p:nvPr>
            <p:ph type="dt" sz="half" idx="10"/>
          </p:nvPr>
        </p:nvSpPr>
        <p:spPr/>
        <p:txBody>
          <a:bodyPr/>
          <a:lstStyle/>
          <a:p>
            <a:fld id="{D331F956-17A5-4230-816D-76E564481CF1}" type="datetimeFigureOut">
              <a:rPr lang="zh-CN" altLang="en-US" smtClean="0"/>
              <a:t>2026/8/13</a:t>
            </a:fld>
            <a:endParaRPr lang="zh-CN" altLang="en-US"/>
          </a:p>
        </p:txBody>
      </p:sp>
      <p:sp>
        <p:nvSpPr>
          <p:cNvPr id="5" name="页脚占位符 4">
            <a:extLst>
              <a:ext uri="{FF2B5EF4-FFF2-40B4-BE49-F238E27FC236}">
                <a16:creationId xmlns:a16="http://schemas.microsoft.com/office/drawing/2014/main" id="{C9E514BE-1AB0-AD3A-7076-84E1D3BE776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0D9C860-79A7-15FD-F707-9A05ABFDE59D}"/>
              </a:ext>
            </a:extLst>
          </p:cNvPr>
          <p:cNvSpPr>
            <a:spLocks noGrp="1"/>
          </p:cNvSpPr>
          <p:nvPr>
            <p:ph type="sldNum" sz="quarter" idx="12"/>
          </p:nvPr>
        </p:nvSpPr>
        <p:spPr/>
        <p:txBody>
          <a:bodyPr/>
          <a:lstStyle/>
          <a:p>
            <a:fld id="{12AE881B-B09A-474F-BF07-89E9DC26131E}" type="slidenum">
              <a:rPr lang="zh-CN" altLang="en-US" smtClean="0"/>
              <a:t>‹#›</a:t>
            </a:fld>
            <a:endParaRPr lang="zh-CN" altLang="en-US"/>
          </a:p>
        </p:txBody>
      </p:sp>
    </p:spTree>
    <p:extLst>
      <p:ext uri="{BB962C8B-B14F-4D97-AF65-F5344CB8AC3E}">
        <p14:creationId xmlns:p14="http://schemas.microsoft.com/office/powerpoint/2010/main" val="36815116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72E50E2E-8A83-E687-8378-B7E9CAE5DDFE}"/>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18BCF0A-6E97-DBAC-8481-ECEA0B175631}"/>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1C864AC-DC75-CB83-4124-E649444FA8F3}"/>
              </a:ext>
            </a:extLst>
          </p:cNvPr>
          <p:cNvSpPr>
            <a:spLocks noGrp="1"/>
          </p:cNvSpPr>
          <p:nvPr>
            <p:ph type="dt" sz="half" idx="10"/>
          </p:nvPr>
        </p:nvSpPr>
        <p:spPr/>
        <p:txBody>
          <a:bodyPr/>
          <a:lstStyle/>
          <a:p>
            <a:fld id="{D331F956-17A5-4230-816D-76E564481CF1}" type="datetimeFigureOut">
              <a:rPr lang="zh-CN" altLang="en-US" smtClean="0"/>
              <a:t>2026/8/13</a:t>
            </a:fld>
            <a:endParaRPr lang="zh-CN" altLang="en-US"/>
          </a:p>
        </p:txBody>
      </p:sp>
      <p:sp>
        <p:nvSpPr>
          <p:cNvPr id="5" name="页脚占位符 4">
            <a:extLst>
              <a:ext uri="{FF2B5EF4-FFF2-40B4-BE49-F238E27FC236}">
                <a16:creationId xmlns:a16="http://schemas.microsoft.com/office/drawing/2014/main" id="{29EFFF12-9209-23E8-8BA8-DCAEC76CE57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444472A-EF95-1DB4-D153-5570F6608744}"/>
              </a:ext>
            </a:extLst>
          </p:cNvPr>
          <p:cNvSpPr>
            <a:spLocks noGrp="1"/>
          </p:cNvSpPr>
          <p:nvPr>
            <p:ph type="sldNum" sz="quarter" idx="12"/>
          </p:nvPr>
        </p:nvSpPr>
        <p:spPr/>
        <p:txBody>
          <a:bodyPr/>
          <a:lstStyle/>
          <a:p>
            <a:fld id="{12AE881B-B09A-474F-BF07-89E9DC26131E}" type="slidenum">
              <a:rPr lang="zh-CN" altLang="en-US" smtClean="0"/>
              <a:t>‹#›</a:t>
            </a:fld>
            <a:endParaRPr lang="zh-CN" altLang="en-US"/>
          </a:p>
        </p:txBody>
      </p:sp>
    </p:spTree>
    <p:extLst>
      <p:ext uri="{BB962C8B-B14F-4D97-AF65-F5344CB8AC3E}">
        <p14:creationId xmlns:p14="http://schemas.microsoft.com/office/powerpoint/2010/main" val="28592698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F147D488-9FB3-0F6D-BAA4-B1ADBDE2D7D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C87ABD35-9379-6F4E-F88D-AF0CE8CDD7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0ED79CA-2541-60B1-269C-6F8DD4A2D36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331F956-17A5-4230-816D-76E564481CF1}" type="datetimeFigureOut">
              <a:rPr lang="zh-CN" altLang="en-US" smtClean="0"/>
              <a:t>2026/8/13</a:t>
            </a:fld>
            <a:endParaRPr lang="zh-CN" altLang="en-US"/>
          </a:p>
        </p:txBody>
      </p:sp>
      <p:sp>
        <p:nvSpPr>
          <p:cNvPr id="5" name="页脚占位符 4">
            <a:extLst>
              <a:ext uri="{FF2B5EF4-FFF2-40B4-BE49-F238E27FC236}">
                <a16:creationId xmlns:a16="http://schemas.microsoft.com/office/drawing/2014/main" id="{0CEE8657-B8CD-4F2A-06FF-AC9DF71D3E5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068D914E-5DC6-2A6D-B25F-F6D64670777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2AE881B-B09A-474F-BF07-89E9DC26131E}" type="slidenum">
              <a:rPr lang="zh-CN" altLang="en-US" smtClean="0"/>
              <a:t>‹#›</a:t>
            </a:fld>
            <a:endParaRPr lang="zh-CN" altLang="en-US"/>
          </a:p>
        </p:txBody>
      </p:sp>
    </p:spTree>
    <p:extLst>
      <p:ext uri="{BB962C8B-B14F-4D97-AF65-F5344CB8AC3E}">
        <p14:creationId xmlns:p14="http://schemas.microsoft.com/office/powerpoint/2010/main" val="31846199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63F42"/>
        </a:solidFill>
        <a:effectLst/>
      </p:bgPr>
    </p:bg>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4F17789E-42E7-F2AC-83B8-7A4CAFEC21BC}"/>
              </a:ext>
            </a:extLst>
          </p:cNvPr>
          <p:cNvSpPr txBox="1"/>
          <p:nvPr/>
        </p:nvSpPr>
        <p:spPr>
          <a:xfrm>
            <a:off x="635000" y="444500"/>
            <a:ext cx="2032000" cy="153888"/>
          </a:xfrm>
          <a:prstGeom prst="rect">
            <a:avLst/>
          </a:prstGeom>
          <a:noFill/>
        </p:spPr>
        <p:txBody>
          <a:bodyPr vert="horz" lIns="0" tIns="0" rIns="0" bIns="0" rtlCol="0">
            <a:spAutoFit/>
          </a:bodyPr>
          <a:lstStyle/>
          <a:p>
            <a:r>
              <a:rPr lang="en-US" altLang="zh-CN" sz="1000" b="1">
                <a:solidFill>
                  <a:srgbClr val="2F9E75"/>
                </a:solidFill>
                <a:latin typeface="Aptos" panose="020B0004020202020204" pitchFamily="34" charset="0"/>
              </a:rPr>
              <a:t>FLOWPATH</a:t>
            </a:r>
            <a:endParaRPr lang="zh-CN" altLang="en-US" sz="1000" b="1">
              <a:solidFill>
                <a:srgbClr val="2F9E75"/>
              </a:solidFill>
              <a:latin typeface="Aptos" panose="020B0004020202020204" pitchFamily="34" charset="0"/>
            </a:endParaRPr>
          </a:p>
        </p:txBody>
      </p:sp>
      <p:sp>
        <p:nvSpPr>
          <p:cNvPr id="3" name="文本框 2">
            <a:extLst>
              <a:ext uri="{FF2B5EF4-FFF2-40B4-BE49-F238E27FC236}">
                <a16:creationId xmlns:a16="http://schemas.microsoft.com/office/drawing/2014/main" id="{E8EAA14A-553D-481A-9788-170313A16016}"/>
              </a:ext>
            </a:extLst>
          </p:cNvPr>
          <p:cNvSpPr txBox="1"/>
          <p:nvPr/>
        </p:nvSpPr>
        <p:spPr>
          <a:xfrm>
            <a:off x="635000" y="1206500"/>
            <a:ext cx="7112000" cy="523220"/>
          </a:xfrm>
          <a:prstGeom prst="rect">
            <a:avLst/>
          </a:prstGeom>
          <a:noFill/>
        </p:spPr>
        <p:txBody>
          <a:bodyPr vert="horz" lIns="0" tIns="0" rIns="0" bIns="0" rtlCol="0">
            <a:spAutoFit/>
          </a:bodyPr>
          <a:lstStyle/>
          <a:p>
            <a:r>
              <a:rPr lang="en-US" altLang="zh-CN" sz="3400" b="1">
                <a:solidFill>
                  <a:srgbClr val="FFFFFF"/>
                </a:solidFill>
                <a:latin typeface="Aptos Display" panose="020B0004020202020204" pitchFamily="34" charset="0"/>
              </a:rPr>
              <a:t>Highlighted Flow Path Software</a:t>
            </a:r>
            <a:endParaRPr lang="zh-CN" altLang="en-US" sz="3400" b="1">
              <a:solidFill>
                <a:srgbClr val="FFFFFF"/>
              </a:solidFill>
              <a:latin typeface="Aptos Display" panose="020B0004020202020204" pitchFamily="34" charset="0"/>
            </a:endParaRPr>
          </a:p>
        </p:txBody>
      </p:sp>
      <p:sp>
        <p:nvSpPr>
          <p:cNvPr id="4" name="文本框 3">
            <a:extLst>
              <a:ext uri="{FF2B5EF4-FFF2-40B4-BE49-F238E27FC236}">
                <a16:creationId xmlns:a16="http://schemas.microsoft.com/office/drawing/2014/main" id="{67280797-4D38-7BFE-2616-606FA7284862}"/>
              </a:ext>
            </a:extLst>
          </p:cNvPr>
          <p:cNvSpPr txBox="1"/>
          <p:nvPr/>
        </p:nvSpPr>
        <p:spPr>
          <a:xfrm>
            <a:off x="635000" y="2260600"/>
            <a:ext cx="7112000" cy="553998"/>
          </a:xfrm>
          <a:prstGeom prst="rect">
            <a:avLst/>
          </a:prstGeom>
          <a:noFill/>
        </p:spPr>
        <p:txBody>
          <a:bodyPr vert="horz" lIns="0" tIns="0" rIns="0" bIns="0" rtlCol="0">
            <a:spAutoFit/>
          </a:bodyPr>
          <a:lstStyle/>
          <a:p>
            <a:r>
              <a:rPr lang="en-US" altLang="zh-CN">
                <a:solidFill>
                  <a:srgbClr val="D5E3E0"/>
                </a:solidFill>
                <a:latin typeface="Aptos" panose="020B0004020202020204" pitchFamily="34" charset="0"/>
              </a:rPr>
              <a:t>Digital P&amp;ID flow analysis and simulation for pharmaceutical process design</a:t>
            </a:r>
            <a:endParaRPr lang="zh-CN" altLang="en-US">
              <a:solidFill>
                <a:srgbClr val="D5E3E0"/>
              </a:solidFill>
              <a:latin typeface="Aptos" panose="020B0004020202020204" pitchFamily="34" charset="0"/>
            </a:endParaRPr>
          </a:p>
        </p:txBody>
      </p:sp>
      <p:cxnSp>
        <p:nvCxnSpPr>
          <p:cNvPr id="5" name="直接连接符 4">
            <a:extLst>
              <a:ext uri="{FF2B5EF4-FFF2-40B4-BE49-F238E27FC236}">
                <a16:creationId xmlns:a16="http://schemas.microsoft.com/office/drawing/2014/main" id="{CB6426FA-B601-DEAF-CE74-A610A98F36AE}"/>
              </a:ext>
            </a:extLst>
          </p:cNvPr>
          <p:cNvCxnSpPr/>
          <p:nvPr/>
        </p:nvCxnSpPr>
        <p:spPr>
          <a:xfrm>
            <a:off x="635000" y="3327400"/>
            <a:ext cx="4165600" cy="0"/>
          </a:xfrm>
          <a:prstGeom prst="line">
            <a:avLst/>
          </a:prstGeom>
          <a:ln w="63500">
            <a:solidFill>
              <a:srgbClr val="2F9E75"/>
            </a:solidFill>
          </a:ln>
        </p:spPr>
        <p:style>
          <a:lnRef idx="2">
            <a:schemeClr val="accent1"/>
          </a:lnRef>
          <a:fillRef idx="0">
            <a:schemeClr val="accent1"/>
          </a:fillRef>
          <a:effectRef idx="1">
            <a:schemeClr val="accent1"/>
          </a:effectRef>
          <a:fontRef idx="minor">
            <a:schemeClr val="tx1"/>
          </a:fontRef>
        </p:style>
      </p:cxnSp>
      <p:sp>
        <p:nvSpPr>
          <p:cNvPr id="6" name="文本框 5">
            <a:extLst>
              <a:ext uri="{FF2B5EF4-FFF2-40B4-BE49-F238E27FC236}">
                <a16:creationId xmlns:a16="http://schemas.microsoft.com/office/drawing/2014/main" id="{12B9B0C7-9977-DF7C-DCF0-1418420248EE}"/>
              </a:ext>
            </a:extLst>
          </p:cNvPr>
          <p:cNvSpPr txBox="1"/>
          <p:nvPr/>
        </p:nvSpPr>
        <p:spPr>
          <a:xfrm>
            <a:off x="635000" y="3581400"/>
            <a:ext cx="6350000" cy="169277"/>
          </a:xfrm>
          <a:prstGeom prst="rect">
            <a:avLst/>
          </a:prstGeom>
          <a:noFill/>
        </p:spPr>
        <p:txBody>
          <a:bodyPr vert="horz" lIns="0" tIns="0" rIns="0" bIns="0" rtlCol="0">
            <a:spAutoFit/>
          </a:bodyPr>
          <a:lstStyle/>
          <a:p>
            <a:r>
              <a:rPr lang="en-US" altLang="zh-CN" sz="1100" b="1">
                <a:solidFill>
                  <a:srgbClr val="FFFFFF"/>
                </a:solidFill>
                <a:latin typeface="Aptos" panose="020B0004020202020204" pitchFamily="34" charset="0"/>
              </a:rPr>
              <a:t>DESIGN · DIGITAL FLOW · STATE SIMULATION</a:t>
            </a:r>
            <a:endParaRPr lang="zh-CN" altLang="en-US" sz="1100" b="1">
              <a:solidFill>
                <a:srgbClr val="FFFFFF"/>
              </a:solidFill>
              <a:latin typeface="Aptos" panose="020B0004020202020204" pitchFamily="34" charset="0"/>
            </a:endParaRPr>
          </a:p>
        </p:txBody>
      </p:sp>
      <p:sp>
        <p:nvSpPr>
          <p:cNvPr id="7" name="矩形 6">
            <a:extLst>
              <a:ext uri="{FF2B5EF4-FFF2-40B4-BE49-F238E27FC236}">
                <a16:creationId xmlns:a16="http://schemas.microsoft.com/office/drawing/2014/main" id="{B633DB41-B80C-8EDD-DAD7-B90651A2B6E4}"/>
              </a:ext>
            </a:extLst>
          </p:cNvPr>
          <p:cNvSpPr/>
          <p:nvPr/>
        </p:nvSpPr>
        <p:spPr>
          <a:xfrm>
            <a:off x="8255000" y="0"/>
            <a:ext cx="3937000" cy="6858000"/>
          </a:xfrm>
          <a:prstGeom prst="rect">
            <a:avLst/>
          </a:prstGeom>
          <a:solidFill>
            <a:srgbClr val="E8ECEA">
              <a:alpha val="96000"/>
            </a:srgbClr>
          </a:solidFill>
          <a:ln w="9525">
            <a:solidFill>
              <a:srgbClr val="E8EC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圆角 7">
            <a:extLst>
              <a:ext uri="{FF2B5EF4-FFF2-40B4-BE49-F238E27FC236}">
                <a16:creationId xmlns:a16="http://schemas.microsoft.com/office/drawing/2014/main" id="{768F0B54-40E5-18BF-69B6-7970A8E9C367}"/>
              </a:ext>
            </a:extLst>
          </p:cNvPr>
          <p:cNvSpPr/>
          <p:nvPr/>
        </p:nvSpPr>
        <p:spPr>
          <a:xfrm>
            <a:off x="7874000" y="1498600"/>
            <a:ext cx="4191000" cy="2908300"/>
          </a:xfrm>
          <a:prstGeom prst="roundRect">
            <a:avLst/>
          </a:prstGeom>
          <a:solidFill>
            <a:srgbClr val="FFFFFF"/>
          </a:solidFill>
          <a:ln w="9525">
            <a:solidFill>
              <a:srgbClr val="E5EA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a:extLst>
              <a:ext uri="{FF2B5EF4-FFF2-40B4-BE49-F238E27FC236}">
                <a16:creationId xmlns:a16="http://schemas.microsoft.com/office/drawing/2014/main" id="{93F7FE08-D3D4-EAE5-4361-9AC2B4A80C2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937500" y="1562100"/>
            <a:ext cx="4064000" cy="2781300"/>
          </a:xfrm>
          <a:prstGeom prst="rect">
            <a:avLst/>
          </a:prstGeom>
        </p:spPr>
      </p:pic>
      <p:sp>
        <p:nvSpPr>
          <p:cNvPr id="11" name="文本框 10">
            <a:extLst>
              <a:ext uri="{FF2B5EF4-FFF2-40B4-BE49-F238E27FC236}">
                <a16:creationId xmlns:a16="http://schemas.microsoft.com/office/drawing/2014/main" id="{90B7A866-E907-ED5F-9212-AEA76264FC5B}"/>
              </a:ext>
            </a:extLst>
          </p:cNvPr>
          <p:cNvSpPr txBox="1"/>
          <p:nvPr/>
        </p:nvSpPr>
        <p:spPr>
          <a:xfrm>
            <a:off x="8255000" y="4749800"/>
            <a:ext cx="3175000" cy="184666"/>
          </a:xfrm>
          <a:prstGeom prst="rect">
            <a:avLst/>
          </a:prstGeom>
          <a:noFill/>
        </p:spPr>
        <p:txBody>
          <a:bodyPr vert="horz" lIns="0" tIns="0" rIns="0" bIns="0" rtlCol="0">
            <a:spAutoFit/>
          </a:bodyPr>
          <a:lstStyle/>
          <a:p>
            <a:r>
              <a:rPr lang="en-US" altLang="zh-CN" sz="1200" b="1">
                <a:solidFill>
                  <a:srgbClr val="23343B"/>
                </a:solidFill>
                <a:latin typeface="Aptos" panose="020B0004020202020204" pitchFamily="34" charset="0"/>
              </a:rPr>
              <a:t>BEYOND A STATIC P&amp;ID</a:t>
            </a:r>
            <a:endParaRPr lang="zh-CN" altLang="en-US" sz="1200" b="1">
              <a:solidFill>
                <a:srgbClr val="23343B"/>
              </a:solidFill>
              <a:latin typeface="Aptos" panose="020B0004020202020204" pitchFamily="34" charset="0"/>
            </a:endParaRPr>
          </a:p>
        </p:txBody>
      </p:sp>
      <p:sp>
        <p:nvSpPr>
          <p:cNvPr id="12" name="文本框 11">
            <a:extLst>
              <a:ext uri="{FF2B5EF4-FFF2-40B4-BE49-F238E27FC236}">
                <a16:creationId xmlns:a16="http://schemas.microsoft.com/office/drawing/2014/main" id="{3148C459-55F8-6EE1-DD27-702A8C466B6B}"/>
              </a:ext>
            </a:extLst>
          </p:cNvPr>
          <p:cNvSpPr txBox="1"/>
          <p:nvPr/>
        </p:nvSpPr>
        <p:spPr>
          <a:xfrm>
            <a:off x="8255000" y="5143500"/>
            <a:ext cx="3492500" cy="184666"/>
          </a:xfrm>
          <a:prstGeom prst="rect">
            <a:avLst/>
          </a:prstGeom>
          <a:noFill/>
        </p:spPr>
        <p:txBody>
          <a:bodyPr vert="horz" lIns="0" tIns="0" rIns="0" bIns="0" rtlCol="0">
            <a:spAutoFit/>
          </a:bodyPr>
          <a:lstStyle/>
          <a:p>
            <a:r>
              <a:rPr lang="en-US" altLang="zh-CN" sz="1200">
                <a:solidFill>
                  <a:srgbClr val="66757B"/>
                </a:solidFill>
                <a:latin typeface="Aptos" panose="020B0004020202020204" pitchFamily="34" charset="0"/>
              </a:rPr>
              <a:t>Make every phase route and equipment state visible</a:t>
            </a:r>
            <a:endParaRPr lang="zh-CN" altLang="en-US" sz="1200">
              <a:solidFill>
                <a:srgbClr val="66757B"/>
              </a:solidFill>
              <a:latin typeface="Aptos" panose="020B0004020202020204" pitchFamily="34" charset="0"/>
            </a:endParaRPr>
          </a:p>
        </p:txBody>
      </p:sp>
    </p:spTree>
    <p:extLst>
      <p:ext uri="{BB962C8B-B14F-4D97-AF65-F5344CB8AC3E}">
        <p14:creationId xmlns:p14="http://schemas.microsoft.com/office/powerpoint/2010/main" val="5860536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5AE4712A-83D5-2270-EEB0-95FF3A2913A8}"/>
              </a:ext>
            </a:extLst>
          </p:cNvPr>
          <p:cNvSpPr txBox="1"/>
          <p:nvPr/>
        </p:nvSpPr>
        <p:spPr>
          <a:xfrm>
            <a:off x="533400" y="254000"/>
            <a:ext cx="8255000" cy="138499"/>
          </a:xfrm>
          <a:prstGeom prst="rect">
            <a:avLst/>
          </a:prstGeom>
          <a:noFill/>
        </p:spPr>
        <p:txBody>
          <a:bodyPr vert="horz" lIns="0" tIns="0" rIns="0" bIns="0" rtlCol="0">
            <a:spAutoFit/>
          </a:bodyPr>
          <a:lstStyle/>
          <a:p>
            <a:r>
              <a:rPr lang="en-US" altLang="zh-CN" sz="900" b="1">
                <a:solidFill>
                  <a:srgbClr val="2F9E75"/>
                </a:solidFill>
                <a:latin typeface="Aptos" panose="020B0004020202020204" pitchFamily="34" charset="0"/>
              </a:rPr>
              <a:t>BUSINESS CHALLENGE</a:t>
            </a:r>
            <a:endParaRPr lang="zh-CN" altLang="en-US" sz="900" b="1">
              <a:solidFill>
                <a:srgbClr val="2F9E75"/>
              </a:solidFill>
              <a:latin typeface="Aptos" panose="020B0004020202020204" pitchFamily="34" charset="0"/>
            </a:endParaRPr>
          </a:p>
        </p:txBody>
      </p:sp>
      <p:sp>
        <p:nvSpPr>
          <p:cNvPr id="3" name="文本框 2">
            <a:extLst>
              <a:ext uri="{FF2B5EF4-FFF2-40B4-BE49-F238E27FC236}">
                <a16:creationId xmlns:a16="http://schemas.microsoft.com/office/drawing/2014/main" id="{94FCBC91-6B0B-C08D-4F6E-985403E5ECC0}"/>
              </a:ext>
            </a:extLst>
          </p:cNvPr>
          <p:cNvSpPr txBox="1"/>
          <p:nvPr/>
        </p:nvSpPr>
        <p:spPr>
          <a:xfrm>
            <a:off x="533400" y="558800"/>
            <a:ext cx="9779000" cy="400110"/>
          </a:xfrm>
          <a:prstGeom prst="rect">
            <a:avLst/>
          </a:prstGeom>
          <a:noFill/>
        </p:spPr>
        <p:txBody>
          <a:bodyPr vert="horz" lIns="0" tIns="0" rIns="0" bIns="0" rtlCol="0">
            <a:spAutoFit/>
          </a:bodyPr>
          <a:lstStyle/>
          <a:p>
            <a:r>
              <a:rPr lang="en-US" altLang="zh-CN" sz="2600" b="1">
                <a:solidFill>
                  <a:srgbClr val="23343B"/>
                </a:solidFill>
                <a:latin typeface="Aptos Display" panose="020B0004020202020204" pitchFamily="34" charset="0"/>
              </a:rPr>
              <a:t>Complex P&amp;IDs make flow analysis heavily manual</a:t>
            </a:r>
            <a:endParaRPr lang="zh-CN" altLang="en-US" sz="2600" b="1">
              <a:solidFill>
                <a:srgbClr val="23343B"/>
              </a:solidFill>
              <a:latin typeface="Aptos Display" panose="020B0004020202020204" pitchFamily="34" charset="0"/>
            </a:endParaRPr>
          </a:p>
        </p:txBody>
      </p:sp>
      <p:cxnSp>
        <p:nvCxnSpPr>
          <p:cNvPr id="4" name="直接连接符 3">
            <a:extLst>
              <a:ext uri="{FF2B5EF4-FFF2-40B4-BE49-F238E27FC236}">
                <a16:creationId xmlns:a16="http://schemas.microsoft.com/office/drawing/2014/main" id="{8F6A0664-053E-460A-14D2-E9A1624E966A}"/>
              </a:ext>
            </a:extLst>
          </p:cNvPr>
          <p:cNvCxnSpPr/>
          <p:nvPr/>
        </p:nvCxnSpPr>
        <p:spPr>
          <a:xfrm>
            <a:off x="533400" y="1231900"/>
            <a:ext cx="11125200" cy="0"/>
          </a:xfrm>
          <a:prstGeom prst="line">
            <a:avLst/>
          </a:prstGeom>
          <a:ln w="12700">
            <a:solidFill>
              <a:srgbClr val="E5EAE8"/>
            </a:solidFill>
          </a:ln>
        </p:spPr>
        <p:style>
          <a:lnRef idx="2">
            <a:schemeClr val="accent1"/>
          </a:lnRef>
          <a:fillRef idx="0">
            <a:schemeClr val="accent1"/>
          </a:fillRef>
          <a:effectRef idx="1">
            <a:schemeClr val="accent1"/>
          </a:effectRef>
          <a:fontRef idx="minor">
            <a:schemeClr val="tx1"/>
          </a:fontRef>
        </p:style>
      </p:cxnSp>
      <p:sp>
        <p:nvSpPr>
          <p:cNvPr id="5" name="文本框 4">
            <a:extLst>
              <a:ext uri="{FF2B5EF4-FFF2-40B4-BE49-F238E27FC236}">
                <a16:creationId xmlns:a16="http://schemas.microsoft.com/office/drawing/2014/main" id="{CD01F726-645C-B028-750C-8B43926399A0}"/>
              </a:ext>
            </a:extLst>
          </p:cNvPr>
          <p:cNvSpPr txBox="1"/>
          <p:nvPr/>
        </p:nvSpPr>
        <p:spPr>
          <a:xfrm>
            <a:off x="11303000" y="254000"/>
            <a:ext cx="355600" cy="138499"/>
          </a:xfrm>
          <a:prstGeom prst="rect">
            <a:avLst/>
          </a:prstGeom>
          <a:noFill/>
        </p:spPr>
        <p:txBody>
          <a:bodyPr vert="horz" lIns="0" tIns="0" rIns="0" bIns="0" rtlCol="0">
            <a:spAutoFit/>
          </a:bodyPr>
          <a:lstStyle/>
          <a:p>
            <a:pPr algn="r"/>
            <a:r>
              <a:rPr lang="en-US" altLang="zh-CN" sz="900" b="1">
                <a:solidFill>
                  <a:srgbClr val="66757B"/>
                </a:solidFill>
                <a:latin typeface="Aptos" panose="020B0004020202020204" pitchFamily="34" charset="0"/>
              </a:rPr>
              <a:t>02</a:t>
            </a:r>
            <a:endParaRPr lang="zh-CN" altLang="en-US" sz="900" b="1">
              <a:solidFill>
                <a:srgbClr val="66757B"/>
              </a:solidFill>
              <a:latin typeface="Aptos" panose="020B0004020202020204" pitchFamily="34" charset="0"/>
            </a:endParaRPr>
          </a:p>
        </p:txBody>
      </p:sp>
      <p:sp>
        <p:nvSpPr>
          <p:cNvPr id="6" name="文本框 5">
            <a:extLst>
              <a:ext uri="{FF2B5EF4-FFF2-40B4-BE49-F238E27FC236}">
                <a16:creationId xmlns:a16="http://schemas.microsoft.com/office/drawing/2014/main" id="{B42AE444-0EF8-E44C-F881-C302445081DE}"/>
              </a:ext>
            </a:extLst>
          </p:cNvPr>
          <p:cNvSpPr txBox="1"/>
          <p:nvPr/>
        </p:nvSpPr>
        <p:spPr>
          <a:xfrm>
            <a:off x="533400" y="6578600"/>
            <a:ext cx="6350000" cy="107722"/>
          </a:xfrm>
          <a:prstGeom prst="rect">
            <a:avLst/>
          </a:prstGeom>
          <a:noFill/>
        </p:spPr>
        <p:txBody>
          <a:bodyPr vert="horz" lIns="0" tIns="0" rIns="0" bIns="0" rtlCol="0">
            <a:spAutoFit/>
          </a:bodyPr>
          <a:lstStyle/>
          <a:p>
            <a:r>
              <a:rPr lang="en-US" altLang="zh-CN" sz="700" b="1">
                <a:solidFill>
                  <a:srgbClr val="66757B"/>
                </a:solidFill>
                <a:latin typeface="Aptos" panose="020B0004020202020204" pitchFamily="34" charset="0"/>
              </a:rPr>
              <a:t>HIGHLIGHTED FLOW PATH SOFTWARE · CUSTOMER PRESENTATION</a:t>
            </a:r>
            <a:endParaRPr lang="zh-CN" altLang="en-US" sz="700" b="1">
              <a:solidFill>
                <a:srgbClr val="66757B"/>
              </a:solidFill>
              <a:latin typeface="Aptos" panose="020B0004020202020204" pitchFamily="34" charset="0"/>
            </a:endParaRPr>
          </a:p>
        </p:txBody>
      </p:sp>
      <p:sp>
        <p:nvSpPr>
          <p:cNvPr id="7" name="椭圆 6">
            <a:extLst>
              <a:ext uri="{FF2B5EF4-FFF2-40B4-BE49-F238E27FC236}">
                <a16:creationId xmlns:a16="http://schemas.microsoft.com/office/drawing/2014/main" id="{11223E40-0927-F4BB-3900-F84B5258AFA0}"/>
              </a:ext>
            </a:extLst>
          </p:cNvPr>
          <p:cNvSpPr/>
          <p:nvPr/>
        </p:nvSpPr>
        <p:spPr>
          <a:xfrm>
            <a:off x="685800" y="1803400"/>
            <a:ext cx="114300" cy="114300"/>
          </a:xfrm>
          <a:prstGeom prst="ellipse">
            <a:avLst/>
          </a:prstGeom>
          <a:solidFill>
            <a:srgbClr val="2F9E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1E45096C-78EF-B96B-5CE2-FC52F9B36D1C}"/>
              </a:ext>
            </a:extLst>
          </p:cNvPr>
          <p:cNvSpPr txBox="1"/>
          <p:nvPr/>
        </p:nvSpPr>
        <p:spPr>
          <a:xfrm>
            <a:off x="965200" y="1714500"/>
            <a:ext cx="5372100" cy="492443"/>
          </a:xfrm>
          <a:prstGeom prst="rect">
            <a:avLst/>
          </a:prstGeom>
          <a:noFill/>
        </p:spPr>
        <p:txBody>
          <a:bodyPr vert="horz" lIns="0" tIns="0" rIns="0" bIns="0" rtlCol="0">
            <a:spAutoFit/>
          </a:bodyPr>
          <a:lstStyle/>
          <a:p>
            <a:r>
              <a:rPr lang="en-US" altLang="zh-CN" sz="1600">
                <a:solidFill>
                  <a:srgbClr val="23343B"/>
                </a:solidFill>
                <a:latin typeface="Aptos" panose="020B0004020202020204" pitchFamily="34" charset="0"/>
              </a:rPr>
              <a:t>Large numbers of pipes, valves, pumps, vessels and instruments</a:t>
            </a:r>
            <a:endParaRPr lang="zh-CN" altLang="en-US" sz="1600">
              <a:solidFill>
                <a:srgbClr val="23343B"/>
              </a:solidFill>
              <a:latin typeface="Aptos" panose="020B0004020202020204" pitchFamily="34" charset="0"/>
            </a:endParaRPr>
          </a:p>
        </p:txBody>
      </p:sp>
      <p:sp>
        <p:nvSpPr>
          <p:cNvPr id="9" name="椭圆 8">
            <a:extLst>
              <a:ext uri="{FF2B5EF4-FFF2-40B4-BE49-F238E27FC236}">
                <a16:creationId xmlns:a16="http://schemas.microsoft.com/office/drawing/2014/main" id="{B7AE3CF7-31E4-AA1E-E094-F2CFAC72B54F}"/>
              </a:ext>
            </a:extLst>
          </p:cNvPr>
          <p:cNvSpPr/>
          <p:nvPr/>
        </p:nvSpPr>
        <p:spPr>
          <a:xfrm>
            <a:off x="685800" y="2692400"/>
            <a:ext cx="114300" cy="114300"/>
          </a:xfrm>
          <a:prstGeom prst="ellipse">
            <a:avLst/>
          </a:prstGeom>
          <a:solidFill>
            <a:srgbClr val="E89A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FE4148C6-9C80-3822-81C7-1D0DD3EC6996}"/>
              </a:ext>
            </a:extLst>
          </p:cNvPr>
          <p:cNvSpPr txBox="1"/>
          <p:nvPr/>
        </p:nvSpPr>
        <p:spPr>
          <a:xfrm>
            <a:off x="965200" y="2603500"/>
            <a:ext cx="5372100" cy="492443"/>
          </a:xfrm>
          <a:prstGeom prst="rect">
            <a:avLst/>
          </a:prstGeom>
          <a:noFill/>
        </p:spPr>
        <p:txBody>
          <a:bodyPr vert="horz" lIns="0" tIns="0" rIns="0" bIns="0" rtlCol="0">
            <a:spAutoFit/>
          </a:bodyPr>
          <a:lstStyle/>
          <a:p>
            <a:r>
              <a:rPr lang="en-US" altLang="zh-CN" sz="1600">
                <a:solidFill>
                  <a:srgbClr val="23343B"/>
                </a:solidFill>
                <a:latin typeface="Aptos" panose="020B0004020202020204" pitchFamily="34" charset="0"/>
              </a:rPr>
              <a:t>Each phase may require a different route and equipment state</a:t>
            </a:r>
            <a:endParaRPr lang="zh-CN" altLang="en-US" sz="1600">
              <a:solidFill>
                <a:srgbClr val="23343B"/>
              </a:solidFill>
              <a:latin typeface="Aptos" panose="020B0004020202020204" pitchFamily="34" charset="0"/>
            </a:endParaRPr>
          </a:p>
        </p:txBody>
      </p:sp>
      <p:sp>
        <p:nvSpPr>
          <p:cNvPr id="11" name="椭圆 10">
            <a:extLst>
              <a:ext uri="{FF2B5EF4-FFF2-40B4-BE49-F238E27FC236}">
                <a16:creationId xmlns:a16="http://schemas.microsoft.com/office/drawing/2014/main" id="{F4115F3A-4AB9-1E6C-9806-2829487251CF}"/>
              </a:ext>
            </a:extLst>
          </p:cNvPr>
          <p:cNvSpPr/>
          <p:nvPr/>
        </p:nvSpPr>
        <p:spPr>
          <a:xfrm>
            <a:off x="685800" y="3581400"/>
            <a:ext cx="114300" cy="114300"/>
          </a:xfrm>
          <a:prstGeom prst="ellipse">
            <a:avLst/>
          </a:prstGeom>
          <a:solidFill>
            <a:srgbClr val="E89A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5CCEF2AB-827A-BD22-5A9B-810FE223E985}"/>
              </a:ext>
            </a:extLst>
          </p:cNvPr>
          <p:cNvSpPr txBox="1"/>
          <p:nvPr/>
        </p:nvSpPr>
        <p:spPr>
          <a:xfrm>
            <a:off x="965200" y="3492500"/>
            <a:ext cx="5372100" cy="492443"/>
          </a:xfrm>
          <a:prstGeom prst="rect">
            <a:avLst/>
          </a:prstGeom>
          <a:noFill/>
        </p:spPr>
        <p:txBody>
          <a:bodyPr vert="horz" lIns="0" tIns="0" rIns="0" bIns="0" rtlCol="0">
            <a:spAutoFit/>
          </a:bodyPr>
          <a:lstStyle/>
          <a:p>
            <a:r>
              <a:rPr lang="en-US" altLang="zh-CN" sz="1600">
                <a:solidFill>
                  <a:srgbClr val="23343B"/>
                </a:solidFill>
                <a:latin typeface="Aptos" panose="020B0004020202020204" pitchFamily="34" charset="0"/>
              </a:rPr>
              <a:t>Branches, returns and off-page connections are easily overlooked</a:t>
            </a:r>
            <a:endParaRPr lang="zh-CN" altLang="en-US" sz="1600">
              <a:solidFill>
                <a:srgbClr val="23343B"/>
              </a:solidFill>
              <a:latin typeface="Aptos" panose="020B0004020202020204" pitchFamily="34" charset="0"/>
            </a:endParaRPr>
          </a:p>
        </p:txBody>
      </p:sp>
      <p:sp>
        <p:nvSpPr>
          <p:cNvPr id="13" name="椭圆 12">
            <a:extLst>
              <a:ext uri="{FF2B5EF4-FFF2-40B4-BE49-F238E27FC236}">
                <a16:creationId xmlns:a16="http://schemas.microsoft.com/office/drawing/2014/main" id="{DD7B2C1A-2635-3C7A-CFAD-BD62AEE21822}"/>
              </a:ext>
            </a:extLst>
          </p:cNvPr>
          <p:cNvSpPr/>
          <p:nvPr/>
        </p:nvSpPr>
        <p:spPr>
          <a:xfrm>
            <a:off x="685800" y="4470400"/>
            <a:ext cx="114300" cy="114300"/>
          </a:xfrm>
          <a:prstGeom prst="ellipse">
            <a:avLst/>
          </a:prstGeom>
          <a:solidFill>
            <a:srgbClr val="E89A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BCAE93B6-997D-0B30-4F34-549D193A0D59}"/>
              </a:ext>
            </a:extLst>
          </p:cNvPr>
          <p:cNvSpPr txBox="1"/>
          <p:nvPr/>
        </p:nvSpPr>
        <p:spPr>
          <a:xfrm>
            <a:off x="965200" y="4381500"/>
            <a:ext cx="5372100" cy="246221"/>
          </a:xfrm>
          <a:prstGeom prst="rect">
            <a:avLst/>
          </a:prstGeom>
          <a:noFill/>
        </p:spPr>
        <p:txBody>
          <a:bodyPr vert="horz" lIns="0" tIns="0" rIns="0" bIns="0" rtlCol="0">
            <a:spAutoFit/>
          </a:bodyPr>
          <a:lstStyle/>
          <a:p>
            <a:r>
              <a:rPr lang="en-US" altLang="zh-CN" sz="1600">
                <a:solidFill>
                  <a:srgbClr val="23343B"/>
                </a:solidFill>
                <a:latin typeface="Aptos" panose="020B0004020202020204" pitchFamily="34" charset="0"/>
              </a:rPr>
              <a:t>Design reviews depend heavily on individual experience</a:t>
            </a:r>
            <a:endParaRPr lang="zh-CN" altLang="en-US" sz="1600">
              <a:solidFill>
                <a:srgbClr val="23343B"/>
              </a:solidFill>
              <a:latin typeface="Aptos" panose="020B0004020202020204" pitchFamily="34" charset="0"/>
            </a:endParaRPr>
          </a:p>
        </p:txBody>
      </p:sp>
      <p:sp>
        <p:nvSpPr>
          <p:cNvPr id="15" name="矩形: 圆角 14">
            <a:extLst>
              <a:ext uri="{FF2B5EF4-FFF2-40B4-BE49-F238E27FC236}">
                <a16:creationId xmlns:a16="http://schemas.microsoft.com/office/drawing/2014/main" id="{FB4CE2AD-3201-15C4-B2E6-EC1C3879E22B}"/>
              </a:ext>
            </a:extLst>
          </p:cNvPr>
          <p:cNvSpPr/>
          <p:nvPr/>
        </p:nvSpPr>
        <p:spPr>
          <a:xfrm>
            <a:off x="6921500" y="1778000"/>
            <a:ext cx="4635500" cy="3213100"/>
          </a:xfrm>
          <a:prstGeom prst="roundRect">
            <a:avLst/>
          </a:prstGeom>
          <a:solidFill>
            <a:srgbClr val="FFFFFF"/>
          </a:solidFill>
          <a:ln w="9525">
            <a:solidFill>
              <a:srgbClr val="E5EA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7" name="图片 16">
            <a:extLst>
              <a:ext uri="{FF2B5EF4-FFF2-40B4-BE49-F238E27FC236}">
                <a16:creationId xmlns:a16="http://schemas.microsoft.com/office/drawing/2014/main" id="{63F91D2B-E640-AB37-1052-4493EFD1EE5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0" y="1841500"/>
            <a:ext cx="4508500" cy="3086100"/>
          </a:xfrm>
          <a:prstGeom prst="rect">
            <a:avLst/>
          </a:prstGeom>
        </p:spPr>
      </p:pic>
      <p:sp>
        <p:nvSpPr>
          <p:cNvPr id="18" name="文本框 17">
            <a:extLst>
              <a:ext uri="{FF2B5EF4-FFF2-40B4-BE49-F238E27FC236}">
                <a16:creationId xmlns:a16="http://schemas.microsoft.com/office/drawing/2014/main" id="{20AA017F-2920-FE52-E021-3128BEB8695B}"/>
              </a:ext>
            </a:extLst>
          </p:cNvPr>
          <p:cNvSpPr txBox="1"/>
          <p:nvPr/>
        </p:nvSpPr>
        <p:spPr>
          <a:xfrm>
            <a:off x="6985000" y="5168900"/>
            <a:ext cx="4508500" cy="153888"/>
          </a:xfrm>
          <a:prstGeom prst="rect">
            <a:avLst/>
          </a:prstGeom>
          <a:noFill/>
        </p:spPr>
        <p:txBody>
          <a:bodyPr vert="horz" lIns="0" tIns="0" rIns="0" bIns="0" rtlCol="0">
            <a:spAutoFit/>
          </a:bodyPr>
          <a:lstStyle/>
          <a:p>
            <a:r>
              <a:rPr lang="en-US" altLang="zh-CN" sz="1000" b="1">
                <a:solidFill>
                  <a:srgbClr val="2F9E75"/>
                </a:solidFill>
                <a:latin typeface="Aptos" panose="020B0004020202020204" pitchFamily="34" charset="0"/>
              </a:rPr>
              <a:t>TURN COMPLEX DRAWINGS INTO CLEAR SCENARIOS</a:t>
            </a:r>
            <a:endParaRPr lang="zh-CN" altLang="en-US" sz="1000" b="1">
              <a:solidFill>
                <a:srgbClr val="2F9E75"/>
              </a:solidFill>
              <a:latin typeface="Aptos" panose="020B0004020202020204" pitchFamily="34" charset="0"/>
            </a:endParaRPr>
          </a:p>
        </p:txBody>
      </p:sp>
    </p:spTree>
    <p:extLst>
      <p:ext uri="{BB962C8B-B14F-4D97-AF65-F5344CB8AC3E}">
        <p14:creationId xmlns:p14="http://schemas.microsoft.com/office/powerpoint/2010/main" val="38866048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7C242A6-A787-BC7A-DFE5-581A8DE1D8BC}"/>
              </a:ext>
            </a:extLst>
          </p:cNvPr>
          <p:cNvSpPr txBox="1"/>
          <p:nvPr/>
        </p:nvSpPr>
        <p:spPr>
          <a:xfrm>
            <a:off x="533400" y="254000"/>
            <a:ext cx="8255000" cy="138499"/>
          </a:xfrm>
          <a:prstGeom prst="rect">
            <a:avLst/>
          </a:prstGeom>
          <a:noFill/>
        </p:spPr>
        <p:txBody>
          <a:bodyPr vert="horz" lIns="0" tIns="0" rIns="0" bIns="0" rtlCol="0">
            <a:spAutoFit/>
          </a:bodyPr>
          <a:lstStyle/>
          <a:p>
            <a:r>
              <a:rPr lang="en-US" altLang="zh-CN" sz="900" b="1">
                <a:solidFill>
                  <a:srgbClr val="2F9E75"/>
                </a:solidFill>
                <a:latin typeface="Aptos" panose="020B0004020202020204" pitchFamily="34" charset="0"/>
              </a:rPr>
              <a:t>BUSINESS CHALLENGE</a:t>
            </a:r>
            <a:endParaRPr lang="zh-CN" altLang="en-US" sz="900" b="1">
              <a:solidFill>
                <a:srgbClr val="2F9E75"/>
              </a:solidFill>
              <a:latin typeface="Aptos" panose="020B0004020202020204" pitchFamily="34" charset="0"/>
            </a:endParaRPr>
          </a:p>
        </p:txBody>
      </p:sp>
      <p:sp>
        <p:nvSpPr>
          <p:cNvPr id="3" name="文本框 2">
            <a:extLst>
              <a:ext uri="{FF2B5EF4-FFF2-40B4-BE49-F238E27FC236}">
                <a16:creationId xmlns:a16="http://schemas.microsoft.com/office/drawing/2014/main" id="{91A24DA0-6166-D040-A186-5C524A22C705}"/>
              </a:ext>
            </a:extLst>
          </p:cNvPr>
          <p:cNvSpPr txBox="1"/>
          <p:nvPr/>
        </p:nvSpPr>
        <p:spPr>
          <a:xfrm>
            <a:off x="533400" y="558800"/>
            <a:ext cx="9779000" cy="400110"/>
          </a:xfrm>
          <a:prstGeom prst="rect">
            <a:avLst/>
          </a:prstGeom>
          <a:noFill/>
        </p:spPr>
        <p:txBody>
          <a:bodyPr vert="horz" lIns="0" tIns="0" rIns="0" bIns="0" rtlCol="0">
            <a:spAutoFit/>
          </a:bodyPr>
          <a:lstStyle/>
          <a:p>
            <a:r>
              <a:rPr lang="en-US" altLang="zh-CN" sz="2600" b="1">
                <a:solidFill>
                  <a:srgbClr val="23343B"/>
                </a:solidFill>
                <a:latin typeface="Aptos Display" panose="020B0004020202020204" pitchFamily="34" charset="0"/>
              </a:rPr>
              <a:t>More phases create more repetitive work and risk</a:t>
            </a:r>
            <a:endParaRPr lang="zh-CN" altLang="en-US" sz="2600" b="1">
              <a:solidFill>
                <a:srgbClr val="23343B"/>
              </a:solidFill>
              <a:latin typeface="Aptos Display" panose="020B0004020202020204" pitchFamily="34" charset="0"/>
            </a:endParaRPr>
          </a:p>
        </p:txBody>
      </p:sp>
      <p:cxnSp>
        <p:nvCxnSpPr>
          <p:cNvPr id="4" name="直接连接符 3">
            <a:extLst>
              <a:ext uri="{FF2B5EF4-FFF2-40B4-BE49-F238E27FC236}">
                <a16:creationId xmlns:a16="http://schemas.microsoft.com/office/drawing/2014/main" id="{F14F1309-D574-D106-6A2E-F53FF6A735E4}"/>
              </a:ext>
            </a:extLst>
          </p:cNvPr>
          <p:cNvCxnSpPr/>
          <p:nvPr/>
        </p:nvCxnSpPr>
        <p:spPr>
          <a:xfrm>
            <a:off x="533400" y="1231900"/>
            <a:ext cx="11125200" cy="0"/>
          </a:xfrm>
          <a:prstGeom prst="line">
            <a:avLst/>
          </a:prstGeom>
          <a:ln w="12700">
            <a:solidFill>
              <a:srgbClr val="E5EAE8"/>
            </a:solidFill>
          </a:ln>
        </p:spPr>
        <p:style>
          <a:lnRef idx="2">
            <a:schemeClr val="accent1"/>
          </a:lnRef>
          <a:fillRef idx="0">
            <a:schemeClr val="accent1"/>
          </a:fillRef>
          <a:effectRef idx="1">
            <a:schemeClr val="accent1"/>
          </a:effectRef>
          <a:fontRef idx="minor">
            <a:schemeClr val="tx1"/>
          </a:fontRef>
        </p:style>
      </p:cxnSp>
      <p:sp>
        <p:nvSpPr>
          <p:cNvPr id="5" name="文本框 4">
            <a:extLst>
              <a:ext uri="{FF2B5EF4-FFF2-40B4-BE49-F238E27FC236}">
                <a16:creationId xmlns:a16="http://schemas.microsoft.com/office/drawing/2014/main" id="{BA7023D8-DC2A-0B23-5D69-D0D6BBAF95C9}"/>
              </a:ext>
            </a:extLst>
          </p:cNvPr>
          <p:cNvSpPr txBox="1"/>
          <p:nvPr/>
        </p:nvSpPr>
        <p:spPr>
          <a:xfrm>
            <a:off x="11303000" y="254000"/>
            <a:ext cx="355600" cy="138499"/>
          </a:xfrm>
          <a:prstGeom prst="rect">
            <a:avLst/>
          </a:prstGeom>
          <a:noFill/>
        </p:spPr>
        <p:txBody>
          <a:bodyPr vert="horz" lIns="0" tIns="0" rIns="0" bIns="0" rtlCol="0">
            <a:spAutoFit/>
          </a:bodyPr>
          <a:lstStyle/>
          <a:p>
            <a:pPr algn="r"/>
            <a:r>
              <a:rPr lang="en-US" altLang="zh-CN" sz="900" b="1">
                <a:solidFill>
                  <a:srgbClr val="66757B"/>
                </a:solidFill>
                <a:latin typeface="Aptos" panose="020B0004020202020204" pitchFamily="34" charset="0"/>
              </a:rPr>
              <a:t>03</a:t>
            </a:r>
            <a:endParaRPr lang="zh-CN" altLang="en-US" sz="900" b="1">
              <a:solidFill>
                <a:srgbClr val="66757B"/>
              </a:solidFill>
              <a:latin typeface="Aptos" panose="020B0004020202020204" pitchFamily="34" charset="0"/>
            </a:endParaRPr>
          </a:p>
        </p:txBody>
      </p:sp>
      <p:sp>
        <p:nvSpPr>
          <p:cNvPr id="6" name="文本框 5">
            <a:extLst>
              <a:ext uri="{FF2B5EF4-FFF2-40B4-BE49-F238E27FC236}">
                <a16:creationId xmlns:a16="http://schemas.microsoft.com/office/drawing/2014/main" id="{6622C2F7-7F28-1247-39FD-D0D933E7CAAA}"/>
              </a:ext>
            </a:extLst>
          </p:cNvPr>
          <p:cNvSpPr txBox="1"/>
          <p:nvPr/>
        </p:nvSpPr>
        <p:spPr>
          <a:xfrm>
            <a:off x="533400" y="6578600"/>
            <a:ext cx="6350000" cy="107722"/>
          </a:xfrm>
          <a:prstGeom prst="rect">
            <a:avLst/>
          </a:prstGeom>
          <a:noFill/>
        </p:spPr>
        <p:txBody>
          <a:bodyPr vert="horz" lIns="0" tIns="0" rIns="0" bIns="0" rtlCol="0">
            <a:spAutoFit/>
          </a:bodyPr>
          <a:lstStyle/>
          <a:p>
            <a:r>
              <a:rPr lang="en-US" altLang="zh-CN" sz="700" b="1">
                <a:solidFill>
                  <a:srgbClr val="66757B"/>
                </a:solidFill>
                <a:latin typeface="Aptos" panose="020B0004020202020204" pitchFamily="34" charset="0"/>
              </a:rPr>
              <a:t>HIGHLIGHTED FLOW PATH SOFTWARE · CUSTOMER PRESENTATION</a:t>
            </a:r>
            <a:endParaRPr lang="zh-CN" altLang="en-US" sz="700" b="1">
              <a:solidFill>
                <a:srgbClr val="66757B"/>
              </a:solidFill>
              <a:latin typeface="Aptos" panose="020B0004020202020204" pitchFamily="34" charset="0"/>
            </a:endParaRPr>
          </a:p>
        </p:txBody>
      </p:sp>
      <p:sp>
        <p:nvSpPr>
          <p:cNvPr id="7" name="椭圆 6">
            <a:extLst>
              <a:ext uri="{FF2B5EF4-FFF2-40B4-BE49-F238E27FC236}">
                <a16:creationId xmlns:a16="http://schemas.microsoft.com/office/drawing/2014/main" id="{F9215159-8716-9D51-8648-63110D6ECFA6}"/>
              </a:ext>
            </a:extLst>
          </p:cNvPr>
          <p:cNvSpPr/>
          <p:nvPr/>
        </p:nvSpPr>
        <p:spPr>
          <a:xfrm>
            <a:off x="685800" y="1803400"/>
            <a:ext cx="114300" cy="114300"/>
          </a:xfrm>
          <a:prstGeom prst="ellipse">
            <a:avLst/>
          </a:prstGeom>
          <a:solidFill>
            <a:srgbClr val="2F9E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4C995274-FCD6-01A5-2F02-E05B55EBDC90}"/>
              </a:ext>
            </a:extLst>
          </p:cNvPr>
          <p:cNvSpPr txBox="1"/>
          <p:nvPr/>
        </p:nvSpPr>
        <p:spPr>
          <a:xfrm>
            <a:off x="965200" y="1714500"/>
            <a:ext cx="5372100" cy="246221"/>
          </a:xfrm>
          <a:prstGeom prst="rect">
            <a:avLst/>
          </a:prstGeom>
          <a:noFill/>
        </p:spPr>
        <p:txBody>
          <a:bodyPr vert="horz" lIns="0" tIns="0" rIns="0" bIns="0" rtlCol="0">
            <a:spAutoFit/>
          </a:bodyPr>
          <a:lstStyle/>
          <a:p>
            <a:r>
              <a:rPr lang="en-US" altLang="zh-CN" sz="1600">
                <a:solidFill>
                  <a:srgbClr val="23343B"/>
                </a:solidFill>
                <a:latin typeface="Aptos" panose="020B0004020202020204" pitchFamily="34" charset="0"/>
              </a:rPr>
              <a:t>A single CIP process may contain dozens of phases</a:t>
            </a:r>
            <a:endParaRPr lang="zh-CN" altLang="en-US" sz="1600">
              <a:solidFill>
                <a:srgbClr val="23343B"/>
              </a:solidFill>
              <a:latin typeface="Aptos" panose="020B0004020202020204" pitchFamily="34" charset="0"/>
            </a:endParaRPr>
          </a:p>
        </p:txBody>
      </p:sp>
      <p:sp>
        <p:nvSpPr>
          <p:cNvPr id="9" name="椭圆 8">
            <a:extLst>
              <a:ext uri="{FF2B5EF4-FFF2-40B4-BE49-F238E27FC236}">
                <a16:creationId xmlns:a16="http://schemas.microsoft.com/office/drawing/2014/main" id="{0B4A8C02-9259-8F75-1B43-48DB24DE9FF5}"/>
              </a:ext>
            </a:extLst>
          </p:cNvPr>
          <p:cNvSpPr/>
          <p:nvPr/>
        </p:nvSpPr>
        <p:spPr>
          <a:xfrm>
            <a:off x="685800" y="2692400"/>
            <a:ext cx="114300" cy="114300"/>
          </a:xfrm>
          <a:prstGeom prst="ellipse">
            <a:avLst/>
          </a:prstGeom>
          <a:solidFill>
            <a:srgbClr val="E89A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B3BEDF9C-BFD3-1E66-A7A7-631C80829FAB}"/>
              </a:ext>
            </a:extLst>
          </p:cNvPr>
          <p:cNvSpPr txBox="1"/>
          <p:nvPr/>
        </p:nvSpPr>
        <p:spPr>
          <a:xfrm>
            <a:off x="965200" y="2603500"/>
            <a:ext cx="5372100" cy="246221"/>
          </a:xfrm>
          <a:prstGeom prst="rect">
            <a:avLst/>
          </a:prstGeom>
          <a:noFill/>
        </p:spPr>
        <p:txBody>
          <a:bodyPr vert="horz" lIns="0" tIns="0" rIns="0" bIns="0" rtlCol="0">
            <a:spAutoFit/>
          </a:bodyPr>
          <a:lstStyle/>
          <a:p>
            <a:r>
              <a:rPr lang="en-US" altLang="zh-CN" sz="1600">
                <a:solidFill>
                  <a:srgbClr val="23343B"/>
                </a:solidFill>
                <a:latin typeface="Aptos" panose="020B0004020202020204" pitchFamily="34" charset="0"/>
              </a:rPr>
              <a:t>Every phase requires repeated route and valve-state checks</a:t>
            </a:r>
            <a:endParaRPr lang="zh-CN" altLang="en-US" sz="1600">
              <a:solidFill>
                <a:srgbClr val="23343B"/>
              </a:solidFill>
              <a:latin typeface="Aptos" panose="020B0004020202020204" pitchFamily="34" charset="0"/>
            </a:endParaRPr>
          </a:p>
        </p:txBody>
      </p:sp>
      <p:sp>
        <p:nvSpPr>
          <p:cNvPr id="11" name="椭圆 10">
            <a:extLst>
              <a:ext uri="{FF2B5EF4-FFF2-40B4-BE49-F238E27FC236}">
                <a16:creationId xmlns:a16="http://schemas.microsoft.com/office/drawing/2014/main" id="{FE173BDA-0DD4-DE06-670F-5AADE619100E}"/>
              </a:ext>
            </a:extLst>
          </p:cNvPr>
          <p:cNvSpPr/>
          <p:nvPr/>
        </p:nvSpPr>
        <p:spPr>
          <a:xfrm>
            <a:off x="685800" y="3581400"/>
            <a:ext cx="114300" cy="114300"/>
          </a:xfrm>
          <a:prstGeom prst="ellipse">
            <a:avLst/>
          </a:prstGeom>
          <a:solidFill>
            <a:srgbClr val="E89A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7C869847-EC0A-0656-F5AA-21EF78FEAD0B}"/>
              </a:ext>
            </a:extLst>
          </p:cNvPr>
          <p:cNvSpPr txBox="1"/>
          <p:nvPr/>
        </p:nvSpPr>
        <p:spPr>
          <a:xfrm>
            <a:off x="965200" y="3492500"/>
            <a:ext cx="5372100" cy="246221"/>
          </a:xfrm>
          <a:prstGeom prst="rect">
            <a:avLst/>
          </a:prstGeom>
          <a:noFill/>
        </p:spPr>
        <p:txBody>
          <a:bodyPr vert="horz" lIns="0" tIns="0" rIns="0" bIns="0" rtlCol="0">
            <a:spAutoFit/>
          </a:bodyPr>
          <a:lstStyle/>
          <a:p>
            <a:r>
              <a:rPr lang="en-US" altLang="zh-CN" sz="1600">
                <a:solidFill>
                  <a:srgbClr val="23343B"/>
                </a:solidFill>
                <a:latin typeface="Aptos" panose="020B0004020202020204" pitchFamily="34" charset="0"/>
              </a:rPr>
              <a:t>Manual copying and annotation consume engineering time</a:t>
            </a:r>
            <a:endParaRPr lang="zh-CN" altLang="en-US" sz="1600">
              <a:solidFill>
                <a:srgbClr val="23343B"/>
              </a:solidFill>
              <a:latin typeface="Aptos" panose="020B0004020202020204" pitchFamily="34" charset="0"/>
            </a:endParaRPr>
          </a:p>
        </p:txBody>
      </p:sp>
      <p:sp>
        <p:nvSpPr>
          <p:cNvPr id="13" name="椭圆 12">
            <a:extLst>
              <a:ext uri="{FF2B5EF4-FFF2-40B4-BE49-F238E27FC236}">
                <a16:creationId xmlns:a16="http://schemas.microsoft.com/office/drawing/2014/main" id="{A981DBB5-7C38-191E-3530-E55B61DEDA2B}"/>
              </a:ext>
            </a:extLst>
          </p:cNvPr>
          <p:cNvSpPr/>
          <p:nvPr/>
        </p:nvSpPr>
        <p:spPr>
          <a:xfrm>
            <a:off x="685800" y="4470400"/>
            <a:ext cx="114300" cy="114300"/>
          </a:xfrm>
          <a:prstGeom prst="ellipse">
            <a:avLst/>
          </a:prstGeom>
          <a:solidFill>
            <a:srgbClr val="E89A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E16BF3E0-8D48-4E1B-59AE-B581464C1EBC}"/>
              </a:ext>
            </a:extLst>
          </p:cNvPr>
          <p:cNvSpPr txBox="1"/>
          <p:nvPr/>
        </p:nvSpPr>
        <p:spPr>
          <a:xfrm>
            <a:off x="965200" y="4381500"/>
            <a:ext cx="5372100" cy="492443"/>
          </a:xfrm>
          <a:prstGeom prst="rect">
            <a:avLst/>
          </a:prstGeom>
          <a:noFill/>
        </p:spPr>
        <p:txBody>
          <a:bodyPr vert="horz" lIns="0" tIns="0" rIns="0" bIns="0" rtlCol="0">
            <a:spAutoFit/>
          </a:bodyPr>
          <a:lstStyle/>
          <a:p>
            <a:r>
              <a:rPr lang="en-US" altLang="zh-CN" sz="1600">
                <a:solidFill>
                  <a:srgbClr val="23343B"/>
                </a:solidFill>
                <a:latin typeface="Aptos" panose="020B0004020202020204" pitchFamily="34" charset="0"/>
              </a:rPr>
              <a:t>Hundreds of report pages amplify omissions and version errors</a:t>
            </a:r>
            <a:endParaRPr lang="zh-CN" altLang="en-US" sz="1600">
              <a:solidFill>
                <a:srgbClr val="23343B"/>
              </a:solidFill>
              <a:latin typeface="Aptos" panose="020B0004020202020204" pitchFamily="34" charset="0"/>
            </a:endParaRPr>
          </a:p>
        </p:txBody>
      </p:sp>
      <p:sp>
        <p:nvSpPr>
          <p:cNvPr id="15" name="矩形: 圆角 14">
            <a:extLst>
              <a:ext uri="{FF2B5EF4-FFF2-40B4-BE49-F238E27FC236}">
                <a16:creationId xmlns:a16="http://schemas.microsoft.com/office/drawing/2014/main" id="{755950C7-2B8D-B0F5-D4F3-B19C1E3075DC}"/>
              </a:ext>
            </a:extLst>
          </p:cNvPr>
          <p:cNvSpPr/>
          <p:nvPr/>
        </p:nvSpPr>
        <p:spPr>
          <a:xfrm>
            <a:off x="6921500" y="1778000"/>
            <a:ext cx="4635500" cy="3213100"/>
          </a:xfrm>
          <a:prstGeom prst="roundRect">
            <a:avLst/>
          </a:prstGeom>
          <a:solidFill>
            <a:srgbClr val="FFFFFF"/>
          </a:solidFill>
          <a:ln w="9525">
            <a:solidFill>
              <a:srgbClr val="E5EA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7" name="图片 16">
            <a:extLst>
              <a:ext uri="{FF2B5EF4-FFF2-40B4-BE49-F238E27FC236}">
                <a16:creationId xmlns:a16="http://schemas.microsoft.com/office/drawing/2014/main" id="{2711BCC2-6CC1-31DD-6E56-7EA373ACAEB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0" y="1841500"/>
            <a:ext cx="4508500" cy="3086100"/>
          </a:xfrm>
          <a:prstGeom prst="rect">
            <a:avLst/>
          </a:prstGeom>
        </p:spPr>
      </p:pic>
      <p:sp>
        <p:nvSpPr>
          <p:cNvPr id="18" name="文本框 17">
            <a:extLst>
              <a:ext uri="{FF2B5EF4-FFF2-40B4-BE49-F238E27FC236}">
                <a16:creationId xmlns:a16="http://schemas.microsoft.com/office/drawing/2014/main" id="{A425D0C5-E43D-9AD7-B4AB-15F6B83A33B3}"/>
              </a:ext>
            </a:extLst>
          </p:cNvPr>
          <p:cNvSpPr txBox="1"/>
          <p:nvPr/>
        </p:nvSpPr>
        <p:spPr>
          <a:xfrm>
            <a:off x="6985000" y="5168900"/>
            <a:ext cx="4508500" cy="153888"/>
          </a:xfrm>
          <a:prstGeom prst="rect">
            <a:avLst/>
          </a:prstGeom>
          <a:noFill/>
        </p:spPr>
        <p:txBody>
          <a:bodyPr vert="horz" lIns="0" tIns="0" rIns="0" bIns="0" rtlCol="0">
            <a:spAutoFit/>
          </a:bodyPr>
          <a:lstStyle/>
          <a:p>
            <a:r>
              <a:rPr lang="en-US" altLang="zh-CN" sz="1000" b="1">
                <a:solidFill>
                  <a:srgbClr val="2F9E75"/>
                </a:solidFill>
                <a:latin typeface="Aptos" panose="020B0004020202020204" pitchFamily="34" charset="0"/>
              </a:rPr>
              <a:t>TURN COMPLEX DRAWINGS INTO CLEAR SCENARIOS</a:t>
            </a:r>
            <a:endParaRPr lang="zh-CN" altLang="en-US" sz="1000" b="1">
              <a:solidFill>
                <a:srgbClr val="2F9E75"/>
              </a:solidFill>
              <a:latin typeface="Aptos" panose="020B0004020202020204" pitchFamily="34" charset="0"/>
            </a:endParaRPr>
          </a:p>
        </p:txBody>
      </p:sp>
    </p:spTree>
    <p:extLst>
      <p:ext uri="{BB962C8B-B14F-4D97-AF65-F5344CB8AC3E}">
        <p14:creationId xmlns:p14="http://schemas.microsoft.com/office/powerpoint/2010/main" val="5869730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39BE1B0E-6EC9-CB77-9A6B-04AD382595E2}"/>
              </a:ext>
            </a:extLst>
          </p:cNvPr>
          <p:cNvSpPr txBox="1"/>
          <p:nvPr/>
        </p:nvSpPr>
        <p:spPr>
          <a:xfrm>
            <a:off x="533400" y="254000"/>
            <a:ext cx="8255000" cy="138499"/>
          </a:xfrm>
          <a:prstGeom prst="rect">
            <a:avLst/>
          </a:prstGeom>
          <a:noFill/>
        </p:spPr>
        <p:txBody>
          <a:bodyPr vert="horz" lIns="0" tIns="0" rIns="0" bIns="0" rtlCol="0">
            <a:spAutoFit/>
          </a:bodyPr>
          <a:lstStyle/>
          <a:p>
            <a:r>
              <a:rPr lang="en-US" altLang="zh-CN" sz="900" b="1">
                <a:solidFill>
                  <a:srgbClr val="2F9E75"/>
                </a:solidFill>
                <a:latin typeface="Aptos" panose="020B0004020202020204" pitchFamily="34" charset="0"/>
              </a:rPr>
              <a:t>SOLUTION</a:t>
            </a:r>
            <a:endParaRPr lang="zh-CN" altLang="en-US" sz="900" b="1">
              <a:solidFill>
                <a:srgbClr val="2F9E75"/>
              </a:solidFill>
              <a:latin typeface="Aptos" panose="020B0004020202020204" pitchFamily="34" charset="0"/>
            </a:endParaRPr>
          </a:p>
        </p:txBody>
      </p:sp>
      <p:sp>
        <p:nvSpPr>
          <p:cNvPr id="3" name="文本框 2">
            <a:extLst>
              <a:ext uri="{FF2B5EF4-FFF2-40B4-BE49-F238E27FC236}">
                <a16:creationId xmlns:a16="http://schemas.microsoft.com/office/drawing/2014/main" id="{90933BD0-AED7-FCAA-CCD7-8C0C98660F74}"/>
              </a:ext>
            </a:extLst>
          </p:cNvPr>
          <p:cNvSpPr txBox="1"/>
          <p:nvPr/>
        </p:nvSpPr>
        <p:spPr>
          <a:xfrm>
            <a:off x="533400" y="558800"/>
            <a:ext cx="9779000" cy="400110"/>
          </a:xfrm>
          <a:prstGeom prst="rect">
            <a:avLst/>
          </a:prstGeom>
          <a:noFill/>
        </p:spPr>
        <p:txBody>
          <a:bodyPr vert="horz" lIns="0" tIns="0" rIns="0" bIns="0" rtlCol="0">
            <a:spAutoFit/>
          </a:bodyPr>
          <a:lstStyle/>
          <a:p>
            <a:r>
              <a:rPr lang="en-US" altLang="zh-CN" sz="2600" b="1">
                <a:solidFill>
                  <a:srgbClr val="23343B"/>
                </a:solidFill>
                <a:latin typeface="Aptos Display" panose="020B0004020202020204" pitchFamily="34" charset="0"/>
              </a:rPr>
              <a:t>From static drawings to a simulated process view</a:t>
            </a:r>
            <a:endParaRPr lang="zh-CN" altLang="en-US" sz="2600" b="1">
              <a:solidFill>
                <a:srgbClr val="23343B"/>
              </a:solidFill>
              <a:latin typeface="Aptos Display" panose="020B0004020202020204" pitchFamily="34" charset="0"/>
            </a:endParaRPr>
          </a:p>
        </p:txBody>
      </p:sp>
      <p:cxnSp>
        <p:nvCxnSpPr>
          <p:cNvPr id="4" name="直接连接符 3">
            <a:extLst>
              <a:ext uri="{FF2B5EF4-FFF2-40B4-BE49-F238E27FC236}">
                <a16:creationId xmlns:a16="http://schemas.microsoft.com/office/drawing/2014/main" id="{CB00F683-4880-A761-5289-6EF1F9F70A32}"/>
              </a:ext>
            </a:extLst>
          </p:cNvPr>
          <p:cNvCxnSpPr/>
          <p:nvPr/>
        </p:nvCxnSpPr>
        <p:spPr>
          <a:xfrm>
            <a:off x="533400" y="1231900"/>
            <a:ext cx="11125200" cy="0"/>
          </a:xfrm>
          <a:prstGeom prst="line">
            <a:avLst/>
          </a:prstGeom>
          <a:ln w="12700">
            <a:solidFill>
              <a:srgbClr val="E5EAE8"/>
            </a:solidFill>
          </a:ln>
        </p:spPr>
        <p:style>
          <a:lnRef idx="2">
            <a:schemeClr val="accent1"/>
          </a:lnRef>
          <a:fillRef idx="0">
            <a:schemeClr val="accent1"/>
          </a:fillRef>
          <a:effectRef idx="1">
            <a:schemeClr val="accent1"/>
          </a:effectRef>
          <a:fontRef idx="minor">
            <a:schemeClr val="tx1"/>
          </a:fontRef>
        </p:style>
      </p:cxnSp>
      <p:sp>
        <p:nvSpPr>
          <p:cNvPr id="5" name="文本框 4">
            <a:extLst>
              <a:ext uri="{FF2B5EF4-FFF2-40B4-BE49-F238E27FC236}">
                <a16:creationId xmlns:a16="http://schemas.microsoft.com/office/drawing/2014/main" id="{F2FA8284-F7FE-F462-3962-8347BEFD9BC7}"/>
              </a:ext>
            </a:extLst>
          </p:cNvPr>
          <p:cNvSpPr txBox="1"/>
          <p:nvPr/>
        </p:nvSpPr>
        <p:spPr>
          <a:xfrm>
            <a:off x="11303000" y="254000"/>
            <a:ext cx="355600" cy="138499"/>
          </a:xfrm>
          <a:prstGeom prst="rect">
            <a:avLst/>
          </a:prstGeom>
          <a:noFill/>
        </p:spPr>
        <p:txBody>
          <a:bodyPr vert="horz" lIns="0" tIns="0" rIns="0" bIns="0" rtlCol="0">
            <a:spAutoFit/>
          </a:bodyPr>
          <a:lstStyle/>
          <a:p>
            <a:pPr algn="r"/>
            <a:r>
              <a:rPr lang="en-US" altLang="zh-CN" sz="900" b="1">
                <a:solidFill>
                  <a:srgbClr val="66757B"/>
                </a:solidFill>
                <a:latin typeface="Aptos" panose="020B0004020202020204" pitchFamily="34" charset="0"/>
              </a:rPr>
              <a:t>04</a:t>
            </a:r>
            <a:endParaRPr lang="zh-CN" altLang="en-US" sz="900" b="1">
              <a:solidFill>
                <a:srgbClr val="66757B"/>
              </a:solidFill>
              <a:latin typeface="Aptos" panose="020B0004020202020204" pitchFamily="34" charset="0"/>
            </a:endParaRPr>
          </a:p>
        </p:txBody>
      </p:sp>
      <p:sp>
        <p:nvSpPr>
          <p:cNvPr id="6" name="文本框 5">
            <a:extLst>
              <a:ext uri="{FF2B5EF4-FFF2-40B4-BE49-F238E27FC236}">
                <a16:creationId xmlns:a16="http://schemas.microsoft.com/office/drawing/2014/main" id="{D35B2180-0419-ABA6-D4D4-BD8C4518765A}"/>
              </a:ext>
            </a:extLst>
          </p:cNvPr>
          <p:cNvSpPr txBox="1"/>
          <p:nvPr/>
        </p:nvSpPr>
        <p:spPr>
          <a:xfrm>
            <a:off x="533400" y="6578600"/>
            <a:ext cx="6350000" cy="107722"/>
          </a:xfrm>
          <a:prstGeom prst="rect">
            <a:avLst/>
          </a:prstGeom>
          <a:noFill/>
        </p:spPr>
        <p:txBody>
          <a:bodyPr vert="horz" lIns="0" tIns="0" rIns="0" bIns="0" rtlCol="0">
            <a:spAutoFit/>
          </a:bodyPr>
          <a:lstStyle/>
          <a:p>
            <a:r>
              <a:rPr lang="en-US" altLang="zh-CN" sz="700" b="1">
                <a:solidFill>
                  <a:srgbClr val="66757B"/>
                </a:solidFill>
                <a:latin typeface="Aptos" panose="020B0004020202020204" pitchFamily="34" charset="0"/>
              </a:rPr>
              <a:t>HIGHLIGHTED FLOW PATH SOFTWARE · CUSTOMER PRESENTATION</a:t>
            </a:r>
            <a:endParaRPr lang="zh-CN" altLang="en-US" sz="700" b="1">
              <a:solidFill>
                <a:srgbClr val="66757B"/>
              </a:solidFill>
              <a:latin typeface="Aptos" panose="020B0004020202020204" pitchFamily="34" charset="0"/>
            </a:endParaRPr>
          </a:p>
        </p:txBody>
      </p:sp>
      <p:sp>
        <p:nvSpPr>
          <p:cNvPr id="7" name="矩形: 圆角 6">
            <a:extLst>
              <a:ext uri="{FF2B5EF4-FFF2-40B4-BE49-F238E27FC236}">
                <a16:creationId xmlns:a16="http://schemas.microsoft.com/office/drawing/2014/main" id="{94897A82-711F-964F-9DE5-8D6EEB05E72A}"/>
              </a:ext>
            </a:extLst>
          </p:cNvPr>
          <p:cNvSpPr/>
          <p:nvPr/>
        </p:nvSpPr>
        <p:spPr>
          <a:xfrm>
            <a:off x="660400" y="1968500"/>
            <a:ext cx="1905000" cy="863600"/>
          </a:xfrm>
          <a:prstGeom prst="roundRect">
            <a:avLst/>
          </a:prstGeom>
          <a:solidFill>
            <a:srgbClr val="FFFFFF"/>
          </a:solidFill>
          <a:ln w="9525">
            <a:solidFill>
              <a:srgbClr val="E5EA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72E5CA8A-5631-F4A3-F995-EA770427786D}"/>
              </a:ext>
            </a:extLst>
          </p:cNvPr>
          <p:cNvSpPr txBox="1"/>
          <p:nvPr/>
        </p:nvSpPr>
        <p:spPr>
          <a:xfrm>
            <a:off x="812800" y="2095500"/>
            <a:ext cx="355600" cy="123111"/>
          </a:xfrm>
          <a:prstGeom prst="rect">
            <a:avLst/>
          </a:prstGeom>
          <a:noFill/>
        </p:spPr>
        <p:txBody>
          <a:bodyPr vert="horz" lIns="0" tIns="0" rIns="0" bIns="0" rtlCol="0">
            <a:spAutoFit/>
          </a:bodyPr>
          <a:lstStyle/>
          <a:p>
            <a:r>
              <a:rPr lang="en-US" altLang="zh-CN" sz="800" b="1">
                <a:solidFill>
                  <a:srgbClr val="2F9E75"/>
                </a:solidFill>
                <a:latin typeface="Aptos" panose="020B0004020202020204" pitchFamily="34" charset="0"/>
              </a:rPr>
              <a:t>01</a:t>
            </a:r>
            <a:endParaRPr lang="zh-CN" altLang="en-US" sz="800" b="1">
              <a:solidFill>
                <a:srgbClr val="2F9E75"/>
              </a:solidFill>
              <a:latin typeface="Aptos" panose="020B0004020202020204" pitchFamily="34" charset="0"/>
            </a:endParaRPr>
          </a:p>
        </p:txBody>
      </p:sp>
      <p:sp>
        <p:nvSpPr>
          <p:cNvPr id="9" name="文本框 8">
            <a:extLst>
              <a:ext uri="{FF2B5EF4-FFF2-40B4-BE49-F238E27FC236}">
                <a16:creationId xmlns:a16="http://schemas.microsoft.com/office/drawing/2014/main" id="{A703BF54-6F8B-DB4D-4767-9801901FDF3B}"/>
              </a:ext>
            </a:extLst>
          </p:cNvPr>
          <p:cNvSpPr txBox="1"/>
          <p:nvPr/>
        </p:nvSpPr>
        <p:spPr>
          <a:xfrm>
            <a:off x="812800" y="2336800"/>
            <a:ext cx="1600200" cy="215444"/>
          </a:xfrm>
          <a:prstGeom prst="rect">
            <a:avLst/>
          </a:prstGeom>
          <a:noFill/>
        </p:spPr>
        <p:txBody>
          <a:bodyPr vert="horz" lIns="0" tIns="0" rIns="0" bIns="0" rtlCol="0">
            <a:spAutoFit/>
          </a:bodyPr>
          <a:lstStyle/>
          <a:p>
            <a:r>
              <a:rPr lang="en-US" altLang="zh-CN" sz="1400" b="1">
                <a:solidFill>
                  <a:srgbClr val="23343B"/>
                </a:solidFill>
                <a:latin typeface="Aptos" panose="020B0004020202020204" pitchFamily="34" charset="0"/>
              </a:rPr>
              <a:t>Digital P&amp;ID</a:t>
            </a:r>
            <a:endParaRPr lang="zh-CN" altLang="en-US" sz="1400" b="1">
              <a:solidFill>
                <a:srgbClr val="23343B"/>
              </a:solidFill>
              <a:latin typeface="Aptos" panose="020B0004020202020204" pitchFamily="34" charset="0"/>
            </a:endParaRPr>
          </a:p>
        </p:txBody>
      </p:sp>
      <p:cxnSp>
        <p:nvCxnSpPr>
          <p:cNvPr id="10" name="直接连接符 9">
            <a:extLst>
              <a:ext uri="{FF2B5EF4-FFF2-40B4-BE49-F238E27FC236}">
                <a16:creationId xmlns:a16="http://schemas.microsoft.com/office/drawing/2014/main" id="{57381543-EEEA-5971-6A18-BFD92737D6C8}"/>
              </a:ext>
            </a:extLst>
          </p:cNvPr>
          <p:cNvCxnSpPr/>
          <p:nvPr/>
        </p:nvCxnSpPr>
        <p:spPr>
          <a:xfrm>
            <a:off x="2565400" y="2400300"/>
            <a:ext cx="355600" cy="0"/>
          </a:xfrm>
          <a:prstGeom prst="line">
            <a:avLst/>
          </a:prstGeom>
          <a:ln w="25400">
            <a:solidFill>
              <a:srgbClr val="E89A3C"/>
            </a:solidFill>
          </a:ln>
        </p:spPr>
        <p:style>
          <a:lnRef idx="2">
            <a:schemeClr val="accent1"/>
          </a:lnRef>
          <a:fillRef idx="0">
            <a:schemeClr val="accent1"/>
          </a:fillRef>
          <a:effectRef idx="1">
            <a:schemeClr val="accent1"/>
          </a:effectRef>
          <a:fontRef idx="minor">
            <a:schemeClr val="tx1"/>
          </a:fontRef>
        </p:style>
      </p:cxnSp>
      <p:sp>
        <p:nvSpPr>
          <p:cNvPr id="11" name="矩形: 圆角 10">
            <a:extLst>
              <a:ext uri="{FF2B5EF4-FFF2-40B4-BE49-F238E27FC236}">
                <a16:creationId xmlns:a16="http://schemas.microsoft.com/office/drawing/2014/main" id="{A30CE51E-4003-80E9-742B-C44A93B27A5B}"/>
              </a:ext>
            </a:extLst>
          </p:cNvPr>
          <p:cNvSpPr/>
          <p:nvPr/>
        </p:nvSpPr>
        <p:spPr>
          <a:xfrm>
            <a:off x="2921000" y="1968500"/>
            <a:ext cx="1905000" cy="863600"/>
          </a:xfrm>
          <a:prstGeom prst="roundRect">
            <a:avLst/>
          </a:prstGeom>
          <a:solidFill>
            <a:srgbClr val="DFF3EB"/>
          </a:solidFill>
          <a:ln w="9525">
            <a:solidFill>
              <a:srgbClr val="2F9E7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4AD08F68-D67A-4AA3-F9C2-61A86EB18D33}"/>
              </a:ext>
            </a:extLst>
          </p:cNvPr>
          <p:cNvSpPr txBox="1"/>
          <p:nvPr/>
        </p:nvSpPr>
        <p:spPr>
          <a:xfrm>
            <a:off x="3073400" y="2095500"/>
            <a:ext cx="355600" cy="123111"/>
          </a:xfrm>
          <a:prstGeom prst="rect">
            <a:avLst/>
          </a:prstGeom>
          <a:noFill/>
        </p:spPr>
        <p:txBody>
          <a:bodyPr vert="horz" lIns="0" tIns="0" rIns="0" bIns="0" rtlCol="0">
            <a:spAutoFit/>
          </a:bodyPr>
          <a:lstStyle/>
          <a:p>
            <a:r>
              <a:rPr lang="en-US" altLang="zh-CN" sz="800" b="1">
                <a:solidFill>
                  <a:srgbClr val="2F9E75"/>
                </a:solidFill>
                <a:latin typeface="Aptos" panose="020B0004020202020204" pitchFamily="34" charset="0"/>
              </a:rPr>
              <a:t>02</a:t>
            </a:r>
            <a:endParaRPr lang="zh-CN" altLang="en-US" sz="800" b="1">
              <a:solidFill>
                <a:srgbClr val="2F9E75"/>
              </a:solidFill>
              <a:latin typeface="Aptos" panose="020B0004020202020204" pitchFamily="34" charset="0"/>
            </a:endParaRPr>
          </a:p>
        </p:txBody>
      </p:sp>
      <p:sp>
        <p:nvSpPr>
          <p:cNvPr id="13" name="文本框 12">
            <a:extLst>
              <a:ext uri="{FF2B5EF4-FFF2-40B4-BE49-F238E27FC236}">
                <a16:creationId xmlns:a16="http://schemas.microsoft.com/office/drawing/2014/main" id="{C67E4E71-6532-9D50-A39D-D6436889CFBA}"/>
              </a:ext>
            </a:extLst>
          </p:cNvPr>
          <p:cNvSpPr txBox="1"/>
          <p:nvPr/>
        </p:nvSpPr>
        <p:spPr>
          <a:xfrm>
            <a:off x="3073400" y="2336800"/>
            <a:ext cx="1600200" cy="215444"/>
          </a:xfrm>
          <a:prstGeom prst="rect">
            <a:avLst/>
          </a:prstGeom>
          <a:noFill/>
        </p:spPr>
        <p:txBody>
          <a:bodyPr vert="horz" lIns="0" tIns="0" rIns="0" bIns="0" rtlCol="0">
            <a:spAutoFit/>
          </a:bodyPr>
          <a:lstStyle/>
          <a:p>
            <a:r>
              <a:rPr lang="en-US" altLang="zh-CN" sz="1400" b="1">
                <a:solidFill>
                  <a:srgbClr val="23343B"/>
                </a:solidFill>
                <a:latin typeface="Aptos" panose="020B0004020202020204" pitchFamily="34" charset="0"/>
              </a:rPr>
              <a:t>Flow analysis</a:t>
            </a:r>
            <a:endParaRPr lang="zh-CN" altLang="en-US" sz="1400" b="1">
              <a:solidFill>
                <a:srgbClr val="23343B"/>
              </a:solidFill>
              <a:latin typeface="Aptos" panose="020B0004020202020204" pitchFamily="34" charset="0"/>
            </a:endParaRPr>
          </a:p>
        </p:txBody>
      </p:sp>
      <p:cxnSp>
        <p:nvCxnSpPr>
          <p:cNvPr id="14" name="直接连接符 13">
            <a:extLst>
              <a:ext uri="{FF2B5EF4-FFF2-40B4-BE49-F238E27FC236}">
                <a16:creationId xmlns:a16="http://schemas.microsoft.com/office/drawing/2014/main" id="{A026CA5F-3184-5CA1-91A6-78C9FD72E5AC}"/>
              </a:ext>
            </a:extLst>
          </p:cNvPr>
          <p:cNvCxnSpPr/>
          <p:nvPr/>
        </p:nvCxnSpPr>
        <p:spPr>
          <a:xfrm>
            <a:off x="4826000" y="2400300"/>
            <a:ext cx="355600" cy="0"/>
          </a:xfrm>
          <a:prstGeom prst="line">
            <a:avLst/>
          </a:prstGeom>
          <a:ln w="25400">
            <a:solidFill>
              <a:srgbClr val="E89A3C"/>
            </a:solidFill>
          </a:ln>
        </p:spPr>
        <p:style>
          <a:lnRef idx="2">
            <a:schemeClr val="accent1"/>
          </a:lnRef>
          <a:fillRef idx="0">
            <a:schemeClr val="accent1"/>
          </a:fillRef>
          <a:effectRef idx="1">
            <a:schemeClr val="accent1"/>
          </a:effectRef>
          <a:fontRef idx="minor">
            <a:schemeClr val="tx1"/>
          </a:fontRef>
        </p:style>
      </p:cxnSp>
      <p:sp>
        <p:nvSpPr>
          <p:cNvPr id="15" name="矩形: 圆角 14">
            <a:extLst>
              <a:ext uri="{FF2B5EF4-FFF2-40B4-BE49-F238E27FC236}">
                <a16:creationId xmlns:a16="http://schemas.microsoft.com/office/drawing/2014/main" id="{5BF4CDEA-032D-9299-5FC7-F5D7E6FF6E9B}"/>
              </a:ext>
            </a:extLst>
          </p:cNvPr>
          <p:cNvSpPr/>
          <p:nvPr/>
        </p:nvSpPr>
        <p:spPr>
          <a:xfrm>
            <a:off x="5181600" y="1968500"/>
            <a:ext cx="1905000" cy="863600"/>
          </a:xfrm>
          <a:prstGeom prst="roundRect">
            <a:avLst/>
          </a:prstGeom>
          <a:solidFill>
            <a:srgbClr val="DFF3EB"/>
          </a:solidFill>
          <a:ln w="9525">
            <a:solidFill>
              <a:srgbClr val="2F9E7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9D476963-4CF2-7CC9-418A-65B04F5FD937}"/>
              </a:ext>
            </a:extLst>
          </p:cNvPr>
          <p:cNvSpPr txBox="1"/>
          <p:nvPr/>
        </p:nvSpPr>
        <p:spPr>
          <a:xfrm>
            <a:off x="5334000" y="2095500"/>
            <a:ext cx="355600" cy="123111"/>
          </a:xfrm>
          <a:prstGeom prst="rect">
            <a:avLst/>
          </a:prstGeom>
          <a:noFill/>
        </p:spPr>
        <p:txBody>
          <a:bodyPr vert="horz" lIns="0" tIns="0" rIns="0" bIns="0" rtlCol="0">
            <a:spAutoFit/>
          </a:bodyPr>
          <a:lstStyle/>
          <a:p>
            <a:r>
              <a:rPr lang="en-US" altLang="zh-CN" sz="800" b="1">
                <a:solidFill>
                  <a:srgbClr val="2F9E75"/>
                </a:solidFill>
                <a:latin typeface="Aptos" panose="020B0004020202020204" pitchFamily="34" charset="0"/>
              </a:rPr>
              <a:t>03</a:t>
            </a:r>
            <a:endParaRPr lang="zh-CN" altLang="en-US" sz="800" b="1">
              <a:solidFill>
                <a:srgbClr val="2F9E75"/>
              </a:solidFill>
              <a:latin typeface="Aptos" panose="020B0004020202020204" pitchFamily="34" charset="0"/>
            </a:endParaRPr>
          </a:p>
        </p:txBody>
      </p:sp>
      <p:sp>
        <p:nvSpPr>
          <p:cNvPr id="17" name="文本框 16">
            <a:extLst>
              <a:ext uri="{FF2B5EF4-FFF2-40B4-BE49-F238E27FC236}">
                <a16:creationId xmlns:a16="http://schemas.microsoft.com/office/drawing/2014/main" id="{D5B228CC-A565-71A3-6A58-A775C303DE20}"/>
              </a:ext>
            </a:extLst>
          </p:cNvPr>
          <p:cNvSpPr txBox="1"/>
          <p:nvPr/>
        </p:nvSpPr>
        <p:spPr>
          <a:xfrm>
            <a:off x="5334000" y="2336800"/>
            <a:ext cx="1600200" cy="215444"/>
          </a:xfrm>
          <a:prstGeom prst="rect">
            <a:avLst/>
          </a:prstGeom>
          <a:noFill/>
        </p:spPr>
        <p:txBody>
          <a:bodyPr vert="horz" lIns="0" tIns="0" rIns="0" bIns="0" rtlCol="0">
            <a:spAutoFit/>
          </a:bodyPr>
          <a:lstStyle/>
          <a:p>
            <a:r>
              <a:rPr lang="en-US" altLang="zh-CN" sz="1400" b="1">
                <a:solidFill>
                  <a:srgbClr val="23343B"/>
                </a:solidFill>
                <a:latin typeface="Aptos" panose="020B0004020202020204" pitchFamily="34" charset="0"/>
              </a:rPr>
              <a:t>Phase simulation</a:t>
            </a:r>
            <a:endParaRPr lang="zh-CN" altLang="en-US" sz="1400" b="1">
              <a:solidFill>
                <a:srgbClr val="23343B"/>
              </a:solidFill>
              <a:latin typeface="Aptos" panose="020B0004020202020204" pitchFamily="34" charset="0"/>
            </a:endParaRPr>
          </a:p>
        </p:txBody>
      </p:sp>
      <p:cxnSp>
        <p:nvCxnSpPr>
          <p:cNvPr id="18" name="直接连接符 17">
            <a:extLst>
              <a:ext uri="{FF2B5EF4-FFF2-40B4-BE49-F238E27FC236}">
                <a16:creationId xmlns:a16="http://schemas.microsoft.com/office/drawing/2014/main" id="{60E26665-813B-1AFE-EBF5-F5E2936A9F68}"/>
              </a:ext>
            </a:extLst>
          </p:cNvPr>
          <p:cNvCxnSpPr/>
          <p:nvPr/>
        </p:nvCxnSpPr>
        <p:spPr>
          <a:xfrm>
            <a:off x="7086600" y="2400300"/>
            <a:ext cx="355600" cy="0"/>
          </a:xfrm>
          <a:prstGeom prst="line">
            <a:avLst/>
          </a:prstGeom>
          <a:ln w="25400">
            <a:solidFill>
              <a:srgbClr val="E89A3C"/>
            </a:solidFill>
          </a:ln>
        </p:spPr>
        <p:style>
          <a:lnRef idx="2">
            <a:schemeClr val="accent1"/>
          </a:lnRef>
          <a:fillRef idx="0">
            <a:schemeClr val="accent1"/>
          </a:fillRef>
          <a:effectRef idx="1">
            <a:schemeClr val="accent1"/>
          </a:effectRef>
          <a:fontRef idx="minor">
            <a:schemeClr val="tx1"/>
          </a:fontRef>
        </p:style>
      </p:cxnSp>
      <p:sp>
        <p:nvSpPr>
          <p:cNvPr id="19" name="矩形: 圆角 18">
            <a:extLst>
              <a:ext uri="{FF2B5EF4-FFF2-40B4-BE49-F238E27FC236}">
                <a16:creationId xmlns:a16="http://schemas.microsoft.com/office/drawing/2014/main" id="{81ADA810-0418-CDD4-14A2-0AE794A7F435}"/>
              </a:ext>
            </a:extLst>
          </p:cNvPr>
          <p:cNvSpPr/>
          <p:nvPr/>
        </p:nvSpPr>
        <p:spPr>
          <a:xfrm>
            <a:off x="7442200" y="1968500"/>
            <a:ext cx="1905000" cy="863600"/>
          </a:xfrm>
          <a:prstGeom prst="roundRect">
            <a:avLst/>
          </a:prstGeom>
          <a:solidFill>
            <a:srgbClr val="FFFFFF"/>
          </a:solidFill>
          <a:ln w="9525">
            <a:solidFill>
              <a:srgbClr val="E5EA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E59CD0DD-6E60-4037-A7D1-B6A552E6C776}"/>
              </a:ext>
            </a:extLst>
          </p:cNvPr>
          <p:cNvSpPr txBox="1"/>
          <p:nvPr/>
        </p:nvSpPr>
        <p:spPr>
          <a:xfrm>
            <a:off x="7594600" y="2095500"/>
            <a:ext cx="355600" cy="123111"/>
          </a:xfrm>
          <a:prstGeom prst="rect">
            <a:avLst/>
          </a:prstGeom>
          <a:noFill/>
        </p:spPr>
        <p:txBody>
          <a:bodyPr vert="horz" lIns="0" tIns="0" rIns="0" bIns="0" rtlCol="0">
            <a:spAutoFit/>
          </a:bodyPr>
          <a:lstStyle/>
          <a:p>
            <a:r>
              <a:rPr lang="en-US" altLang="zh-CN" sz="800" b="1">
                <a:solidFill>
                  <a:srgbClr val="2F9E75"/>
                </a:solidFill>
                <a:latin typeface="Aptos" panose="020B0004020202020204" pitchFamily="34" charset="0"/>
              </a:rPr>
              <a:t>04</a:t>
            </a:r>
            <a:endParaRPr lang="zh-CN" altLang="en-US" sz="800" b="1">
              <a:solidFill>
                <a:srgbClr val="2F9E75"/>
              </a:solidFill>
              <a:latin typeface="Aptos" panose="020B0004020202020204" pitchFamily="34" charset="0"/>
            </a:endParaRPr>
          </a:p>
        </p:txBody>
      </p:sp>
      <p:sp>
        <p:nvSpPr>
          <p:cNvPr id="21" name="文本框 20">
            <a:extLst>
              <a:ext uri="{FF2B5EF4-FFF2-40B4-BE49-F238E27FC236}">
                <a16:creationId xmlns:a16="http://schemas.microsoft.com/office/drawing/2014/main" id="{11C88D51-E27F-AE6C-E24E-997FE7349822}"/>
              </a:ext>
            </a:extLst>
          </p:cNvPr>
          <p:cNvSpPr txBox="1"/>
          <p:nvPr/>
        </p:nvSpPr>
        <p:spPr>
          <a:xfrm>
            <a:off x="7594600" y="2336800"/>
            <a:ext cx="1600200" cy="215444"/>
          </a:xfrm>
          <a:prstGeom prst="rect">
            <a:avLst/>
          </a:prstGeom>
          <a:noFill/>
        </p:spPr>
        <p:txBody>
          <a:bodyPr vert="horz" lIns="0" tIns="0" rIns="0" bIns="0" rtlCol="0">
            <a:spAutoFit/>
          </a:bodyPr>
          <a:lstStyle/>
          <a:p>
            <a:r>
              <a:rPr lang="en-US" altLang="zh-CN" sz="1400" b="1">
                <a:solidFill>
                  <a:srgbClr val="23343B"/>
                </a:solidFill>
                <a:latin typeface="Aptos" panose="020B0004020202020204" pitchFamily="34" charset="0"/>
              </a:rPr>
              <a:t>Design review</a:t>
            </a:r>
            <a:endParaRPr lang="zh-CN" altLang="en-US" sz="1400" b="1">
              <a:solidFill>
                <a:srgbClr val="23343B"/>
              </a:solidFill>
              <a:latin typeface="Aptos" panose="020B0004020202020204" pitchFamily="34" charset="0"/>
            </a:endParaRPr>
          </a:p>
        </p:txBody>
      </p:sp>
      <p:cxnSp>
        <p:nvCxnSpPr>
          <p:cNvPr id="22" name="直接连接符 21">
            <a:extLst>
              <a:ext uri="{FF2B5EF4-FFF2-40B4-BE49-F238E27FC236}">
                <a16:creationId xmlns:a16="http://schemas.microsoft.com/office/drawing/2014/main" id="{9BD516D2-B0D2-2F0C-EECC-85CA5AAFD1D6}"/>
              </a:ext>
            </a:extLst>
          </p:cNvPr>
          <p:cNvCxnSpPr/>
          <p:nvPr/>
        </p:nvCxnSpPr>
        <p:spPr>
          <a:xfrm>
            <a:off x="9347200" y="2400300"/>
            <a:ext cx="355600" cy="0"/>
          </a:xfrm>
          <a:prstGeom prst="line">
            <a:avLst/>
          </a:prstGeom>
          <a:ln w="25400">
            <a:solidFill>
              <a:srgbClr val="E89A3C"/>
            </a:solidFill>
          </a:ln>
        </p:spPr>
        <p:style>
          <a:lnRef idx="2">
            <a:schemeClr val="accent1"/>
          </a:lnRef>
          <a:fillRef idx="0">
            <a:schemeClr val="accent1"/>
          </a:fillRef>
          <a:effectRef idx="1">
            <a:schemeClr val="accent1"/>
          </a:effectRef>
          <a:fontRef idx="minor">
            <a:schemeClr val="tx1"/>
          </a:fontRef>
        </p:style>
      </p:cxnSp>
      <p:sp>
        <p:nvSpPr>
          <p:cNvPr id="23" name="矩形: 圆角 22">
            <a:extLst>
              <a:ext uri="{FF2B5EF4-FFF2-40B4-BE49-F238E27FC236}">
                <a16:creationId xmlns:a16="http://schemas.microsoft.com/office/drawing/2014/main" id="{0A6F7389-721D-AD6B-02AB-EA234E2EAB30}"/>
              </a:ext>
            </a:extLst>
          </p:cNvPr>
          <p:cNvSpPr/>
          <p:nvPr/>
        </p:nvSpPr>
        <p:spPr>
          <a:xfrm>
            <a:off x="9702800" y="1968500"/>
            <a:ext cx="1905000" cy="863600"/>
          </a:xfrm>
          <a:prstGeom prst="roundRect">
            <a:avLst/>
          </a:prstGeom>
          <a:solidFill>
            <a:srgbClr val="FFFFFF"/>
          </a:solidFill>
          <a:ln w="9525">
            <a:solidFill>
              <a:srgbClr val="E5EA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95F04018-A592-C481-F82B-E3752359E433}"/>
              </a:ext>
            </a:extLst>
          </p:cNvPr>
          <p:cNvSpPr txBox="1"/>
          <p:nvPr/>
        </p:nvSpPr>
        <p:spPr>
          <a:xfrm>
            <a:off x="9855200" y="2095500"/>
            <a:ext cx="355600" cy="123111"/>
          </a:xfrm>
          <a:prstGeom prst="rect">
            <a:avLst/>
          </a:prstGeom>
          <a:noFill/>
        </p:spPr>
        <p:txBody>
          <a:bodyPr vert="horz" lIns="0" tIns="0" rIns="0" bIns="0" rtlCol="0">
            <a:spAutoFit/>
          </a:bodyPr>
          <a:lstStyle/>
          <a:p>
            <a:r>
              <a:rPr lang="en-US" altLang="zh-CN" sz="800" b="1">
                <a:solidFill>
                  <a:srgbClr val="2F9E75"/>
                </a:solidFill>
                <a:latin typeface="Aptos" panose="020B0004020202020204" pitchFamily="34" charset="0"/>
              </a:rPr>
              <a:t>05</a:t>
            </a:r>
            <a:endParaRPr lang="zh-CN" altLang="en-US" sz="800" b="1">
              <a:solidFill>
                <a:srgbClr val="2F9E75"/>
              </a:solidFill>
              <a:latin typeface="Aptos" panose="020B0004020202020204" pitchFamily="34" charset="0"/>
            </a:endParaRPr>
          </a:p>
        </p:txBody>
      </p:sp>
      <p:sp>
        <p:nvSpPr>
          <p:cNvPr id="25" name="文本框 24">
            <a:extLst>
              <a:ext uri="{FF2B5EF4-FFF2-40B4-BE49-F238E27FC236}">
                <a16:creationId xmlns:a16="http://schemas.microsoft.com/office/drawing/2014/main" id="{9A473D0F-2B23-A6CA-4C4A-AD3B7F37596A}"/>
              </a:ext>
            </a:extLst>
          </p:cNvPr>
          <p:cNvSpPr txBox="1"/>
          <p:nvPr/>
        </p:nvSpPr>
        <p:spPr>
          <a:xfrm>
            <a:off x="9855200" y="2336800"/>
            <a:ext cx="1600200" cy="215444"/>
          </a:xfrm>
          <a:prstGeom prst="rect">
            <a:avLst/>
          </a:prstGeom>
          <a:noFill/>
        </p:spPr>
        <p:txBody>
          <a:bodyPr vert="horz" lIns="0" tIns="0" rIns="0" bIns="0" rtlCol="0">
            <a:spAutoFit/>
          </a:bodyPr>
          <a:lstStyle/>
          <a:p>
            <a:r>
              <a:rPr lang="en-US" altLang="zh-CN" sz="1400" b="1">
                <a:solidFill>
                  <a:srgbClr val="23343B"/>
                </a:solidFill>
                <a:latin typeface="Aptos" panose="020B0004020202020204" pitchFamily="34" charset="0"/>
              </a:rPr>
              <a:t>Deliverables</a:t>
            </a:r>
            <a:endParaRPr lang="zh-CN" altLang="en-US" sz="1400" b="1">
              <a:solidFill>
                <a:srgbClr val="23343B"/>
              </a:solidFill>
              <a:latin typeface="Aptos" panose="020B0004020202020204" pitchFamily="34" charset="0"/>
            </a:endParaRPr>
          </a:p>
        </p:txBody>
      </p:sp>
      <p:sp>
        <p:nvSpPr>
          <p:cNvPr id="26" name="文本框 25">
            <a:extLst>
              <a:ext uri="{FF2B5EF4-FFF2-40B4-BE49-F238E27FC236}">
                <a16:creationId xmlns:a16="http://schemas.microsoft.com/office/drawing/2014/main" id="{C79AFC98-20A3-5BAA-7BA5-44998CDA4A56}"/>
              </a:ext>
            </a:extLst>
          </p:cNvPr>
          <p:cNvSpPr txBox="1"/>
          <p:nvPr/>
        </p:nvSpPr>
        <p:spPr>
          <a:xfrm>
            <a:off x="1143000" y="3810000"/>
            <a:ext cx="9906000" cy="615553"/>
          </a:xfrm>
          <a:prstGeom prst="rect">
            <a:avLst/>
          </a:prstGeom>
          <a:noFill/>
        </p:spPr>
        <p:txBody>
          <a:bodyPr vert="horz" lIns="0" tIns="0" rIns="0" bIns="0" rtlCol="0">
            <a:spAutoFit/>
          </a:bodyPr>
          <a:lstStyle/>
          <a:p>
            <a:pPr algn="ctr"/>
            <a:r>
              <a:rPr lang="en-US" altLang="zh-CN" sz="2000" b="1">
                <a:solidFill>
                  <a:srgbClr val="23343B"/>
                </a:solidFill>
                <a:latin typeface="Aptos" panose="020B0004020202020204" pitchFamily="34" charset="0"/>
              </a:rPr>
              <a:t>The core work happens in flow analysis and phase simulation; reporting delivers the approved result.</a:t>
            </a:r>
            <a:endParaRPr lang="zh-CN" altLang="en-US" sz="2000" b="1">
              <a:solidFill>
                <a:srgbClr val="23343B"/>
              </a:solidFill>
              <a:latin typeface="Aptos" panose="020B0004020202020204" pitchFamily="34" charset="0"/>
            </a:endParaRPr>
          </a:p>
        </p:txBody>
      </p:sp>
      <p:cxnSp>
        <p:nvCxnSpPr>
          <p:cNvPr id="27" name="直接连接符 26">
            <a:extLst>
              <a:ext uri="{FF2B5EF4-FFF2-40B4-BE49-F238E27FC236}">
                <a16:creationId xmlns:a16="http://schemas.microsoft.com/office/drawing/2014/main" id="{70CFB1DC-8479-4C3B-ACF2-7AF7A3E56E03}"/>
              </a:ext>
            </a:extLst>
          </p:cNvPr>
          <p:cNvCxnSpPr/>
          <p:nvPr/>
        </p:nvCxnSpPr>
        <p:spPr>
          <a:xfrm>
            <a:off x="2794000" y="5130800"/>
            <a:ext cx="6604000" cy="0"/>
          </a:xfrm>
          <a:prstGeom prst="line">
            <a:avLst/>
          </a:prstGeom>
          <a:ln w="50800">
            <a:solidFill>
              <a:srgbClr val="2F9E75"/>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832682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8111503-C734-3635-35C7-3A5E9F6FA163}"/>
              </a:ext>
            </a:extLst>
          </p:cNvPr>
          <p:cNvSpPr txBox="1"/>
          <p:nvPr/>
        </p:nvSpPr>
        <p:spPr>
          <a:xfrm>
            <a:off x="533400" y="254000"/>
            <a:ext cx="8255000" cy="138499"/>
          </a:xfrm>
          <a:prstGeom prst="rect">
            <a:avLst/>
          </a:prstGeom>
          <a:noFill/>
        </p:spPr>
        <p:txBody>
          <a:bodyPr vert="horz" lIns="0" tIns="0" rIns="0" bIns="0" rtlCol="0">
            <a:spAutoFit/>
          </a:bodyPr>
          <a:lstStyle/>
          <a:p>
            <a:r>
              <a:rPr lang="en-US" altLang="zh-CN" sz="900" b="1">
                <a:solidFill>
                  <a:srgbClr val="2F9E75"/>
                </a:solidFill>
                <a:latin typeface="Aptos" panose="020B0004020202020204" pitchFamily="34" charset="0"/>
              </a:rPr>
              <a:t>CORE CAPABILITY</a:t>
            </a:r>
            <a:endParaRPr lang="zh-CN" altLang="en-US" sz="900" b="1">
              <a:solidFill>
                <a:srgbClr val="2F9E75"/>
              </a:solidFill>
              <a:latin typeface="Aptos" panose="020B0004020202020204" pitchFamily="34" charset="0"/>
            </a:endParaRPr>
          </a:p>
        </p:txBody>
      </p:sp>
      <p:sp>
        <p:nvSpPr>
          <p:cNvPr id="3" name="文本框 2">
            <a:extLst>
              <a:ext uri="{FF2B5EF4-FFF2-40B4-BE49-F238E27FC236}">
                <a16:creationId xmlns:a16="http://schemas.microsoft.com/office/drawing/2014/main" id="{FA8B155D-F525-8F3A-4F8C-3A6586BB8DC3}"/>
              </a:ext>
            </a:extLst>
          </p:cNvPr>
          <p:cNvSpPr txBox="1"/>
          <p:nvPr/>
        </p:nvSpPr>
        <p:spPr>
          <a:xfrm>
            <a:off x="533400" y="558800"/>
            <a:ext cx="9779000" cy="400110"/>
          </a:xfrm>
          <a:prstGeom prst="rect">
            <a:avLst/>
          </a:prstGeom>
          <a:noFill/>
        </p:spPr>
        <p:txBody>
          <a:bodyPr vert="horz" lIns="0" tIns="0" rIns="0" bIns="0" rtlCol="0">
            <a:spAutoFit/>
          </a:bodyPr>
          <a:lstStyle/>
          <a:p>
            <a:r>
              <a:rPr lang="en-US" altLang="zh-CN" sz="2600" b="1">
                <a:solidFill>
                  <a:srgbClr val="23343B"/>
                </a:solidFill>
                <a:latin typeface="Aptos Display" panose="020B0004020202020204" pitchFamily="34" charset="0"/>
              </a:rPr>
              <a:t>Automatic highlighted flow path simulation</a:t>
            </a:r>
            <a:endParaRPr lang="zh-CN" altLang="en-US" sz="2600" b="1">
              <a:solidFill>
                <a:srgbClr val="23343B"/>
              </a:solidFill>
              <a:latin typeface="Aptos Display" panose="020B0004020202020204" pitchFamily="34" charset="0"/>
            </a:endParaRPr>
          </a:p>
        </p:txBody>
      </p:sp>
      <p:cxnSp>
        <p:nvCxnSpPr>
          <p:cNvPr id="4" name="直接连接符 3">
            <a:extLst>
              <a:ext uri="{FF2B5EF4-FFF2-40B4-BE49-F238E27FC236}">
                <a16:creationId xmlns:a16="http://schemas.microsoft.com/office/drawing/2014/main" id="{9D46CF3C-EC11-50BB-F552-F649FB3FC934}"/>
              </a:ext>
            </a:extLst>
          </p:cNvPr>
          <p:cNvCxnSpPr/>
          <p:nvPr/>
        </p:nvCxnSpPr>
        <p:spPr>
          <a:xfrm>
            <a:off x="533400" y="1231900"/>
            <a:ext cx="11125200" cy="0"/>
          </a:xfrm>
          <a:prstGeom prst="line">
            <a:avLst/>
          </a:prstGeom>
          <a:ln w="12700">
            <a:solidFill>
              <a:srgbClr val="E5EAE8"/>
            </a:solidFill>
          </a:ln>
        </p:spPr>
        <p:style>
          <a:lnRef idx="2">
            <a:schemeClr val="accent1"/>
          </a:lnRef>
          <a:fillRef idx="0">
            <a:schemeClr val="accent1"/>
          </a:fillRef>
          <a:effectRef idx="1">
            <a:schemeClr val="accent1"/>
          </a:effectRef>
          <a:fontRef idx="minor">
            <a:schemeClr val="tx1"/>
          </a:fontRef>
        </p:style>
      </p:cxnSp>
      <p:sp>
        <p:nvSpPr>
          <p:cNvPr id="5" name="文本框 4">
            <a:extLst>
              <a:ext uri="{FF2B5EF4-FFF2-40B4-BE49-F238E27FC236}">
                <a16:creationId xmlns:a16="http://schemas.microsoft.com/office/drawing/2014/main" id="{84177B24-8EFD-DC0D-0B81-E888467658D4}"/>
              </a:ext>
            </a:extLst>
          </p:cNvPr>
          <p:cNvSpPr txBox="1"/>
          <p:nvPr/>
        </p:nvSpPr>
        <p:spPr>
          <a:xfrm>
            <a:off x="11303000" y="254000"/>
            <a:ext cx="355600" cy="138499"/>
          </a:xfrm>
          <a:prstGeom prst="rect">
            <a:avLst/>
          </a:prstGeom>
          <a:noFill/>
        </p:spPr>
        <p:txBody>
          <a:bodyPr vert="horz" lIns="0" tIns="0" rIns="0" bIns="0" rtlCol="0">
            <a:spAutoFit/>
          </a:bodyPr>
          <a:lstStyle/>
          <a:p>
            <a:pPr algn="r"/>
            <a:r>
              <a:rPr lang="en-US" altLang="zh-CN" sz="900" b="1">
                <a:solidFill>
                  <a:srgbClr val="66757B"/>
                </a:solidFill>
                <a:latin typeface="Aptos" panose="020B0004020202020204" pitchFamily="34" charset="0"/>
              </a:rPr>
              <a:t>05</a:t>
            </a:r>
            <a:endParaRPr lang="zh-CN" altLang="en-US" sz="900" b="1">
              <a:solidFill>
                <a:srgbClr val="66757B"/>
              </a:solidFill>
              <a:latin typeface="Aptos" panose="020B0004020202020204" pitchFamily="34" charset="0"/>
            </a:endParaRPr>
          </a:p>
        </p:txBody>
      </p:sp>
      <p:sp>
        <p:nvSpPr>
          <p:cNvPr id="6" name="文本框 5">
            <a:extLst>
              <a:ext uri="{FF2B5EF4-FFF2-40B4-BE49-F238E27FC236}">
                <a16:creationId xmlns:a16="http://schemas.microsoft.com/office/drawing/2014/main" id="{3763D0A2-F7C4-EFBD-1D68-6AE246189C18}"/>
              </a:ext>
            </a:extLst>
          </p:cNvPr>
          <p:cNvSpPr txBox="1"/>
          <p:nvPr/>
        </p:nvSpPr>
        <p:spPr>
          <a:xfrm>
            <a:off x="533400" y="6578600"/>
            <a:ext cx="6350000" cy="107722"/>
          </a:xfrm>
          <a:prstGeom prst="rect">
            <a:avLst/>
          </a:prstGeom>
          <a:noFill/>
        </p:spPr>
        <p:txBody>
          <a:bodyPr vert="horz" lIns="0" tIns="0" rIns="0" bIns="0" rtlCol="0">
            <a:spAutoFit/>
          </a:bodyPr>
          <a:lstStyle/>
          <a:p>
            <a:r>
              <a:rPr lang="en-US" altLang="zh-CN" sz="700" b="1">
                <a:solidFill>
                  <a:srgbClr val="66757B"/>
                </a:solidFill>
                <a:latin typeface="Aptos" panose="020B0004020202020204" pitchFamily="34" charset="0"/>
              </a:rPr>
              <a:t>HIGHLIGHTED FLOW PATH SOFTWARE · CUSTOMER PRESENTATION</a:t>
            </a:r>
            <a:endParaRPr lang="zh-CN" altLang="en-US" sz="700" b="1">
              <a:solidFill>
                <a:srgbClr val="66757B"/>
              </a:solidFill>
              <a:latin typeface="Aptos" panose="020B0004020202020204" pitchFamily="34" charset="0"/>
            </a:endParaRPr>
          </a:p>
        </p:txBody>
      </p:sp>
      <p:sp>
        <p:nvSpPr>
          <p:cNvPr id="7" name="椭圆 6">
            <a:extLst>
              <a:ext uri="{FF2B5EF4-FFF2-40B4-BE49-F238E27FC236}">
                <a16:creationId xmlns:a16="http://schemas.microsoft.com/office/drawing/2014/main" id="{8EF59AFB-BF9C-78F3-235D-B30E45B227BF}"/>
              </a:ext>
            </a:extLst>
          </p:cNvPr>
          <p:cNvSpPr/>
          <p:nvPr/>
        </p:nvSpPr>
        <p:spPr>
          <a:xfrm>
            <a:off x="685800" y="1803400"/>
            <a:ext cx="114300" cy="114300"/>
          </a:xfrm>
          <a:prstGeom prst="ellipse">
            <a:avLst/>
          </a:prstGeom>
          <a:solidFill>
            <a:srgbClr val="2F9E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8FFE0C8C-01B8-1717-BF29-A927434413BE}"/>
              </a:ext>
            </a:extLst>
          </p:cNvPr>
          <p:cNvSpPr txBox="1"/>
          <p:nvPr/>
        </p:nvSpPr>
        <p:spPr>
          <a:xfrm>
            <a:off x="965200" y="1714500"/>
            <a:ext cx="5372100" cy="246221"/>
          </a:xfrm>
          <a:prstGeom prst="rect">
            <a:avLst/>
          </a:prstGeom>
          <a:noFill/>
        </p:spPr>
        <p:txBody>
          <a:bodyPr vert="horz" lIns="0" tIns="0" rIns="0" bIns="0" rtlCol="0">
            <a:spAutoFit/>
          </a:bodyPr>
          <a:lstStyle/>
          <a:p>
            <a:r>
              <a:rPr lang="en-US" altLang="zh-CN" sz="1600">
                <a:solidFill>
                  <a:srgbClr val="23343B"/>
                </a:solidFill>
                <a:latin typeface="Aptos" panose="020B0004020202020204" pitchFamily="34" charset="0"/>
              </a:rPr>
              <a:t>Select a process route or phase scenario</a:t>
            </a:r>
            <a:endParaRPr lang="zh-CN" altLang="en-US" sz="1600">
              <a:solidFill>
                <a:srgbClr val="23343B"/>
              </a:solidFill>
              <a:latin typeface="Aptos" panose="020B0004020202020204" pitchFamily="34" charset="0"/>
            </a:endParaRPr>
          </a:p>
        </p:txBody>
      </p:sp>
      <p:sp>
        <p:nvSpPr>
          <p:cNvPr id="9" name="椭圆 8">
            <a:extLst>
              <a:ext uri="{FF2B5EF4-FFF2-40B4-BE49-F238E27FC236}">
                <a16:creationId xmlns:a16="http://schemas.microsoft.com/office/drawing/2014/main" id="{99AB8D43-0D29-08C5-6B9A-7405C41F0FB4}"/>
              </a:ext>
            </a:extLst>
          </p:cNvPr>
          <p:cNvSpPr/>
          <p:nvPr/>
        </p:nvSpPr>
        <p:spPr>
          <a:xfrm>
            <a:off x="685800" y="2692400"/>
            <a:ext cx="114300" cy="114300"/>
          </a:xfrm>
          <a:prstGeom prst="ellipse">
            <a:avLst/>
          </a:prstGeom>
          <a:solidFill>
            <a:srgbClr val="E89A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2CEE5E3D-A10B-E43D-A6CF-BA63566A530E}"/>
              </a:ext>
            </a:extLst>
          </p:cNvPr>
          <p:cNvSpPr txBox="1"/>
          <p:nvPr/>
        </p:nvSpPr>
        <p:spPr>
          <a:xfrm>
            <a:off x="965200" y="2603500"/>
            <a:ext cx="5372100" cy="246221"/>
          </a:xfrm>
          <a:prstGeom prst="rect">
            <a:avLst/>
          </a:prstGeom>
          <a:noFill/>
        </p:spPr>
        <p:txBody>
          <a:bodyPr vert="horz" lIns="0" tIns="0" rIns="0" bIns="0" rtlCol="0">
            <a:spAutoFit/>
          </a:bodyPr>
          <a:lstStyle/>
          <a:p>
            <a:r>
              <a:rPr lang="en-US" altLang="zh-CN" sz="1600">
                <a:solidFill>
                  <a:srgbClr val="23343B"/>
                </a:solidFill>
                <a:latin typeface="Aptos" panose="020B0004020202020204" pitchFamily="34" charset="0"/>
              </a:rPr>
              <a:t>Highlight pipes, valves, pumps and key equipment together</a:t>
            </a:r>
            <a:endParaRPr lang="zh-CN" altLang="en-US" sz="1600">
              <a:solidFill>
                <a:srgbClr val="23343B"/>
              </a:solidFill>
              <a:latin typeface="Aptos" panose="020B0004020202020204" pitchFamily="34" charset="0"/>
            </a:endParaRPr>
          </a:p>
        </p:txBody>
      </p:sp>
      <p:sp>
        <p:nvSpPr>
          <p:cNvPr id="11" name="椭圆 10">
            <a:extLst>
              <a:ext uri="{FF2B5EF4-FFF2-40B4-BE49-F238E27FC236}">
                <a16:creationId xmlns:a16="http://schemas.microsoft.com/office/drawing/2014/main" id="{DC124F10-5432-141D-A18D-769F8DB11634}"/>
              </a:ext>
            </a:extLst>
          </p:cNvPr>
          <p:cNvSpPr/>
          <p:nvPr/>
        </p:nvSpPr>
        <p:spPr>
          <a:xfrm>
            <a:off x="685800" y="3581400"/>
            <a:ext cx="114300" cy="114300"/>
          </a:xfrm>
          <a:prstGeom prst="ellipse">
            <a:avLst/>
          </a:prstGeom>
          <a:solidFill>
            <a:srgbClr val="E89A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5F688A5E-E5F6-4391-A9D9-2C5176422739}"/>
              </a:ext>
            </a:extLst>
          </p:cNvPr>
          <p:cNvSpPr txBox="1"/>
          <p:nvPr/>
        </p:nvSpPr>
        <p:spPr>
          <a:xfrm>
            <a:off x="965200" y="3492500"/>
            <a:ext cx="5372100" cy="246221"/>
          </a:xfrm>
          <a:prstGeom prst="rect">
            <a:avLst/>
          </a:prstGeom>
          <a:noFill/>
        </p:spPr>
        <p:txBody>
          <a:bodyPr vert="horz" lIns="0" tIns="0" rIns="0" bIns="0" rtlCol="0">
            <a:spAutoFit/>
          </a:bodyPr>
          <a:lstStyle/>
          <a:p>
            <a:r>
              <a:rPr lang="en-US" altLang="zh-CN" sz="1600">
                <a:solidFill>
                  <a:srgbClr val="23343B"/>
                </a:solidFill>
                <a:latin typeface="Aptos" panose="020B0004020202020204" pitchFamily="34" charset="0"/>
              </a:rPr>
              <a:t>Visualize valve positions and operating equipment states</a:t>
            </a:r>
            <a:endParaRPr lang="zh-CN" altLang="en-US" sz="1600">
              <a:solidFill>
                <a:srgbClr val="23343B"/>
              </a:solidFill>
              <a:latin typeface="Aptos" panose="020B0004020202020204" pitchFamily="34" charset="0"/>
            </a:endParaRPr>
          </a:p>
        </p:txBody>
      </p:sp>
      <p:sp>
        <p:nvSpPr>
          <p:cNvPr id="13" name="椭圆 12">
            <a:extLst>
              <a:ext uri="{FF2B5EF4-FFF2-40B4-BE49-F238E27FC236}">
                <a16:creationId xmlns:a16="http://schemas.microsoft.com/office/drawing/2014/main" id="{FEBAF09C-ED59-D4D7-68AE-BAA6D6D78D89}"/>
              </a:ext>
            </a:extLst>
          </p:cNvPr>
          <p:cNvSpPr/>
          <p:nvPr/>
        </p:nvSpPr>
        <p:spPr>
          <a:xfrm>
            <a:off x="685800" y="4470400"/>
            <a:ext cx="114300" cy="114300"/>
          </a:xfrm>
          <a:prstGeom prst="ellipse">
            <a:avLst/>
          </a:prstGeom>
          <a:solidFill>
            <a:srgbClr val="E89A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F3A34301-73E6-C1B4-BB43-FDD26E9F5FB9}"/>
              </a:ext>
            </a:extLst>
          </p:cNvPr>
          <p:cNvSpPr txBox="1"/>
          <p:nvPr/>
        </p:nvSpPr>
        <p:spPr>
          <a:xfrm>
            <a:off x="965200" y="4381500"/>
            <a:ext cx="5372100" cy="246221"/>
          </a:xfrm>
          <a:prstGeom prst="rect">
            <a:avLst/>
          </a:prstGeom>
          <a:noFill/>
        </p:spPr>
        <p:txBody>
          <a:bodyPr vert="horz" lIns="0" tIns="0" rIns="0" bIns="0" rtlCol="0">
            <a:spAutoFit/>
          </a:bodyPr>
          <a:lstStyle/>
          <a:p>
            <a:r>
              <a:rPr lang="en-US" altLang="zh-CN" sz="1600">
                <a:solidFill>
                  <a:srgbClr val="23343B"/>
                </a:solidFill>
                <a:latin typeface="Aptos" panose="020B0004020202020204" pitchFamily="34" charset="0"/>
              </a:rPr>
              <a:t>Let engineers review, adjust and save the confirmed result</a:t>
            </a:r>
            <a:endParaRPr lang="zh-CN" altLang="en-US" sz="1600">
              <a:solidFill>
                <a:srgbClr val="23343B"/>
              </a:solidFill>
              <a:latin typeface="Aptos" panose="020B0004020202020204" pitchFamily="34" charset="0"/>
            </a:endParaRPr>
          </a:p>
        </p:txBody>
      </p:sp>
      <p:sp>
        <p:nvSpPr>
          <p:cNvPr id="15" name="矩形: 圆角 14">
            <a:extLst>
              <a:ext uri="{FF2B5EF4-FFF2-40B4-BE49-F238E27FC236}">
                <a16:creationId xmlns:a16="http://schemas.microsoft.com/office/drawing/2014/main" id="{E589B998-14A6-7E32-5837-EEEAF0FB4B6C}"/>
              </a:ext>
            </a:extLst>
          </p:cNvPr>
          <p:cNvSpPr/>
          <p:nvPr/>
        </p:nvSpPr>
        <p:spPr>
          <a:xfrm>
            <a:off x="6921500" y="1778000"/>
            <a:ext cx="4635500" cy="3213100"/>
          </a:xfrm>
          <a:prstGeom prst="roundRect">
            <a:avLst/>
          </a:prstGeom>
          <a:solidFill>
            <a:srgbClr val="FFFFFF"/>
          </a:solidFill>
          <a:ln w="9525">
            <a:solidFill>
              <a:srgbClr val="E5EA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7" name="图片 16">
            <a:extLst>
              <a:ext uri="{FF2B5EF4-FFF2-40B4-BE49-F238E27FC236}">
                <a16:creationId xmlns:a16="http://schemas.microsoft.com/office/drawing/2014/main" id="{51FE177A-B0CB-286F-402C-123E6E0A36C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0" y="1841500"/>
            <a:ext cx="4508500" cy="3086100"/>
          </a:xfrm>
          <a:prstGeom prst="rect">
            <a:avLst/>
          </a:prstGeom>
        </p:spPr>
      </p:pic>
      <p:sp>
        <p:nvSpPr>
          <p:cNvPr id="18" name="文本框 17">
            <a:extLst>
              <a:ext uri="{FF2B5EF4-FFF2-40B4-BE49-F238E27FC236}">
                <a16:creationId xmlns:a16="http://schemas.microsoft.com/office/drawing/2014/main" id="{91AAA50F-C9C6-4604-8988-FD5E2B7A564A}"/>
              </a:ext>
            </a:extLst>
          </p:cNvPr>
          <p:cNvSpPr txBox="1"/>
          <p:nvPr/>
        </p:nvSpPr>
        <p:spPr>
          <a:xfrm>
            <a:off x="6985000" y="5168900"/>
            <a:ext cx="4508500" cy="153888"/>
          </a:xfrm>
          <a:prstGeom prst="rect">
            <a:avLst/>
          </a:prstGeom>
          <a:noFill/>
        </p:spPr>
        <p:txBody>
          <a:bodyPr vert="horz" lIns="0" tIns="0" rIns="0" bIns="0" rtlCol="0">
            <a:spAutoFit/>
          </a:bodyPr>
          <a:lstStyle/>
          <a:p>
            <a:r>
              <a:rPr lang="en-US" altLang="zh-CN" sz="1000" b="1">
                <a:solidFill>
                  <a:srgbClr val="2F9E75"/>
                </a:solidFill>
                <a:latin typeface="Aptos" panose="020B0004020202020204" pitchFamily="34" charset="0"/>
              </a:rPr>
              <a:t>AUTOMATION SUPPORTS ENGINEERING JUDGMENT</a:t>
            </a:r>
            <a:endParaRPr lang="zh-CN" altLang="en-US" sz="1000" b="1">
              <a:solidFill>
                <a:srgbClr val="2F9E75"/>
              </a:solidFill>
              <a:latin typeface="Aptos" panose="020B0004020202020204" pitchFamily="34" charset="0"/>
            </a:endParaRPr>
          </a:p>
        </p:txBody>
      </p:sp>
    </p:spTree>
    <p:extLst>
      <p:ext uri="{BB962C8B-B14F-4D97-AF65-F5344CB8AC3E}">
        <p14:creationId xmlns:p14="http://schemas.microsoft.com/office/powerpoint/2010/main" val="32339673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70D0032A-8812-EC70-D25B-5A5EE113794D}"/>
              </a:ext>
            </a:extLst>
          </p:cNvPr>
          <p:cNvSpPr txBox="1"/>
          <p:nvPr/>
        </p:nvSpPr>
        <p:spPr>
          <a:xfrm>
            <a:off x="533400" y="254000"/>
            <a:ext cx="8255000" cy="138499"/>
          </a:xfrm>
          <a:prstGeom prst="rect">
            <a:avLst/>
          </a:prstGeom>
          <a:noFill/>
        </p:spPr>
        <p:txBody>
          <a:bodyPr vert="horz" lIns="0" tIns="0" rIns="0" bIns="0" rtlCol="0">
            <a:spAutoFit/>
          </a:bodyPr>
          <a:lstStyle/>
          <a:p>
            <a:r>
              <a:rPr lang="en-US" altLang="zh-CN" sz="900" b="1">
                <a:solidFill>
                  <a:srgbClr val="2F9E75"/>
                </a:solidFill>
                <a:latin typeface="Aptos" panose="020B0004020202020204" pitchFamily="34" charset="0"/>
              </a:rPr>
              <a:t>CORE CAPABILITY</a:t>
            </a:r>
            <a:endParaRPr lang="zh-CN" altLang="en-US" sz="900" b="1">
              <a:solidFill>
                <a:srgbClr val="2F9E75"/>
              </a:solidFill>
              <a:latin typeface="Aptos" panose="020B0004020202020204" pitchFamily="34" charset="0"/>
            </a:endParaRPr>
          </a:p>
        </p:txBody>
      </p:sp>
      <p:sp>
        <p:nvSpPr>
          <p:cNvPr id="3" name="文本框 2">
            <a:extLst>
              <a:ext uri="{FF2B5EF4-FFF2-40B4-BE49-F238E27FC236}">
                <a16:creationId xmlns:a16="http://schemas.microsoft.com/office/drawing/2014/main" id="{106957A5-283B-ACEA-D41C-A3F7505C7092}"/>
              </a:ext>
            </a:extLst>
          </p:cNvPr>
          <p:cNvSpPr txBox="1"/>
          <p:nvPr/>
        </p:nvSpPr>
        <p:spPr>
          <a:xfrm>
            <a:off x="533400" y="558800"/>
            <a:ext cx="9779000" cy="400110"/>
          </a:xfrm>
          <a:prstGeom prst="rect">
            <a:avLst/>
          </a:prstGeom>
          <a:noFill/>
        </p:spPr>
        <p:txBody>
          <a:bodyPr vert="horz" lIns="0" tIns="0" rIns="0" bIns="0" rtlCol="0">
            <a:spAutoFit/>
          </a:bodyPr>
          <a:lstStyle/>
          <a:p>
            <a:r>
              <a:rPr lang="en-US" altLang="zh-CN" sz="2600" b="1">
                <a:solidFill>
                  <a:srgbClr val="23343B"/>
                </a:solidFill>
                <a:latin typeface="Aptos Display" panose="020B0004020202020204" pitchFamily="34" charset="0"/>
              </a:rPr>
              <a:t>One P&amp;ID, multiple phases, instant context</a:t>
            </a:r>
            <a:endParaRPr lang="zh-CN" altLang="en-US" sz="2600" b="1">
              <a:solidFill>
                <a:srgbClr val="23343B"/>
              </a:solidFill>
              <a:latin typeface="Aptos Display" panose="020B0004020202020204" pitchFamily="34" charset="0"/>
            </a:endParaRPr>
          </a:p>
        </p:txBody>
      </p:sp>
      <p:cxnSp>
        <p:nvCxnSpPr>
          <p:cNvPr id="4" name="直接连接符 3">
            <a:extLst>
              <a:ext uri="{FF2B5EF4-FFF2-40B4-BE49-F238E27FC236}">
                <a16:creationId xmlns:a16="http://schemas.microsoft.com/office/drawing/2014/main" id="{A1C848C3-7E11-B6DF-E865-43234EB0CD18}"/>
              </a:ext>
            </a:extLst>
          </p:cNvPr>
          <p:cNvCxnSpPr/>
          <p:nvPr/>
        </p:nvCxnSpPr>
        <p:spPr>
          <a:xfrm>
            <a:off x="533400" y="1231900"/>
            <a:ext cx="11125200" cy="0"/>
          </a:xfrm>
          <a:prstGeom prst="line">
            <a:avLst/>
          </a:prstGeom>
          <a:ln w="12700">
            <a:solidFill>
              <a:srgbClr val="E5EAE8"/>
            </a:solidFill>
          </a:ln>
        </p:spPr>
        <p:style>
          <a:lnRef idx="2">
            <a:schemeClr val="accent1"/>
          </a:lnRef>
          <a:fillRef idx="0">
            <a:schemeClr val="accent1"/>
          </a:fillRef>
          <a:effectRef idx="1">
            <a:schemeClr val="accent1"/>
          </a:effectRef>
          <a:fontRef idx="minor">
            <a:schemeClr val="tx1"/>
          </a:fontRef>
        </p:style>
      </p:cxnSp>
      <p:sp>
        <p:nvSpPr>
          <p:cNvPr id="5" name="文本框 4">
            <a:extLst>
              <a:ext uri="{FF2B5EF4-FFF2-40B4-BE49-F238E27FC236}">
                <a16:creationId xmlns:a16="http://schemas.microsoft.com/office/drawing/2014/main" id="{7F4B375F-A2F3-689C-F7E6-EC3AFEB393B6}"/>
              </a:ext>
            </a:extLst>
          </p:cNvPr>
          <p:cNvSpPr txBox="1"/>
          <p:nvPr/>
        </p:nvSpPr>
        <p:spPr>
          <a:xfrm>
            <a:off x="11303000" y="254000"/>
            <a:ext cx="355600" cy="138499"/>
          </a:xfrm>
          <a:prstGeom prst="rect">
            <a:avLst/>
          </a:prstGeom>
          <a:noFill/>
        </p:spPr>
        <p:txBody>
          <a:bodyPr vert="horz" lIns="0" tIns="0" rIns="0" bIns="0" rtlCol="0">
            <a:spAutoFit/>
          </a:bodyPr>
          <a:lstStyle/>
          <a:p>
            <a:pPr algn="r"/>
            <a:r>
              <a:rPr lang="en-US" altLang="zh-CN" sz="900" b="1">
                <a:solidFill>
                  <a:srgbClr val="66757B"/>
                </a:solidFill>
                <a:latin typeface="Aptos" panose="020B0004020202020204" pitchFamily="34" charset="0"/>
              </a:rPr>
              <a:t>06</a:t>
            </a:r>
            <a:endParaRPr lang="zh-CN" altLang="en-US" sz="900" b="1">
              <a:solidFill>
                <a:srgbClr val="66757B"/>
              </a:solidFill>
              <a:latin typeface="Aptos" panose="020B0004020202020204" pitchFamily="34" charset="0"/>
            </a:endParaRPr>
          </a:p>
        </p:txBody>
      </p:sp>
      <p:sp>
        <p:nvSpPr>
          <p:cNvPr id="6" name="文本框 5">
            <a:extLst>
              <a:ext uri="{FF2B5EF4-FFF2-40B4-BE49-F238E27FC236}">
                <a16:creationId xmlns:a16="http://schemas.microsoft.com/office/drawing/2014/main" id="{31FCEFCA-2677-8E1A-7914-3873E55B1083}"/>
              </a:ext>
            </a:extLst>
          </p:cNvPr>
          <p:cNvSpPr txBox="1"/>
          <p:nvPr/>
        </p:nvSpPr>
        <p:spPr>
          <a:xfrm>
            <a:off x="533400" y="6578600"/>
            <a:ext cx="6350000" cy="107722"/>
          </a:xfrm>
          <a:prstGeom prst="rect">
            <a:avLst/>
          </a:prstGeom>
          <a:noFill/>
        </p:spPr>
        <p:txBody>
          <a:bodyPr vert="horz" lIns="0" tIns="0" rIns="0" bIns="0" rtlCol="0">
            <a:spAutoFit/>
          </a:bodyPr>
          <a:lstStyle/>
          <a:p>
            <a:r>
              <a:rPr lang="en-US" altLang="zh-CN" sz="700" b="1">
                <a:solidFill>
                  <a:srgbClr val="66757B"/>
                </a:solidFill>
                <a:latin typeface="Aptos" panose="020B0004020202020204" pitchFamily="34" charset="0"/>
              </a:rPr>
              <a:t>HIGHLIGHTED FLOW PATH SOFTWARE · CUSTOMER PRESENTATION</a:t>
            </a:r>
            <a:endParaRPr lang="zh-CN" altLang="en-US" sz="700" b="1">
              <a:solidFill>
                <a:srgbClr val="66757B"/>
              </a:solidFill>
              <a:latin typeface="Aptos" panose="020B0004020202020204" pitchFamily="34" charset="0"/>
            </a:endParaRPr>
          </a:p>
        </p:txBody>
      </p:sp>
      <p:sp>
        <p:nvSpPr>
          <p:cNvPr id="7" name="椭圆 6">
            <a:extLst>
              <a:ext uri="{FF2B5EF4-FFF2-40B4-BE49-F238E27FC236}">
                <a16:creationId xmlns:a16="http://schemas.microsoft.com/office/drawing/2014/main" id="{D5EAE13C-471D-5310-F573-994EDEB44BE1}"/>
              </a:ext>
            </a:extLst>
          </p:cNvPr>
          <p:cNvSpPr/>
          <p:nvPr/>
        </p:nvSpPr>
        <p:spPr>
          <a:xfrm>
            <a:off x="685800" y="1803400"/>
            <a:ext cx="114300" cy="114300"/>
          </a:xfrm>
          <a:prstGeom prst="ellipse">
            <a:avLst/>
          </a:prstGeom>
          <a:solidFill>
            <a:srgbClr val="2F9E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BB4BB125-8F79-6058-E1B9-125A145243BF}"/>
              </a:ext>
            </a:extLst>
          </p:cNvPr>
          <p:cNvSpPr txBox="1"/>
          <p:nvPr/>
        </p:nvSpPr>
        <p:spPr>
          <a:xfrm>
            <a:off x="965200" y="1714500"/>
            <a:ext cx="5372100" cy="246221"/>
          </a:xfrm>
          <a:prstGeom prst="rect">
            <a:avLst/>
          </a:prstGeom>
          <a:noFill/>
        </p:spPr>
        <p:txBody>
          <a:bodyPr vert="horz" lIns="0" tIns="0" rIns="0" bIns="0" rtlCol="0">
            <a:spAutoFit/>
          </a:bodyPr>
          <a:lstStyle/>
          <a:p>
            <a:r>
              <a:rPr lang="en-US" altLang="zh-CN" sz="1600">
                <a:solidFill>
                  <a:srgbClr val="23343B"/>
                </a:solidFill>
                <a:latin typeface="Aptos" panose="020B0004020202020204" pitchFamily="34" charset="0"/>
              </a:rPr>
              <a:t>Organize work as Process → Sequence → Phase</a:t>
            </a:r>
            <a:endParaRPr lang="zh-CN" altLang="en-US" sz="1600">
              <a:solidFill>
                <a:srgbClr val="23343B"/>
              </a:solidFill>
              <a:latin typeface="Aptos" panose="020B0004020202020204" pitchFamily="34" charset="0"/>
            </a:endParaRPr>
          </a:p>
        </p:txBody>
      </p:sp>
      <p:sp>
        <p:nvSpPr>
          <p:cNvPr id="9" name="椭圆 8">
            <a:extLst>
              <a:ext uri="{FF2B5EF4-FFF2-40B4-BE49-F238E27FC236}">
                <a16:creationId xmlns:a16="http://schemas.microsoft.com/office/drawing/2014/main" id="{3A8BC698-0B23-FB4B-3A6C-529447331782}"/>
              </a:ext>
            </a:extLst>
          </p:cNvPr>
          <p:cNvSpPr/>
          <p:nvPr/>
        </p:nvSpPr>
        <p:spPr>
          <a:xfrm>
            <a:off x="685800" y="2692400"/>
            <a:ext cx="114300" cy="114300"/>
          </a:xfrm>
          <a:prstGeom prst="ellipse">
            <a:avLst/>
          </a:prstGeom>
          <a:solidFill>
            <a:srgbClr val="E89A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020FE987-B27D-CE42-10F3-3C4812CBD779}"/>
              </a:ext>
            </a:extLst>
          </p:cNvPr>
          <p:cNvSpPr txBox="1"/>
          <p:nvPr/>
        </p:nvSpPr>
        <p:spPr>
          <a:xfrm>
            <a:off x="965200" y="2603500"/>
            <a:ext cx="5372100" cy="246221"/>
          </a:xfrm>
          <a:prstGeom prst="rect">
            <a:avLst/>
          </a:prstGeom>
          <a:noFill/>
        </p:spPr>
        <p:txBody>
          <a:bodyPr vert="horz" lIns="0" tIns="0" rIns="0" bIns="0" rtlCol="0">
            <a:spAutoFit/>
          </a:bodyPr>
          <a:lstStyle/>
          <a:p>
            <a:r>
              <a:rPr lang="en-US" altLang="zh-CN" sz="1600">
                <a:solidFill>
                  <a:srgbClr val="23343B"/>
                </a:solidFill>
                <a:latin typeface="Aptos" panose="020B0004020202020204" pitchFamily="34" charset="0"/>
              </a:rPr>
              <a:t>Save flow highlights and equipment states for every phase</a:t>
            </a:r>
            <a:endParaRPr lang="zh-CN" altLang="en-US" sz="1600">
              <a:solidFill>
                <a:srgbClr val="23343B"/>
              </a:solidFill>
              <a:latin typeface="Aptos" panose="020B0004020202020204" pitchFamily="34" charset="0"/>
            </a:endParaRPr>
          </a:p>
        </p:txBody>
      </p:sp>
      <p:sp>
        <p:nvSpPr>
          <p:cNvPr id="11" name="椭圆 10">
            <a:extLst>
              <a:ext uri="{FF2B5EF4-FFF2-40B4-BE49-F238E27FC236}">
                <a16:creationId xmlns:a16="http://schemas.microsoft.com/office/drawing/2014/main" id="{7A627F7C-071A-CBF7-BF2B-05BC2A9DFF82}"/>
              </a:ext>
            </a:extLst>
          </p:cNvPr>
          <p:cNvSpPr/>
          <p:nvPr/>
        </p:nvSpPr>
        <p:spPr>
          <a:xfrm>
            <a:off x="685800" y="3581400"/>
            <a:ext cx="114300" cy="114300"/>
          </a:xfrm>
          <a:prstGeom prst="ellipse">
            <a:avLst/>
          </a:prstGeom>
          <a:solidFill>
            <a:srgbClr val="E89A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DE35403E-5C93-EF98-AF72-9AD69789BF23}"/>
              </a:ext>
            </a:extLst>
          </p:cNvPr>
          <p:cNvSpPr txBox="1"/>
          <p:nvPr/>
        </p:nvSpPr>
        <p:spPr>
          <a:xfrm>
            <a:off x="965200" y="3492500"/>
            <a:ext cx="5372100" cy="492443"/>
          </a:xfrm>
          <a:prstGeom prst="rect">
            <a:avLst/>
          </a:prstGeom>
          <a:noFill/>
        </p:spPr>
        <p:txBody>
          <a:bodyPr vert="horz" lIns="0" tIns="0" rIns="0" bIns="0" rtlCol="0">
            <a:spAutoFit/>
          </a:bodyPr>
          <a:lstStyle/>
          <a:p>
            <a:r>
              <a:rPr lang="en-US" altLang="zh-CN" sz="1600">
                <a:solidFill>
                  <a:srgbClr val="23343B"/>
                </a:solidFill>
                <a:latin typeface="Aptos" panose="020B0004020202020204" pitchFamily="34" charset="0"/>
              </a:rPr>
              <a:t>Restore the complete design scenario when switching phases</a:t>
            </a:r>
            <a:endParaRPr lang="zh-CN" altLang="en-US" sz="1600">
              <a:solidFill>
                <a:srgbClr val="23343B"/>
              </a:solidFill>
              <a:latin typeface="Aptos" panose="020B0004020202020204" pitchFamily="34" charset="0"/>
            </a:endParaRPr>
          </a:p>
        </p:txBody>
      </p:sp>
      <p:sp>
        <p:nvSpPr>
          <p:cNvPr id="13" name="椭圆 12">
            <a:extLst>
              <a:ext uri="{FF2B5EF4-FFF2-40B4-BE49-F238E27FC236}">
                <a16:creationId xmlns:a16="http://schemas.microsoft.com/office/drawing/2014/main" id="{A81021E7-EEFA-90B2-871B-DCE6FFC45E13}"/>
              </a:ext>
            </a:extLst>
          </p:cNvPr>
          <p:cNvSpPr/>
          <p:nvPr/>
        </p:nvSpPr>
        <p:spPr>
          <a:xfrm>
            <a:off x="685800" y="4470400"/>
            <a:ext cx="114300" cy="114300"/>
          </a:xfrm>
          <a:prstGeom prst="ellipse">
            <a:avLst/>
          </a:prstGeom>
          <a:solidFill>
            <a:srgbClr val="E89A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624E2F6D-9CA4-04AD-2D25-CD85176242A7}"/>
              </a:ext>
            </a:extLst>
          </p:cNvPr>
          <p:cNvSpPr txBox="1"/>
          <p:nvPr/>
        </p:nvSpPr>
        <p:spPr>
          <a:xfrm>
            <a:off x="965200" y="4381500"/>
            <a:ext cx="5372100" cy="246221"/>
          </a:xfrm>
          <a:prstGeom prst="rect">
            <a:avLst/>
          </a:prstGeom>
          <a:noFill/>
        </p:spPr>
        <p:txBody>
          <a:bodyPr vert="horz" lIns="0" tIns="0" rIns="0" bIns="0" rtlCol="0">
            <a:spAutoFit/>
          </a:bodyPr>
          <a:lstStyle/>
          <a:p>
            <a:r>
              <a:rPr lang="en-US" altLang="zh-CN" sz="1600">
                <a:solidFill>
                  <a:srgbClr val="23343B"/>
                </a:solidFill>
                <a:latin typeface="Aptos" panose="020B0004020202020204" pitchFamily="34" charset="0"/>
              </a:rPr>
              <a:t>Manage and reuse large numbers of phases in order</a:t>
            </a:r>
            <a:endParaRPr lang="zh-CN" altLang="en-US" sz="1600">
              <a:solidFill>
                <a:srgbClr val="23343B"/>
              </a:solidFill>
              <a:latin typeface="Aptos" panose="020B0004020202020204" pitchFamily="34" charset="0"/>
            </a:endParaRPr>
          </a:p>
        </p:txBody>
      </p:sp>
      <p:sp>
        <p:nvSpPr>
          <p:cNvPr id="15" name="矩形: 圆角 14">
            <a:extLst>
              <a:ext uri="{FF2B5EF4-FFF2-40B4-BE49-F238E27FC236}">
                <a16:creationId xmlns:a16="http://schemas.microsoft.com/office/drawing/2014/main" id="{D2E4A818-1174-3E71-CF56-575A3DFFEDD2}"/>
              </a:ext>
            </a:extLst>
          </p:cNvPr>
          <p:cNvSpPr/>
          <p:nvPr/>
        </p:nvSpPr>
        <p:spPr>
          <a:xfrm>
            <a:off x="6921500" y="1778000"/>
            <a:ext cx="4635500" cy="3213100"/>
          </a:xfrm>
          <a:prstGeom prst="roundRect">
            <a:avLst/>
          </a:prstGeom>
          <a:solidFill>
            <a:srgbClr val="FFFFFF"/>
          </a:solidFill>
          <a:ln w="9525">
            <a:solidFill>
              <a:srgbClr val="E5EA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7" name="图片 16">
            <a:extLst>
              <a:ext uri="{FF2B5EF4-FFF2-40B4-BE49-F238E27FC236}">
                <a16:creationId xmlns:a16="http://schemas.microsoft.com/office/drawing/2014/main" id="{6E791980-52F7-4E96-650D-F8CE6AC02E8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0" y="1841500"/>
            <a:ext cx="4508500" cy="3086100"/>
          </a:xfrm>
          <a:prstGeom prst="rect">
            <a:avLst/>
          </a:prstGeom>
        </p:spPr>
      </p:pic>
      <p:sp>
        <p:nvSpPr>
          <p:cNvPr id="18" name="文本框 17">
            <a:extLst>
              <a:ext uri="{FF2B5EF4-FFF2-40B4-BE49-F238E27FC236}">
                <a16:creationId xmlns:a16="http://schemas.microsoft.com/office/drawing/2014/main" id="{C82F072C-4FD7-2AB8-F0A9-676D6F8B4D63}"/>
              </a:ext>
            </a:extLst>
          </p:cNvPr>
          <p:cNvSpPr txBox="1"/>
          <p:nvPr/>
        </p:nvSpPr>
        <p:spPr>
          <a:xfrm>
            <a:off x="6985000" y="5168900"/>
            <a:ext cx="4508500" cy="153888"/>
          </a:xfrm>
          <a:prstGeom prst="rect">
            <a:avLst/>
          </a:prstGeom>
          <a:noFill/>
        </p:spPr>
        <p:txBody>
          <a:bodyPr vert="horz" lIns="0" tIns="0" rIns="0" bIns="0" rtlCol="0">
            <a:spAutoFit/>
          </a:bodyPr>
          <a:lstStyle/>
          <a:p>
            <a:r>
              <a:rPr lang="en-US" altLang="zh-CN" sz="1000" b="1">
                <a:solidFill>
                  <a:srgbClr val="2F9E75"/>
                </a:solidFill>
                <a:latin typeface="Aptos" panose="020B0004020202020204" pitchFamily="34" charset="0"/>
              </a:rPr>
              <a:t>TURN COMPLEX DRAWINGS INTO CLEAR SCENARIOS</a:t>
            </a:r>
            <a:endParaRPr lang="zh-CN" altLang="en-US" sz="1000" b="1">
              <a:solidFill>
                <a:srgbClr val="2F9E75"/>
              </a:solidFill>
              <a:latin typeface="Aptos" panose="020B0004020202020204" pitchFamily="34" charset="0"/>
            </a:endParaRPr>
          </a:p>
        </p:txBody>
      </p:sp>
    </p:spTree>
    <p:extLst>
      <p:ext uri="{BB962C8B-B14F-4D97-AF65-F5344CB8AC3E}">
        <p14:creationId xmlns:p14="http://schemas.microsoft.com/office/powerpoint/2010/main" val="25438343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49C34D37-7A81-E7D3-CF44-0A85706741FD}"/>
              </a:ext>
            </a:extLst>
          </p:cNvPr>
          <p:cNvSpPr txBox="1"/>
          <p:nvPr/>
        </p:nvSpPr>
        <p:spPr>
          <a:xfrm>
            <a:off x="533400" y="254000"/>
            <a:ext cx="8255000" cy="138499"/>
          </a:xfrm>
          <a:prstGeom prst="rect">
            <a:avLst/>
          </a:prstGeom>
          <a:noFill/>
        </p:spPr>
        <p:txBody>
          <a:bodyPr vert="horz" lIns="0" tIns="0" rIns="0" bIns="0" rtlCol="0">
            <a:spAutoFit/>
          </a:bodyPr>
          <a:lstStyle/>
          <a:p>
            <a:r>
              <a:rPr lang="en-US" altLang="zh-CN" sz="900" b="1">
                <a:solidFill>
                  <a:srgbClr val="2F9E75"/>
                </a:solidFill>
                <a:latin typeface="Aptos" panose="020B0004020202020204" pitchFamily="34" charset="0"/>
              </a:rPr>
              <a:t>APPLICATIONS</a:t>
            </a:r>
            <a:endParaRPr lang="zh-CN" altLang="en-US" sz="900" b="1">
              <a:solidFill>
                <a:srgbClr val="2F9E75"/>
              </a:solidFill>
              <a:latin typeface="Aptos" panose="020B0004020202020204" pitchFamily="34" charset="0"/>
            </a:endParaRPr>
          </a:p>
        </p:txBody>
      </p:sp>
      <p:sp>
        <p:nvSpPr>
          <p:cNvPr id="3" name="文本框 2">
            <a:extLst>
              <a:ext uri="{FF2B5EF4-FFF2-40B4-BE49-F238E27FC236}">
                <a16:creationId xmlns:a16="http://schemas.microsoft.com/office/drawing/2014/main" id="{09C13B61-5923-A274-D3EB-82065B27730B}"/>
              </a:ext>
            </a:extLst>
          </p:cNvPr>
          <p:cNvSpPr txBox="1"/>
          <p:nvPr/>
        </p:nvSpPr>
        <p:spPr>
          <a:xfrm>
            <a:off x="533400" y="558800"/>
            <a:ext cx="9779000" cy="400110"/>
          </a:xfrm>
          <a:prstGeom prst="rect">
            <a:avLst/>
          </a:prstGeom>
          <a:noFill/>
        </p:spPr>
        <p:txBody>
          <a:bodyPr vert="horz" lIns="0" tIns="0" rIns="0" bIns="0" rtlCol="0">
            <a:spAutoFit/>
          </a:bodyPr>
          <a:lstStyle/>
          <a:p>
            <a:r>
              <a:rPr lang="en-US" altLang="zh-CN" sz="2600" b="1">
                <a:solidFill>
                  <a:srgbClr val="23343B"/>
                </a:solidFill>
                <a:latin typeface="Aptos Display" panose="020B0004020202020204" pitchFamily="34" charset="0"/>
              </a:rPr>
              <a:t>Applicable across pharmaceutical process systems</a:t>
            </a:r>
            <a:endParaRPr lang="zh-CN" altLang="en-US" sz="2600" b="1">
              <a:solidFill>
                <a:srgbClr val="23343B"/>
              </a:solidFill>
              <a:latin typeface="Aptos Display" panose="020B0004020202020204" pitchFamily="34" charset="0"/>
            </a:endParaRPr>
          </a:p>
        </p:txBody>
      </p:sp>
      <p:cxnSp>
        <p:nvCxnSpPr>
          <p:cNvPr id="4" name="直接连接符 3">
            <a:extLst>
              <a:ext uri="{FF2B5EF4-FFF2-40B4-BE49-F238E27FC236}">
                <a16:creationId xmlns:a16="http://schemas.microsoft.com/office/drawing/2014/main" id="{EF5E3C97-DE0C-F87C-1F99-2FF180F6EA5F}"/>
              </a:ext>
            </a:extLst>
          </p:cNvPr>
          <p:cNvCxnSpPr/>
          <p:nvPr/>
        </p:nvCxnSpPr>
        <p:spPr>
          <a:xfrm>
            <a:off x="533400" y="1231900"/>
            <a:ext cx="11125200" cy="0"/>
          </a:xfrm>
          <a:prstGeom prst="line">
            <a:avLst/>
          </a:prstGeom>
          <a:ln w="12700">
            <a:solidFill>
              <a:srgbClr val="E5EAE8"/>
            </a:solidFill>
          </a:ln>
        </p:spPr>
        <p:style>
          <a:lnRef idx="2">
            <a:schemeClr val="accent1"/>
          </a:lnRef>
          <a:fillRef idx="0">
            <a:schemeClr val="accent1"/>
          </a:fillRef>
          <a:effectRef idx="1">
            <a:schemeClr val="accent1"/>
          </a:effectRef>
          <a:fontRef idx="minor">
            <a:schemeClr val="tx1"/>
          </a:fontRef>
        </p:style>
      </p:cxnSp>
      <p:sp>
        <p:nvSpPr>
          <p:cNvPr id="5" name="文本框 4">
            <a:extLst>
              <a:ext uri="{FF2B5EF4-FFF2-40B4-BE49-F238E27FC236}">
                <a16:creationId xmlns:a16="http://schemas.microsoft.com/office/drawing/2014/main" id="{C260CE98-3A37-39EF-1775-560C034895D8}"/>
              </a:ext>
            </a:extLst>
          </p:cNvPr>
          <p:cNvSpPr txBox="1"/>
          <p:nvPr/>
        </p:nvSpPr>
        <p:spPr>
          <a:xfrm>
            <a:off x="11303000" y="254000"/>
            <a:ext cx="355600" cy="138499"/>
          </a:xfrm>
          <a:prstGeom prst="rect">
            <a:avLst/>
          </a:prstGeom>
          <a:noFill/>
        </p:spPr>
        <p:txBody>
          <a:bodyPr vert="horz" lIns="0" tIns="0" rIns="0" bIns="0" rtlCol="0">
            <a:spAutoFit/>
          </a:bodyPr>
          <a:lstStyle/>
          <a:p>
            <a:pPr algn="r"/>
            <a:r>
              <a:rPr lang="en-US" altLang="zh-CN" sz="900" b="1">
                <a:solidFill>
                  <a:srgbClr val="66757B"/>
                </a:solidFill>
                <a:latin typeface="Aptos" panose="020B0004020202020204" pitchFamily="34" charset="0"/>
              </a:rPr>
              <a:t>07</a:t>
            </a:r>
            <a:endParaRPr lang="zh-CN" altLang="en-US" sz="900" b="1">
              <a:solidFill>
                <a:srgbClr val="66757B"/>
              </a:solidFill>
              <a:latin typeface="Aptos" panose="020B0004020202020204" pitchFamily="34" charset="0"/>
            </a:endParaRPr>
          </a:p>
        </p:txBody>
      </p:sp>
      <p:sp>
        <p:nvSpPr>
          <p:cNvPr id="6" name="文本框 5">
            <a:extLst>
              <a:ext uri="{FF2B5EF4-FFF2-40B4-BE49-F238E27FC236}">
                <a16:creationId xmlns:a16="http://schemas.microsoft.com/office/drawing/2014/main" id="{1CF9DF8E-BF84-0A9D-D8A0-072273515778}"/>
              </a:ext>
            </a:extLst>
          </p:cNvPr>
          <p:cNvSpPr txBox="1"/>
          <p:nvPr/>
        </p:nvSpPr>
        <p:spPr>
          <a:xfrm>
            <a:off x="533400" y="6578600"/>
            <a:ext cx="6350000" cy="107722"/>
          </a:xfrm>
          <a:prstGeom prst="rect">
            <a:avLst/>
          </a:prstGeom>
          <a:noFill/>
        </p:spPr>
        <p:txBody>
          <a:bodyPr vert="horz" lIns="0" tIns="0" rIns="0" bIns="0" rtlCol="0">
            <a:spAutoFit/>
          </a:bodyPr>
          <a:lstStyle/>
          <a:p>
            <a:r>
              <a:rPr lang="en-US" altLang="zh-CN" sz="700" b="1">
                <a:solidFill>
                  <a:srgbClr val="66757B"/>
                </a:solidFill>
                <a:latin typeface="Aptos" panose="020B0004020202020204" pitchFamily="34" charset="0"/>
              </a:rPr>
              <a:t>HIGHLIGHTED FLOW PATH SOFTWARE · CUSTOMER PRESENTATION</a:t>
            </a:r>
            <a:endParaRPr lang="zh-CN" altLang="en-US" sz="700" b="1">
              <a:solidFill>
                <a:srgbClr val="66757B"/>
              </a:solidFill>
              <a:latin typeface="Aptos" panose="020B0004020202020204" pitchFamily="34" charset="0"/>
            </a:endParaRPr>
          </a:p>
        </p:txBody>
      </p:sp>
      <p:sp>
        <p:nvSpPr>
          <p:cNvPr id="7" name="椭圆 6">
            <a:extLst>
              <a:ext uri="{FF2B5EF4-FFF2-40B4-BE49-F238E27FC236}">
                <a16:creationId xmlns:a16="http://schemas.microsoft.com/office/drawing/2014/main" id="{EC75E315-8FF5-C710-5E93-C2BF33B399F8}"/>
              </a:ext>
            </a:extLst>
          </p:cNvPr>
          <p:cNvSpPr/>
          <p:nvPr/>
        </p:nvSpPr>
        <p:spPr>
          <a:xfrm>
            <a:off x="787400" y="1968500"/>
            <a:ext cx="1168400" cy="1168400"/>
          </a:xfrm>
          <a:prstGeom prst="ellipse">
            <a:avLst/>
          </a:prstGeom>
          <a:solidFill>
            <a:srgbClr val="2F9E75"/>
          </a:solidFill>
          <a:ln>
            <a:solidFill>
              <a:srgbClr val="2F9E7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38B4F427-5339-37CF-6282-75131F8A2F5F}"/>
              </a:ext>
            </a:extLst>
          </p:cNvPr>
          <p:cNvSpPr txBox="1"/>
          <p:nvPr/>
        </p:nvSpPr>
        <p:spPr>
          <a:xfrm>
            <a:off x="1181100" y="2298700"/>
            <a:ext cx="381000" cy="169277"/>
          </a:xfrm>
          <a:prstGeom prst="rect">
            <a:avLst/>
          </a:prstGeom>
          <a:noFill/>
        </p:spPr>
        <p:txBody>
          <a:bodyPr vert="horz" lIns="0" tIns="0" rIns="0" bIns="0" rtlCol="0">
            <a:spAutoFit/>
          </a:bodyPr>
          <a:lstStyle/>
          <a:p>
            <a:pPr algn="ctr"/>
            <a:r>
              <a:rPr lang="en-US" altLang="zh-CN" sz="1100" b="1">
                <a:solidFill>
                  <a:srgbClr val="FFFFFF"/>
                </a:solidFill>
                <a:latin typeface="Aptos" panose="020B0004020202020204" pitchFamily="34" charset="0"/>
              </a:rPr>
              <a:t>01</a:t>
            </a:r>
            <a:endParaRPr lang="zh-CN" altLang="en-US" sz="1100" b="1">
              <a:solidFill>
                <a:srgbClr val="FFFFFF"/>
              </a:solidFill>
              <a:latin typeface="Aptos" panose="020B0004020202020204" pitchFamily="34" charset="0"/>
            </a:endParaRPr>
          </a:p>
        </p:txBody>
      </p:sp>
      <p:sp>
        <p:nvSpPr>
          <p:cNvPr id="9" name="文本框 8">
            <a:extLst>
              <a:ext uri="{FF2B5EF4-FFF2-40B4-BE49-F238E27FC236}">
                <a16:creationId xmlns:a16="http://schemas.microsoft.com/office/drawing/2014/main" id="{B398B718-484C-0072-59AE-6F797C8CAFC0}"/>
              </a:ext>
            </a:extLst>
          </p:cNvPr>
          <p:cNvSpPr txBox="1"/>
          <p:nvPr/>
        </p:nvSpPr>
        <p:spPr>
          <a:xfrm>
            <a:off x="533400" y="3390900"/>
            <a:ext cx="1676400" cy="230832"/>
          </a:xfrm>
          <a:prstGeom prst="rect">
            <a:avLst/>
          </a:prstGeom>
          <a:noFill/>
        </p:spPr>
        <p:txBody>
          <a:bodyPr vert="horz" lIns="0" tIns="0" rIns="0" bIns="0" rtlCol="0">
            <a:spAutoFit/>
          </a:bodyPr>
          <a:lstStyle/>
          <a:p>
            <a:pPr algn="ctr"/>
            <a:r>
              <a:rPr lang="en-US" altLang="zh-CN" sz="1500" b="1">
                <a:solidFill>
                  <a:srgbClr val="23343B"/>
                </a:solidFill>
                <a:latin typeface="Aptos" panose="020B0004020202020204" pitchFamily="34" charset="0"/>
              </a:rPr>
              <a:t>CIP</a:t>
            </a:r>
            <a:endParaRPr lang="zh-CN" altLang="en-US" sz="1500" b="1">
              <a:solidFill>
                <a:srgbClr val="23343B"/>
              </a:solidFill>
              <a:latin typeface="Aptos" panose="020B0004020202020204" pitchFamily="34" charset="0"/>
            </a:endParaRPr>
          </a:p>
        </p:txBody>
      </p:sp>
      <p:sp>
        <p:nvSpPr>
          <p:cNvPr id="10" name="椭圆 9">
            <a:extLst>
              <a:ext uri="{FF2B5EF4-FFF2-40B4-BE49-F238E27FC236}">
                <a16:creationId xmlns:a16="http://schemas.microsoft.com/office/drawing/2014/main" id="{A321B6F9-7F20-8F80-05D7-A2D53D678768}"/>
              </a:ext>
            </a:extLst>
          </p:cNvPr>
          <p:cNvSpPr/>
          <p:nvPr/>
        </p:nvSpPr>
        <p:spPr>
          <a:xfrm>
            <a:off x="3022600" y="1968500"/>
            <a:ext cx="1168400" cy="1168400"/>
          </a:xfrm>
          <a:prstGeom prst="ellipse">
            <a:avLst/>
          </a:prstGeom>
          <a:solidFill>
            <a:srgbClr val="FFFFFF"/>
          </a:solidFill>
          <a:ln>
            <a:solidFill>
              <a:srgbClr val="E5EA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318926B4-4C1E-8A73-FCBC-F6E124F812E9}"/>
              </a:ext>
            </a:extLst>
          </p:cNvPr>
          <p:cNvSpPr txBox="1"/>
          <p:nvPr/>
        </p:nvSpPr>
        <p:spPr>
          <a:xfrm>
            <a:off x="3416300" y="2298700"/>
            <a:ext cx="381000" cy="169277"/>
          </a:xfrm>
          <a:prstGeom prst="rect">
            <a:avLst/>
          </a:prstGeom>
          <a:noFill/>
        </p:spPr>
        <p:txBody>
          <a:bodyPr vert="horz" lIns="0" tIns="0" rIns="0" bIns="0" rtlCol="0">
            <a:spAutoFit/>
          </a:bodyPr>
          <a:lstStyle/>
          <a:p>
            <a:pPr algn="ctr"/>
            <a:r>
              <a:rPr lang="en-US" altLang="zh-CN" sz="1100" b="1">
                <a:solidFill>
                  <a:srgbClr val="2F9E75"/>
                </a:solidFill>
                <a:latin typeface="Aptos" panose="020B0004020202020204" pitchFamily="34" charset="0"/>
              </a:rPr>
              <a:t>02</a:t>
            </a:r>
            <a:endParaRPr lang="zh-CN" altLang="en-US" sz="1100" b="1">
              <a:solidFill>
                <a:srgbClr val="2F9E75"/>
              </a:solidFill>
              <a:latin typeface="Aptos" panose="020B0004020202020204" pitchFamily="34" charset="0"/>
            </a:endParaRPr>
          </a:p>
        </p:txBody>
      </p:sp>
      <p:sp>
        <p:nvSpPr>
          <p:cNvPr id="12" name="文本框 11">
            <a:extLst>
              <a:ext uri="{FF2B5EF4-FFF2-40B4-BE49-F238E27FC236}">
                <a16:creationId xmlns:a16="http://schemas.microsoft.com/office/drawing/2014/main" id="{6A18398D-0743-2A3C-3013-1DC30E7B1422}"/>
              </a:ext>
            </a:extLst>
          </p:cNvPr>
          <p:cNvSpPr txBox="1"/>
          <p:nvPr/>
        </p:nvSpPr>
        <p:spPr>
          <a:xfrm>
            <a:off x="2768600" y="3390900"/>
            <a:ext cx="1676400" cy="230832"/>
          </a:xfrm>
          <a:prstGeom prst="rect">
            <a:avLst/>
          </a:prstGeom>
          <a:noFill/>
        </p:spPr>
        <p:txBody>
          <a:bodyPr vert="horz" lIns="0" tIns="0" rIns="0" bIns="0" rtlCol="0">
            <a:spAutoFit/>
          </a:bodyPr>
          <a:lstStyle/>
          <a:p>
            <a:pPr algn="ctr"/>
            <a:r>
              <a:rPr lang="en-US" altLang="zh-CN" sz="1500" b="1">
                <a:solidFill>
                  <a:srgbClr val="23343B"/>
                </a:solidFill>
                <a:latin typeface="Aptos" panose="020B0004020202020204" pitchFamily="34" charset="0"/>
              </a:rPr>
              <a:t>SIP</a:t>
            </a:r>
            <a:endParaRPr lang="zh-CN" altLang="en-US" sz="1500" b="1">
              <a:solidFill>
                <a:srgbClr val="23343B"/>
              </a:solidFill>
              <a:latin typeface="Aptos" panose="020B0004020202020204" pitchFamily="34" charset="0"/>
            </a:endParaRPr>
          </a:p>
        </p:txBody>
      </p:sp>
      <p:sp>
        <p:nvSpPr>
          <p:cNvPr id="13" name="椭圆 12">
            <a:extLst>
              <a:ext uri="{FF2B5EF4-FFF2-40B4-BE49-F238E27FC236}">
                <a16:creationId xmlns:a16="http://schemas.microsoft.com/office/drawing/2014/main" id="{5EB84FCD-922A-5213-68DD-82FEA4BBB34B}"/>
              </a:ext>
            </a:extLst>
          </p:cNvPr>
          <p:cNvSpPr/>
          <p:nvPr/>
        </p:nvSpPr>
        <p:spPr>
          <a:xfrm>
            <a:off x="5257800" y="1968500"/>
            <a:ext cx="1168400" cy="1168400"/>
          </a:xfrm>
          <a:prstGeom prst="ellipse">
            <a:avLst/>
          </a:prstGeom>
          <a:solidFill>
            <a:srgbClr val="FFFFFF"/>
          </a:solidFill>
          <a:ln>
            <a:solidFill>
              <a:srgbClr val="E5EA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86280708-05B1-3E88-2BD6-E0D7AE1016C5}"/>
              </a:ext>
            </a:extLst>
          </p:cNvPr>
          <p:cNvSpPr txBox="1"/>
          <p:nvPr/>
        </p:nvSpPr>
        <p:spPr>
          <a:xfrm>
            <a:off x="5651500" y="2298700"/>
            <a:ext cx="381000" cy="169277"/>
          </a:xfrm>
          <a:prstGeom prst="rect">
            <a:avLst/>
          </a:prstGeom>
          <a:noFill/>
        </p:spPr>
        <p:txBody>
          <a:bodyPr vert="horz" lIns="0" tIns="0" rIns="0" bIns="0" rtlCol="0">
            <a:spAutoFit/>
          </a:bodyPr>
          <a:lstStyle/>
          <a:p>
            <a:pPr algn="ctr"/>
            <a:r>
              <a:rPr lang="en-US" altLang="zh-CN" sz="1100" b="1">
                <a:solidFill>
                  <a:srgbClr val="2F9E75"/>
                </a:solidFill>
                <a:latin typeface="Aptos" panose="020B0004020202020204" pitchFamily="34" charset="0"/>
              </a:rPr>
              <a:t>03</a:t>
            </a:r>
            <a:endParaRPr lang="zh-CN" altLang="en-US" sz="1100" b="1">
              <a:solidFill>
                <a:srgbClr val="2F9E75"/>
              </a:solidFill>
              <a:latin typeface="Aptos" panose="020B0004020202020204" pitchFamily="34" charset="0"/>
            </a:endParaRPr>
          </a:p>
        </p:txBody>
      </p:sp>
      <p:sp>
        <p:nvSpPr>
          <p:cNvPr id="15" name="文本框 14">
            <a:extLst>
              <a:ext uri="{FF2B5EF4-FFF2-40B4-BE49-F238E27FC236}">
                <a16:creationId xmlns:a16="http://schemas.microsoft.com/office/drawing/2014/main" id="{674C6D89-4FBE-AE7E-0A41-D6D0EEA8EFF8}"/>
              </a:ext>
            </a:extLst>
          </p:cNvPr>
          <p:cNvSpPr txBox="1"/>
          <p:nvPr/>
        </p:nvSpPr>
        <p:spPr>
          <a:xfrm>
            <a:off x="5003800" y="3390900"/>
            <a:ext cx="1676400" cy="230832"/>
          </a:xfrm>
          <a:prstGeom prst="rect">
            <a:avLst/>
          </a:prstGeom>
          <a:noFill/>
        </p:spPr>
        <p:txBody>
          <a:bodyPr vert="horz" lIns="0" tIns="0" rIns="0" bIns="0" rtlCol="0">
            <a:spAutoFit/>
          </a:bodyPr>
          <a:lstStyle/>
          <a:p>
            <a:pPr algn="ctr"/>
            <a:r>
              <a:rPr lang="en-US" altLang="zh-CN" sz="1500" b="1">
                <a:solidFill>
                  <a:srgbClr val="23343B"/>
                </a:solidFill>
                <a:latin typeface="Aptos" panose="020B0004020202020204" pitchFamily="34" charset="0"/>
              </a:rPr>
              <a:t>Solution prep</a:t>
            </a:r>
            <a:endParaRPr lang="zh-CN" altLang="en-US" sz="1500" b="1">
              <a:solidFill>
                <a:srgbClr val="23343B"/>
              </a:solidFill>
              <a:latin typeface="Aptos" panose="020B0004020202020204" pitchFamily="34" charset="0"/>
            </a:endParaRPr>
          </a:p>
        </p:txBody>
      </p:sp>
      <p:sp>
        <p:nvSpPr>
          <p:cNvPr id="16" name="椭圆 15">
            <a:extLst>
              <a:ext uri="{FF2B5EF4-FFF2-40B4-BE49-F238E27FC236}">
                <a16:creationId xmlns:a16="http://schemas.microsoft.com/office/drawing/2014/main" id="{66726EE7-DA98-13ED-9C9C-5EA9C61F4FC0}"/>
              </a:ext>
            </a:extLst>
          </p:cNvPr>
          <p:cNvSpPr/>
          <p:nvPr/>
        </p:nvSpPr>
        <p:spPr>
          <a:xfrm>
            <a:off x="7493000" y="1968500"/>
            <a:ext cx="1168400" cy="1168400"/>
          </a:xfrm>
          <a:prstGeom prst="ellipse">
            <a:avLst/>
          </a:prstGeom>
          <a:solidFill>
            <a:srgbClr val="FFFFFF"/>
          </a:solidFill>
          <a:ln>
            <a:solidFill>
              <a:srgbClr val="E5EA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3AB07489-A2BA-4F67-C093-79D475EE89DC}"/>
              </a:ext>
            </a:extLst>
          </p:cNvPr>
          <p:cNvSpPr txBox="1"/>
          <p:nvPr/>
        </p:nvSpPr>
        <p:spPr>
          <a:xfrm>
            <a:off x="7886700" y="2298700"/>
            <a:ext cx="381000" cy="169277"/>
          </a:xfrm>
          <a:prstGeom prst="rect">
            <a:avLst/>
          </a:prstGeom>
          <a:noFill/>
        </p:spPr>
        <p:txBody>
          <a:bodyPr vert="horz" lIns="0" tIns="0" rIns="0" bIns="0" rtlCol="0">
            <a:spAutoFit/>
          </a:bodyPr>
          <a:lstStyle/>
          <a:p>
            <a:pPr algn="ctr"/>
            <a:r>
              <a:rPr lang="en-US" altLang="zh-CN" sz="1100" b="1">
                <a:solidFill>
                  <a:srgbClr val="2F9E75"/>
                </a:solidFill>
                <a:latin typeface="Aptos" panose="020B0004020202020204" pitchFamily="34" charset="0"/>
              </a:rPr>
              <a:t>04</a:t>
            </a:r>
            <a:endParaRPr lang="zh-CN" altLang="en-US" sz="1100" b="1">
              <a:solidFill>
                <a:srgbClr val="2F9E75"/>
              </a:solidFill>
              <a:latin typeface="Aptos" panose="020B0004020202020204" pitchFamily="34" charset="0"/>
            </a:endParaRPr>
          </a:p>
        </p:txBody>
      </p:sp>
      <p:sp>
        <p:nvSpPr>
          <p:cNvPr id="18" name="文本框 17">
            <a:extLst>
              <a:ext uri="{FF2B5EF4-FFF2-40B4-BE49-F238E27FC236}">
                <a16:creationId xmlns:a16="http://schemas.microsoft.com/office/drawing/2014/main" id="{EE1DD10C-0C34-BB03-01D8-55535D64D3BC}"/>
              </a:ext>
            </a:extLst>
          </p:cNvPr>
          <p:cNvSpPr txBox="1"/>
          <p:nvPr/>
        </p:nvSpPr>
        <p:spPr>
          <a:xfrm>
            <a:off x="7239000" y="3390900"/>
            <a:ext cx="1676400" cy="230832"/>
          </a:xfrm>
          <a:prstGeom prst="rect">
            <a:avLst/>
          </a:prstGeom>
          <a:noFill/>
        </p:spPr>
        <p:txBody>
          <a:bodyPr vert="horz" lIns="0" tIns="0" rIns="0" bIns="0" rtlCol="0">
            <a:spAutoFit/>
          </a:bodyPr>
          <a:lstStyle/>
          <a:p>
            <a:pPr algn="ctr"/>
            <a:r>
              <a:rPr lang="en-US" altLang="zh-CN" sz="1500" b="1">
                <a:solidFill>
                  <a:srgbClr val="23343B"/>
                </a:solidFill>
                <a:latin typeface="Aptos" panose="020B0004020202020204" pitchFamily="34" charset="0"/>
              </a:rPr>
              <a:t>Bioreactors</a:t>
            </a:r>
            <a:endParaRPr lang="zh-CN" altLang="en-US" sz="1500" b="1">
              <a:solidFill>
                <a:srgbClr val="23343B"/>
              </a:solidFill>
              <a:latin typeface="Aptos" panose="020B0004020202020204" pitchFamily="34" charset="0"/>
            </a:endParaRPr>
          </a:p>
        </p:txBody>
      </p:sp>
      <p:sp>
        <p:nvSpPr>
          <p:cNvPr id="19" name="椭圆 18">
            <a:extLst>
              <a:ext uri="{FF2B5EF4-FFF2-40B4-BE49-F238E27FC236}">
                <a16:creationId xmlns:a16="http://schemas.microsoft.com/office/drawing/2014/main" id="{85D258DE-61AB-D2EA-7539-4A42225F11D6}"/>
              </a:ext>
            </a:extLst>
          </p:cNvPr>
          <p:cNvSpPr/>
          <p:nvPr/>
        </p:nvSpPr>
        <p:spPr>
          <a:xfrm>
            <a:off x="9728200" y="1968500"/>
            <a:ext cx="1168400" cy="1168400"/>
          </a:xfrm>
          <a:prstGeom prst="ellipse">
            <a:avLst/>
          </a:prstGeom>
          <a:solidFill>
            <a:srgbClr val="FFFFFF"/>
          </a:solidFill>
          <a:ln>
            <a:solidFill>
              <a:srgbClr val="E5EA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21391126-9F04-C6A1-45C4-6B5E2A43C66F}"/>
              </a:ext>
            </a:extLst>
          </p:cNvPr>
          <p:cNvSpPr txBox="1"/>
          <p:nvPr/>
        </p:nvSpPr>
        <p:spPr>
          <a:xfrm>
            <a:off x="10121900" y="2298700"/>
            <a:ext cx="381000" cy="169277"/>
          </a:xfrm>
          <a:prstGeom prst="rect">
            <a:avLst/>
          </a:prstGeom>
          <a:noFill/>
        </p:spPr>
        <p:txBody>
          <a:bodyPr vert="horz" lIns="0" tIns="0" rIns="0" bIns="0" rtlCol="0">
            <a:spAutoFit/>
          </a:bodyPr>
          <a:lstStyle/>
          <a:p>
            <a:pPr algn="ctr"/>
            <a:r>
              <a:rPr lang="en-US" altLang="zh-CN" sz="1100" b="1">
                <a:solidFill>
                  <a:srgbClr val="2F9E75"/>
                </a:solidFill>
                <a:latin typeface="Aptos" panose="020B0004020202020204" pitchFamily="34" charset="0"/>
              </a:rPr>
              <a:t>05</a:t>
            </a:r>
            <a:endParaRPr lang="zh-CN" altLang="en-US" sz="1100" b="1">
              <a:solidFill>
                <a:srgbClr val="2F9E75"/>
              </a:solidFill>
              <a:latin typeface="Aptos" panose="020B0004020202020204" pitchFamily="34" charset="0"/>
            </a:endParaRPr>
          </a:p>
        </p:txBody>
      </p:sp>
      <p:sp>
        <p:nvSpPr>
          <p:cNvPr id="21" name="文本框 20">
            <a:extLst>
              <a:ext uri="{FF2B5EF4-FFF2-40B4-BE49-F238E27FC236}">
                <a16:creationId xmlns:a16="http://schemas.microsoft.com/office/drawing/2014/main" id="{0DB38B16-8150-26E3-D870-52B27064FB6A}"/>
              </a:ext>
            </a:extLst>
          </p:cNvPr>
          <p:cNvSpPr txBox="1"/>
          <p:nvPr/>
        </p:nvSpPr>
        <p:spPr>
          <a:xfrm>
            <a:off x="9474200" y="3390900"/>
            <a:ext cx="1676400" cy="230832"/>
          </a:xfrm>
          <a:prstGeom prst="rect">
            <a:avLst/>
          </a:prstGeom>
          <a:noFill/>
        </p:spPr>
        <p:txBody>
          <a:bodyPr vert="horz" lIns="0" tIns="0" rIns="0" bIns="0" rtlCol="0">
            <a:spAutoFit/>
          </a:bodyPr>
          <a:lstStyle/>
          <a:p>
            <a:pPr algn="ctr"/>
            <a:r>
              <a:rPr lang="en-US" altLang="zh-CN" sz="1500" b="1">
                <a:solidFill>
                  <a:srgbClr val="23343B"/>
                </a:solidFill>
                <a:latin typeface="Aptos" panose="020B0004020202020204" pitchFamily="34" charset="0"/>
              </a:rPr>
              <a:t>Utilities</a:t>
            </a:r>
            <a:endParaRPr lang="zh-CN" altLang="en-US" sz="1500" b="1">
              <a:solidFill>
                <a:srgbClr val="23343B"/>
              </a:solidFill>
              <a:latin typeface="Aptos" panose="020B0004020202020204" pitchFamily="34" charset="0"/>
            </a:endParaRPr>
          </a:p>
        </p:txBody>
      </p:sp>
      <p:sp>
        <p:nvSpPr>
          <p:cNvPr id="22" name="文本框 21">
            <a:extLst>
              <a:ext uri="{FF2B5EF4-FFF2-40B4-BE49-F238E27FC236}">
                <a16:creationId xmlns:a16="http://schemas.microsoft.com/office/drawing/2014/main" id="{AD5DEA3D-E01A-108B-F5BF-B7F00DC76E4E}"/>
              </a:ext>
            </a:extLst>
          </p:cNvPr>
          <p:cNvSpPr txBox="1"/>
          <p:nvPr/>
        </p:nvSpPr>
        <p:spPr>
          <a:xfrm>
            <a:off x="1524000" y="4635500"/>
            <a:ext cx="9144000" cy="276999"/>
          </a:xfrm>
          <a:prstGeom prst="rect">
            <a:avLst/>
          </a:prstGeom>
          <a:noFill/>
        </p:spPr>
        <p:txBody>
          <a:bodyPr vert="horz" lIns="0" tIns="0" rIns="0" bIns="0" rtlCol="0">
            <a:spAutoFit/>
          </a:bodyPr>
          <a:lstStyle/>
          <a:p>
            <a:pPr algn="ctr"/>
            <a:r>
              <a:rPr lang="en-US" altLang="zh-CN">
                <a:solidFill>
                  <a:srgbClr val="66757B"/>
                </a:solidFill>
                <a:latin typeface="Aptos" panose="020B0004020202020204" pitchFamily="34" charset="0"/>
              </a:rPr>
              <a:t>A reusable industry capability built around material paths and equipment states on the P&amp;ID.</a:t>
            </a:r>
            <a:endParaRPr lang="zh-CN" altLang="en-US">
              <a:solidFill>
                <a:srgbClr val="66757B"/>
              </a:solidFill>
              <a:latin typeface="Aptos" panose="020B0004020202020204" pitchFamily="34" charset="0"/>
            </a:endParaRPr>
          </a:p>
        </p:txBody>
      </p:sp>
    </p:spTree>
    <p:extLst>
      <p:ext uri="{BB962C8B-B14F-4D97-AF65-F5344CB8AC3E}">
        <p14:creationId xmlns:p14="http://schemas.microsoft.com/office/powerpoint/2010/main" val="19356326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73A7F873-8284-BD9C-2A72-7F4D4CB8ECA3}"/>
              </a:ext>
            </a:extLst>
          </p:cNvPr>
          <p:cNvSpPr txBox="1"/>
          <p:nvPr/>
        </p:nvSpPr>
        <p:spPr>
          <a:xfrm>
            <a:off x="533400" y="254000"/>
            <a:ext cx="8255000" cy="138499"/>
          </a:xfrm>
          <a:prstGeom prst="rect">
            <a:avLst/>
          </a:prstGeom>
          <a:noFill/>
        </p:spPr>
        <p:txBody>
          <a:bodyPr vert="horz" lIns="0" tIns="0" rIns="0" bIns="0" rtlCol="0">
            <a:spAutoFit/>
          </a:bodyPr>
          <a:lstStyle/>
          <a:p>
            <a:r>
              <a:rPr lang="en-US" altLang="zh-CN" sz="900" b="1">
                <a:solidFill>
                  <a:srgbClr val="2F9E75"/>
                </a:solidFill>
                <a:latin typeface="Aptos" panose="020B0004020202020204" pitchFamily="34" charset="0"/>
              </a:rPr>
              <a:t>BUSINESS VALUE</a:t>
            </a:r>
            <a:endParaRPr lang="zh-CN" altLang="en-US" sz="900" b="1">
              <a:solidFill>
                <a:srgbClr val="2F9E75"/>
              </a:solidFill>
              <a:latin typeface="Aptos" panose="020B0004020202020204" pitchFamily="34" charset="0"/>
            </a:endParaRPr>
          </a:p>
        </p:txBody>
      </p:sp>
      <p:sp>
        <p:nvSpPr>
          <p:cNvPr id="3" name="文本框 2">
            <a:extLst>
              <a:ext uri="{FF2B5EF4-FFF2-40B4-BE49-F238E27FC236}">
                <a16:creationId xmlns:a16="http://schemas.microsoft.com/office/drawing/2014/main" id="{0D9BEC68-13A2-6AF5-6CE3-EB6E88B7B4D7}"/>
              </a:ext>
            </a:extLst>
          </p:cNvPr>
          <p:cNvSpPr txBox="1"/>
          <p:nvPr/>
        </p:nvSpPr>
        <p:spPr>
          <a:xfrm>
            <a:off x="533400" y="558800"/>
            <a:ext cx="9779000" cy="400110"/>
          </a:xfrm>
          <a:prstGeom prst="rect">
            <a:avLst/>
          </a:prstGeom>
          <a:noFill/>
        </p:spPr>
        <p:txBody>
          <a:bodyPr vert="horz" lIns="0" tIns="0" rIns="0" bIns="0" rtlCol="0">
            <a:spAutoFit/>
          </a:bodyPr>
          <a:lstStyle/>
          <a:p>
            <a:r>
              <a:rPr lang="en-US" altLang="zh-CN" sz="2600" b="1">
                <a:solidFill>
                  <a:srgbClr val="23343B"/>
                </a:solidFill>
                <a:latin typeface="Aptos Display" panose="020B0004020202020204" pitchFamily="34" charset="0"/>
              </a:rPr>
              <a:t>A shared visual basis for design review</a:t>
            </a:r>
            <a:endParaRPr lang="zh-CN" altLang="en-US" sz="2600" b="1">
              <a:solidFill>
                <a:srgbClr val="23343B"/>
              </a:solidFill>
              <a:latin typeface="Aptos Display" panose="020B0004020202020204" pitchFamily="34" charset="0"/>
            </a:endParaRPr>
          </a:p>
        </p:txBody>
      </p:sp>
      <p:cxnSp>
        <p:nvCxnSpPr>
          <p:cNvPr id="4" name="直接连接符 3">
            <a:extLst>
              <a:ext uri="{FF2B5EF4-FFF2-40B4-BE49-F238E27FC236}">
                <a16:creationId xmlns:a16="http://schemas.microsoft.com/office/drawing/2014/main" id="{5B39CA0A-F2A9-2F7D-DA18-DDB1EAE33329}"/>
              </a:ext>
            </a:extLst>
          </p:cNvPr>
          <p:cNvCxnSpPr/>
          <p:nvPr/>
        </p:nvCxnSpPr>
        <p:spPr>
          <a:xfrm>
            <a:off x="533400" y="1231900"/>
            <a:ext cx="11125200" cy="0"/>
          </a:xfrm>
          <a:prstGeom prst="line">
            <a:avLst/>
          </a:prstGeom>
          <a:ln w="12700">
            <a:solidFill>
              <a:srgbClr val="E5EAE8"/>
            </a:solidFill>
          </a:ln>
        </p:spPr>
        <p:style>
          <a:lnRef idx="2">
            <a:schemeClr val="accent1"/>
          </a:lnRef>
          <a:fillRef idx="0">
            <a:schemeClr val="accent1"/>
          </a:fillRef>
          <a:effectRef idx="1">
            <a:schemeClr val="accent1"/>
          </a:effectRef>
          <a:fontRef idx="minor">
            <a:schemeClr val="tx1"/>
          </a:fontRef>
        </p:style>
      </p:cxnSp>
      <p:sp>
        <p:nvSpPr>
          <p:cNvPr id="5" name="文本框 4">
            <a:extLst>
              <a:ext uri="{FF2B5EF4-FFF2-40B4-BE49-F238E27FC236}">
                <a16:creationId xmlns:a16="http://schemas.microsoft.com/office/drawing/2014/main" id="{7983316D-D0C8-FB66-4F66-30944802DC79}"/>
              </a:ext>
            </a:extLst>
          </p:cNvPr>
          <p:cNvSpPr txBox="1"/>
          <p:nvPr/>
        </p:nvSpPr>
        <p:spPr>
          <a:xfrm>
            <a:off x="11303000" y="254000"/>
            <a:ext cx="355600" cy="138499"/>
          </a:xfrm>
          <a:prstGeom prst="rect">
            <a:avLst/>
          </a:prstGeom>
          <a:noFill/>
        </p:spPr>
        <p:txBody>
          <a:bodyPr vert="horz" lIns="0" tIns="0" rIns="0" bIns="0" rtlCol="0">
            <a:spAutoFit/>
          </a:bodyPr>
          <a:lstStyle/>
          <a:p>
            <a:pPr algn="r"/>
            <a:r>
              <a:rPr lang="en-US" altLang="zh-CN" sz="900" b="1">
                <a:solidFill>
                  <a:srgbClr val="66757B"/>
                </a:solidFill>
                <a:latin typeface="Aptos" panose="020B0004020202020204" pitchFamily="34" charset="0"/>
              </a:rPr>
              <a:t>08</a:t>
            </a:r>
            <a:endParaRPr lang="zh-CN" altLang="en-US" sz="900" b="1">
              <a:solidFill>
                <a:srgbClr val="66757B"/>
              </a:solidFill>
              <a:latin typeface="Aptos" panose="020B0004020202020204" pitchFamily="34" charset="0"/>
            </a:endParaRPr>
          </a:p>
        </p:txBody>
      </p:sp>
      <p:sp>
        <p:nvSpPr>
          <p:cNvPr id="6" name="文本框 5">
            <a:extLst>
              <a:ext uri="{FF2B5EF4-FFF2-40B4-BE49-F238E27FC236}">
                <a16:creationId xmlns:a16="http://schemas.microsoft.com/office/drawing/2014/main" id="{C05397B6-70CF-239A-38EF-E4536B11F650}"/>
              </a:ext>
            </a:extLst>
          </p:cNvPr>
          <p:cNvSpPr txBox="1"/>
          <p:nvPr/>
        </p:nvSpPr>
        <p:spPr>
          <a:xfrm>
            <a:off x="533400" y="6578600"/>
            <a:ext cx="6350000" cy="107722"/>
          </a:xfrm>
          <a:prstGeom prst="rect">
            <a:avLst/>
          </a:prstGeom>
          <a:noFill/>
        </p:spPr>
        <p:txBody>
          <a:bodyPr vert="horz" lIns="0" tIns="0" rIns="0" bIns="0" rtlCol="0">
            <a:spAutoFit/>
          </a:bodyPr>
          <a:lstStyle/>
          <a:p>
            <a:r>
              <a:rPr lang="en-US" altLang="zh-CN" sz="700" b="1">
                <a:solidFill>
                  <a:srgbClr val="66757B"/>
                </a:solidFill>
                <a:latin typeface="Aptos" panose="020B0004020202020204" pitchFamily="34" charset="0"/>
              </a:rPr>
              <a:t>HIGHLIGHTED FLOW PATH SOFTWARE · CUSTOMER PRESENTATION</a:t>
            </a:r>
            <a:endParaRPr lang="zh-CN" altLang="en-US" sz="700" b="1">
              <a:solidFill>
                <a:srgbClr val="66757B"/>
              </a:solidFill>
              <a:latin typeface="Aptos" panose="020B0004020202020204" pitchFamily="34" charset="0"/>
            </a:endParaRPr>
          </a:p>
        </p:txBody>
      </p:sp>
      <p:sp>
        <p:nvSpPr>
          <p:cNvPr id="7" name="椭圆 6">
            <a:extLst>
              <a:ext uri="{FF2B5EF4-FFF2-40B4-BE49-F238E27FC236}">
                <a16:creationId xmlns:a16="http://schemas.microsoft.com/office/drawing/2014/main" id="{B81D17EF-FA92-4E5A-4009-3416A38049D6}"/>
              </a:ext>
            </a:extLst>
          </p:cNvPr>
          <p:cNvSpPr/>
          <p:nvPr/>
        </p:nvSpPr>
        <p:spPr>
          <a:xfrm>
            <a:off x="685800" y="1803400"/>
            <a:ext cx="114300" cy="114300"/>
          </a:xfrm>
          <a:prstGeom prst="ellipse">
            <a:avLst/>
          </a:prstGeom>
          <a:solidFill>
            <a:srgbClr val="2F9E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201837F2-BA61-86C5-86BA-6CA4DBECF5E1}"/>
              </a:ext>
            </a:extLst>
          </p:cNvPr>
          <p:cNvSpPr txBox="1"/>
          <p:nvPr/>
        </p:nvSpPr>
        <p:spPr>
          <a:xfrm>
            <a:off x="965200" y="1714500"/>
            <a:ext cx="5372100" cy="246221"/>
          </a:xfrm>
          <a:prstGeom prst="rect">
            <a:avLst/>
          </a:prstGeom>
          <a:noFill/>
        </p:spPr>
        <p:txBody>
          <a:bodyPr vert="horz" lIns="0" tIns="0" rIns="0" bIns="0" rtlCol="0">
            <a:spAutoFit/>
          </a:bodyPr>
          <a:lstStyle/>
          <a:p>
            <a:r>
              <a:rPr lang="en-US" altLang="zh-CN" sz="1600">
                <a:solidFill>
                  <a:srgbClr val="23343B"/>
                </a:solidFill>
                <a:latin typeface="Aptos" panose="020B0004020202020204" pitchFamily="34" charset="0"/>
              </a:rPr>
              <a:t>Confirm that the medium reaches the intended destination</a:t>
            </a:r>
            <a:endParaRPr lang="zh-CN" altLang="en-US" sz="1600">
              <a:solidFill>
                <a:srgbClr val="23343B"/>
              </a:solidFill>
              <a:latin typeface="Aptos" panose="020B0004020202020204" pitchFamily="34" charset="0"/>
            </a:endParaRPr>
          </a:p>
        </p:txBody>
      </p:sp>
      <p:sp>
        <p:nvSpPr>
          <p:cNvPr id="9" name="椭圆 8">
            <a:extLst>
              <a:ext uri="{FF2B5EF4-FFF2-40B4-BE49-F238E27FC236}">
                <a16:creationId xmlns:a16="http://schemas.microsoft.com/office/drawing/2014/main" id="{99AA1C4C-016A-9C3B-031E-7147B4D19A25}"/>
              </a:ext>
            </a:extLst>
          </p:cNvPr>
          <p:cNvSpPr/>
          <p:nvPr/>
        </p:nvSpPr>
        <p:spPr>
          <a:xfrm>
            <a:off x="685800" y="2692400"/>
            <a:ext cx="114300" cy="114300"/>
          </a:xfrm>
          <a:prstGeom prst="ellipse">
            <a:avLst/>
          </a:prstGeom>
          <a:solidFill>
            <a:srgbClr val="E89A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33D4C787-EB49-FBA4-6D43-1846D0F3CCDA}"/>
              </a:ext>
            </a:extLst>
          </p:cNvPr>
          <p:cNvSpPr txBox="1"/>
          <p:nvPr/>
        </p:nvSpPr>
        <p:spPr>
          <a:xfrm>
            <a:off x="965200" y="2603500"/>
            <a:ext cx="5372100" cy="246221"/>
          </a:xfrm>
          <a:prstGeom prst="rect">
            <a:avLst/>
          </a:prstGeom>
          <a:noFill/>
        </p:spPr>
        <p:txBody>
          <a:bodyPr vert="horz" lIns="0" tIns="0" rIns="0" bIns="0" rtlCol="0">
            <a:spAutoFit/>
          </a:bodyPr>
          <a:lstStyle/>
          <a:p>
            <a:r>
              <a:rPr lang="en-US" altLang="zh-CN" sz="1600">
                <a:solidFill>
                  <a:srgbClr val="23343B"/>
                </a:solidFill>
                <a:latin typeface="Aptos" panose="020B0004020202020204" pitchFamily="34" charset="0"/>
              </a:rPr>
              <a:t>Identify missed branches, valves and off-page connections</a:t>
            </a:r>
            <a:endParaRPr lang="zh-CN" altLang="en-US" sz="1600">
              <a:solidFill>
                <a:srgbClr val="23343B"/>
              </a:solidFill>
              <a:latin typeface="Aptos" panose="020B0004020202020204" pitchFamily="34" charset="0"/>
            </a:endParaRPr>
          </a:p>
        </p:txBody>
      </p:sp>
      <p:sp>
        <p:nvSpPr>
          <p:cNvPr id="11" name="椭圆 10">
            <a:extLst>
              <a:ext uri="{FF2B5EF4-FFF2-40B4-BE49-F238E27FC236}">
                <a16:creationId xmlns:a16="http://schemas.microsoft.com/office/drawing/2014/main" id="{1CD95061-68E7-75F3-99B4-A0D6F39F11F8}"/>
              </a:ext>
            </a:extLst>
          </p:cNvPr>
          <p:cNvSpPr/>
          <p:nvPr/>
        </p:nvSpPr>
        <p:spPr>
          <a:xfrm>
            <a:off x="685800" y="3581400"/>
            <a:ext cx="114300" cy="114300"/>
          </a:xfrm>
          <a:prstGeom prst="ellipse">
            <a:avLst/>
          </a:prstGeom>
          <a:solidFill>
            <a:srgbClr val="E89A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AA1FA79F-8A1E-C5E1-15B9-1423BA446163}"/>
              </a:ext>
            </a:extLst>
          </p:cNvPr>
          <p:cNvSpPr txBox="1"/>
          <p:nvPr/>
        </p:nvSpPr>
        <p:spPr>
          <a:xfrm>
            <a:off x="965200" y="3492500"/>
            <a:ext cx="5372100" cy="246221"/>
          </a:xfrm>
          <a:prstGeom prst="rect">
            <a:avLst/>
          </a:prstGeom>
          <a:noFill/>
        </p:spPr>
        <p:txBody>
          <a:bodyPr vert="horz" lIns="0" tIns="0" rIns="0" bIns="0" rtlCol="0">
            <a:spAutoFit/>
          </a:bodyPr>
          <a:lstStyle/>
          <a:p>
            <a:r>
              <a:rPr lang="en-US" altLang="zh-CN" sz="1600">
                <a:solidFill>
                  <a:srgbClr val="23343B"/>
                </a:solidFill>
                <a:latin typeface="Aptos" panose="020B0004020202020204" pitchFamily="34" charset="0"/>
              </a:rPr>
              <a:t>Compare routes and equipment states across phases</a:t>
            </a:r>
            <a:endParaRPr lang="zh-CN" altLang="en-US" sz="1600">
              <a:solidFill>
                <a:srgbClr val="23343B"/>
              </a:solidFill>
              <a:latin typeface="Aptos" panose="020B0004020202020204" pitchFamily="34" charset="0"/>
            </a:endParaRPr>
          </a:p>
        </p:txBody>
      </p:sp>
      <p:sp>
        <p:nvSpPr>
          <p:cNvPr id="13" name="椭圆 12">
            <a:extLst>
              <a:ext uri="{FF2B5EF4-FFF2-40B4-BE49-F238E27FC236}">
                <a16:creationId xmlns:a16="http://schemas.microsoft.com/office/drawing/2014/main" id="{E657C9FB-69B5-D8AC-16C2-682285DC5F95}"/>
              </a:ext>
            </a:extLst>
          </p:cNvPr>
          <p:cNvSpPr/>
          <p:nvPr/>
        </p:nvSpPr>
        <p:spPr>
          <a:xfrm>
            <a:off x="685800" y="4470400"/>
            <a:ext cx="114300" cy="114300"/>
          </a:xfrm>
          <a:prstGeom prst="ellipse">
            <a:avLst/>
          </a:prstGeom>
          <a:solidFill>
            <a:srgbClr val="E89A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DBB3444D-E826-C90B-C221-52DF8495F5E8}"/>
              </a:ext>
            </a:extLst>
          </p:cNvPr>
          <p:cNvSpPr txBox="1"/>
          <p:nvPr/>
        </p:nvSpPr>
        <p:spPr>
          <a:xfrm>
            <a:off x="965200" y="4381500"/>
            <a:ext cx="5372100" cy="246221"/>
          </a:xfrm>
          <a:prstGeom prst="rect">
            <a:avLst/>
          </a:prstGeom>
          <a:noFill/>
        </p:spPr>
        <p:txBody>
          <a:bodyPr vert="horz" lIns="0" tIns="0" rIns="0" bIns="0" rtlCol="0">
            <a:spAutoFit/>
          </a:bodyPr>
          <a:lstStyle/>
          <a:p>
            <a:r>
              <a:rPr lang="en-US" altLang="zh-CN" sz="1600">
                <a:solidFill>
                  <a:srgbClr val="23343B"/>
                </a:solidFill>
                <a:latin typeface="Aptos" panose="020B0004020202020204" pitchFamily="34" charset="0"/>
              </a:rPr>
              <a:t>Align process, mechanical, automation and validation teams</a:t>
            </a:r>
            <a:endParaRPr lang="zh-CN" altLang="en-US" sz="1600">
              <a:solidFill>
                <a:srgbClr val="23343B"/>
              </a:solidFill>
              <a:latin typeface="Aptos" panose="020B0004020202020204" pitchFamily="34" charset="0"/>
            </a:endParaRPr>
          </a:p>
        </p:txBody>
      </p:sp>
      <p:sp>
        <p:nvSpPr>
          <p:cNvPr id="15" name="矩形: 圆角 14">
            <a:extLst>
              <a:ext uri="{FF2B5EF4-FFF2-40B4-BE49-F238E27FC236}">
                <a16:creationId xmlns:a16="http://schemas.microsoft.com/office/drawing/2014/main" id="{DBCA5064-5B74-E340-6602-17EE7F53822C}"/>
              </a:ext>
            </a:extLst>
          </p:cNvPr>
          <p:cNvSpPr/>
          <p:nvPr/>
        </p:nvSpPr>
        <p:spPr>
          <a:xfrm>
            <a:off x="6921500" y="1778000"/>
            <a:ext cx="4635500" cy="3213100"/>
          </a:xfrm>
          <a:prstGeom prst="roundRect">
            <a:avLst/>
          </a:prstGeom>
          <a:solidFill>
            <a:srgbClr val="FFFFFF"/>
          </a:solidFill>
          <a:ln w="9525">
            <a:solidFill>
              <a:srgbClr val="E5EA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7" name="图片 16">
            <a:extLst>
              <a:ext uri="{FF2B5EF4-FFF2-40B4-BE49-F238E27FC236}">
                <a16:creationId xmlns:a16="http://schemas.microsoft.com/office/drawing/2014/main" id="{EED947A7-B7DC-05D5-1223-505DB7FD31C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0" y="1841500"/>
            <a:ext cx="4508500" cy="3086100"/>
          </a:xfrm>
          <a:prstGeom prst="rect">
            <a:avLst/>
          </a:prstGeom>
        </p:spPr>
      </p:pic>
      <p:sp>
        <p:nvSpPr>
          <p:cNvPr id="18" name="文本框 17">
            <a:extLst>
              <a:ext uri="{FF2B5EF4-FFF2-40B4-BE49-F238E27FC236}">
                <a16:creationId xmlns:a16="http://schemas.microsoft.com/office/drawing/2014/main" id="{4B4B0702-264A-C723-3CDE-0388784E0C78}"/>
              </a:ext>
            </a:extLst>
          </p:cNvPr>
          <p:cNvSpPr txBox="1"/>
          <p:nvPr/>
        </p:nvSpPr>
        <p:spPr>
          <a:xfrm>
            <a:off x="6985000" y="5168900"/>
            <a:ext cx="4508500" cy="153888"/>
          </a:xfrm>
          <a:prstGeom prst="rect">
            <a:avLst/>
          </a:prstGeom>
          <a:noFill/>
        </p:spPr>
        <p:txBody>
          <a:bodyPr vert="horz" lIns="0" tIns="0" rIns="0" bIns="0" rtlCol="0">
            <a:spAutoFit/>
          </a:bodyPr>
          <a:lstStyle/>
          <a:p>
            <a:r>
              <a:rPr lang="en-US" altLang="zh-CN" sz="1000" b="1">
                <a:solidFill>
                  <a:srgbClr val="2F9E75"/>
                </a:solidFill>
                <a:latin typeface="Aptos" panose="020B0004020202020204" pitchFamily="34" charset="0"/>
              </a:rPr>
              <a:t>TURN COMPLEX DRAWINGS INTO CLEAR SCENARIOS</a:t>
            </a:r>
            <a:endParaRPr lang="zh-CN" altLang="en-US" sz="1000" b="1">
              <a:solidFill>
                <a:srgbClr val="2F9E75"/>
              </a:solidFill>
              <a:latin typeface="Aptos" panose="020B0004020202020204" pitchFamily="34" charset="0"/>
            </a:endParaRPr>
          </a:p>
        </p:txBody>
      </p:sp>
    </p:spTree>
    <p:extLst>
      <p:ext uri="{BB962C8B-B14F-4D97-AF65-F5344CB8AC3E}">
        <p14:creationId xmlns:p14="http://schemas.microsoft.com/office/powerpoint/2010/main" val="3211030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7CE0628-6040-FA10-E6B1-767C1B783AE2}"/>
              </a:ext>
            </a:extLst>
          </p:cNvPr>
          <p:cNvSpPr txBox="1"/>
          <p:nvPr/>
        </p:nvSpPr>
        <p:spPr>
          <a:xfrm>
            <a:off x="533400" y="254000"/>
            <a:ext cx="8255000" cy="138499"/>
          </a:xfrm>
          <a:prstGeom prst="rect">
            <a:avLst/>
          </a:prstGeom>
          <a:noFill/>
        </p:spPr>
        <p:txBody>
          <a:bodyPr vert="horz" lIns="0" tIns="0" rIns="0" bIns="0" rtlCol="0">
            <a:spAutoFit/>
          </a:bodyPr>
          <a:lstStyle/>
          <a:p>
            <a:r>
              <a:rPr lang="en-US" altLang="zh-CN" sz="900" b="1">
                <a:solidFill>
                  <a:srgbClr val="2F9E75"/>
                </a:solidFill>
                <a:latin typeface="Aptos" panose="020B0004020202020204" pitchFamily="34" charset="0"/>
              </a:rPr>
              <a:t>DELIVERABLES</a:t>
            </a:r>
            <a:endParaRPr lang="zh-CN" altLang="en-US" sz="900" b="1">
              <a:solidFill>
                <a:srgbClr val="2F9E75"/>
              </a:solidFill>
              <a:latin typeface="Aptos" panose="020B0004020202020204" pitchFamily="34" charset="0"/>
            </a:endParaRPr>
          </a:p>
        </p:txBody>
      </p:sp>
      <p:sp>
        <p:nvSpPr>
          <p:cNvPr id="3" name="文本框 2">
            <a:extLst>
              <a:ext uri="{FF2B5EF4-FFF2-40B4-BE49-F238E27FC236}">
                <a16:creationId xmlns:a16="http://schemas.microsoft.com/office/drawing/2014/main" id="{209B9BB5-DAD3-4C90-E226-A9642C3AE406}"/>
              </a:ext>
            </a:extLst>
          </p:cNvPr>
          <p:cNvSpPr txBox="1"/>
          <p:nvPr/>
        </p:nvSpPr>
        <p:spPr>
          <a:xfrm>
            <a:off x="533400" y="558800"/>
            <a:ext cx="9779000" cy="400110"/>
          </a:xfrm>
          <a:prstGeom prst="rect">
            <a:avLst/>
          </a:prstGeom>
          <a:noFill/>
        </p:spPr>
        <p:txBody>
          <a:bodyPr vert="horz" lIns="0" tIns="0" rIns="0" bIns="0" rtlCol="0">
            <a:spAutoFit/>
          </a:bodyPr>
          <a:lstStyle/>
          <a:p>
            <a:r>
              <a:rPr lang="en-US" altLang="zh-CN" sz="2600" b="1">
                <a:solidFill>
                  <a:srgbClr val="23343B"/>
                </a:solidFill>
                <a:latin typeface="Aptos Display" panose="020B0004020202020204" pitchFamily="34" charset="0"/>
              </a:rPr>
              <a:t>Turn approved design states into consistent reports</a:t>
            </a:r>
            <a:endParaRPr lang="zh-CN" altLang="en-US" sz="2600" b="1">
              <a:solidFill>
                <a:srgbClr val="23343B"/>
              </a:solidFill>
              <a:latin typeface="Aptos Display" panose="020B0004020202020204" pitchFamily="34" charset="0"/>
            </a:endParaRPr>
          </a:p>
        </p:txBody>
      </p:sp>
      <p:cxnSp>
        <p:nvCxnSpPr>
          <p:cNvPr id="4" name="直接连接符 3">
            <a:extLst>
              <a:ext uri="{FF2B5EF4-FFF2-40B4-BE49-F238E27FC236}">
                <a16:creationId xmlns:a16="http://schemas.microsoft.com/office/drawing/2014/main" id="{8988FE91-B3DC-37EB-8D00-6A8D96975C2C}"/>
              </a:ext>
            </a:extLst>
          </p:cNvPr>
          <p:cNvCxnSpPr/>
          <p:nvPr/>
        </p:nvCxnSpPr>
        <p:spPr>
          <a:xfrm>
            <a:off x="533400" y="1231900"/>
            <a:ext cx="11125200" cy="0"/>
          </a:xfrm>
          <a:prstGeom prst="line">
            <a:avLst/>
          </a:prstGeom>
          <a:ln w="12700">
            <a:solidFill>
              <a:srgbClr val="E5EAE8"/>
            </a:solidFill>
          </a:ln>
        </p:spPr>
        <p:style>
          <a:lnRef idx="2">
            <a:schemeClr val="accent1"/>
          </a:lnRef>
          <a:fillRef idx="0">
            <a:schemeClr val="accent1"/>
          </a:fillRef>
          <a:effectRef idx="1">
            <a:schemeClr val="accent1"/>
          </a:effectRef>
          <a:fontRef idx="minor">
            <a:schemeClr val="tx1"/>
          </a:fontRef>
        </p:style>
      </p:cxnSp>
      <p:sp>
        <p:nvSpPr>
          <p:cNvPr id="5" name="文本框 4">
            <a:extLst>
              <a:ext uri="{FF2B5EF4-FFF2-40B4-BE49-F238E27FC236}">
                <a16:creationId xmlns:a16="http://schemas.microsoft.com/office/drawing/2014/main" id="{BCEB59BF-0B82-AC07-6410-2E3C77C48615}"/>
              </a:ext>
            </a:extLst>
          </p:cNvPr>
          <p:cNvSpPr txBox="1"/>
          <p:nvPr/>
        </p:nvSpPr>
        <p:spPr>
          <a:xfrm>
            <a:off x="11303000" y="254000"/>
            <a:ext cx="355600" cy="138499"/>
          </a:xfrm>
          <a:prstGeom prst="rect">
            <a:avLst/>
          </a:prstGeom>
          <a:noFill/>
        </p:spPr>
        <p:txBody>
          <a:bodyPr vert="horz" lIns="0" tIns="0" rIns="0" bIns="0" rtlCol="0">
            <a:spAutoFit/>
          </a:bodyPr>
          <a:lstStyle/>
          <a:p>
            <a:pPr algn="r"/>
            <a:r>
              <a:rPr lang="en-US" altLang="zh-CN" sz="900" b="1">
                <a:solidFill>
                  <a:srgbClr val="66757B"/>
                </a:solidFill>
                <a:latin typeface="Aptos" panose="020B0004020202020204" pitchFamily="34" charset="0"/>
              </a:rPr>
              <a:t>09</a:t>
            </a:r>
            <a:endParaRPr lang="zh-CN" altLang="en-US" sz="900" b="1">
              <a:solidFill>
                <a:srgbClr val="66757B"/>
              </a:solidFill>
              <a:latin typeface="Aptos" panose="020B0004020202020204" pitchFamily="34" charset="0"/>
            </a:endParaRPr>
          </a:p>
        </p:txBody>
      </p:sp>
      <p:sp>
        <p:nvSpPr>
          <p:cNvPr id="6" name="文本框 5">
            <a:extLst>
              <a:ext uri="{FF2B5EF4-FFF2-40B4-BE49-F238E27FC236}">
                <a16:creationId xmlns:a16="http://schemas.microsoft.com/office/drawing/2014/main" id="{F1F3B67E-0A4C-3E8C-14A0-E5EB3CF39817}"/>
              </a:ext>
            </a:extLst>
          </p:cNvPr>
          <p:cNvSpPr txBox="1"/>
          <p:nvPr/>
        </p:nvSpPr>
        <p:spPr>
          <a:xfrm>
            <a:off x="533400" y="6578600"/>
            <a:ext cx="6350000" cy="107722"/>
          </a:xfrm>
          <a:prstGeom prst="rect">
            <a:avLst/>
          </a:prstGeom>
          <a:noFill/>
        </p:spPr>
        <p:txBody>
          <a:bodyPr vert="horz" lIns="0" tIns="0" rIns="0" bIns="0" rtlCol="0">
            <a:spAutoFit/>
          </a:bodyPr>
          <a:lstStyle/>
          <a:p>
            <a:r>
              <a:rPr lang="en-US" altLang="zh-CN" sz="700" b="1">
                <a:solidFill>
                  <a:srgbClr val="66757B"/>
                </a:solidFill>
                <a:latin typeface="Aptos" panose="020B0004020202020204" pitchFamily="34" charset="0"/>
              </a:rPr>
              <a:t>HIGHLIGHTED FLOW PATH SOFTWARE · CUSTOMER PRESENTATION</a:t>
            </a:r>
            <a:endParaRPr lang="zh-CN" altLang="en-US" sz="700" b="1">
              <a:solidFill>
                <a:srgbClr val="66757B"/>
              </a:solidFill>
              <a:latin typeface="Aptos" panose="020B0004020202020204" pitchFamily="34" charset="0"/>
            </a:endParaRPr>
          </a:p>
        </p:txBody>
      </p:sp>
      <p:sp>
        <p:nvSpPr>
          <p:cNvPr id="7" name="椭圆 6">
            <a:extLst>
              <a:ext uri="{FF2B5EF4-FFF2-40B4-BE49-F238E27FC236}">
                <a16:creationId xmlns:a16="http://schemas.microsoft.com/office/drawing/2014/main" id="{B2F71075-7384-D2AF-78F5-9D62FC27C378}"/>
              </a:ext>
            </a:extLst>
          </p:cNvPr>
          <p:cNvSpPr/>
          <p:nvPr/>
        </p:nvSpPr>
        <p:spPr>
          <a:xfrm>
            <a:off x="685800" y="1803400"/>
            <a:ext cx="114300" cy="114300"/>
          </a:xfrm>
          <a:prstGeom prst="ellipse">
            <a:avLst/>
          </a:prstGeom>
          <a:solidFill>
            <a:srgbClr val="2F9E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F0E22E0A-889A-444E-13A3-C42F2CED1611}"/>
              </a:ext>
            </a:extLst>
          </p:cNvPr>
          <p:cNvSpPr txBox="1"/>
          <p:nvPr/>
        </p:nvSpPr>
        <p:spPr>
          <a:xfrm>
            <a:off x="965200" y="1714500"/>
            <a:ext cx="5372100" cy="246221"/>
          </a:xfrm>
          <a:prstGeom prst="rect">
            <a:avLst/>
          </a:prstGeom>
          <a:noFill/>
        </p:spPr>
        <p:txBody>
          <a:bodyPr vert="horz" lIns="0" tIns="0" rIns="0" bIns="0" rtlCol="0">
            <a:spAutoFit/>
          </a:bodyPr>
          <a:lstStyle/>
          <a:p>
            <a:r>
              <a:rPr lang="en-US" altLang="zh-CN" sz="1600">
                <a:solidFill>
                  <a:srgbClr val="23343B"/>
                </a:solidFill>
                <a:latin typeface="Aptos" panose="020B0004020202020204" pitchFamily="34" charset="0"/>
              </a:rPr>
              <a:t>Arrange pages automatically by sequence and phase</a:t>
            </a:r>
            <a:endParaRPr lang="zh-CN" altLang="en-US" sz="1600">
              <a:solidFill>
                <a:srgbClr val="23343B"/>
              </a:solidFill>
              <a:latin typeface="Aptos" panose="020B0004020202020204" pitchFamily="34" charset="0"/>
            </a:endParaRPr>
          </a:p>
        </p:txBody>
      </p:sp>
      <p:sp>
        <p:nvSpPr>
          <p:cNvPr id="9" name="椭圆 8">
            <a:extLst>
              <a:ext uri="{FF2B5EF4-FFF2-40B4-BE49-F238E27FC236}">
                <a16:creationId xmlns:a16="http://schemas.microsoft.com/office/drawing/2014/main" id="{D999E950-B9A6-3228-EF87-33D2E59F3DFF}"/>
              </a:ext>
            </a:extLst>
          </p:cNvPr>
          <p:cNvSpPr/>
          <p:nvPr/>
        </p:nvSpPr>
        <p:spPr>
          <a:xfrm>
            <a:off x="685800" y="2692400"/>
            <a:ext cx="114300" cy="114300"/>
          </a:xfrm>
          <a:prstGeom prst="ellipse">
            <a:avLst/>
          </a:prstGeom>
          <a:solidFill>
            <a:srgbClr val="E89A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68D00084-A1C7-AAA6-C5D7-D5E89872E6E4}"/>
              </a:ext>
            </a:extLst>
          </p:cNvPr>
          <p:cNvSpPr txBox="1"/>
          <p:nvPr/>
        </p:nvSpPr>
        <p:spPr>
          <a:xfrm>
            <a:off x="965200" y="2603500"/>
            <a:ext cx="5372100" cy="246221"/>
          </a:xfrm>
          <a:prstGeom prst="rect">
            <a:avLst/>
          </a:prstGeom>
          <a:noFill/>
        </p:spPr>
        <p:txBody>
          <a:bodyPr vert="horz" lIns="0" tIns="0" rIns="0" bIns="0" rtlCol="0">
            <a:spAutoFit/>
          </a:bodyPr>
          <a:lstStyle/>
          <a:p>
            <a:r>
              <a:rPr lang="en-US" altLang="zh-CN" sz="1600">
                <a:solidFill>
                  <a:srgbClr val="23343B"/>
                </a:solidFill>
                <a:latin typeface="Aptos" panose="020B0004020202020204" pitchFamily="34" charset="0"/>
              </a:rPr>
              <a:t>Exclude, restore or replace a page in its original position</a:t>
            </a:r>
            <a:endParaRPr lang="zh-CN" altLang="en-US" sz="1600">
              <a:solidFill>
                <a:srgbClr val="23343B"/>
              </a:solidFill>
              <a:latin typeface="Aptos" panose="020B0004020202020204" pitchFamily="34" charset="0"/>
            </a:endParaRPr>
          </a:p>
        </p:txBody>
      </p:sp>
      <p:sp>
        <p:nvSpPr>
          <p:cNvPr id="11" name="椭圆 10">
            <a:extLst>
              <a:ext uri="{FF2B5EF4-FFF2-40B4-BE49-F238E27FC236}">
                <a16:creationId xmlns:a16="http://schemas.microsoft.com/office/drawing/2014/main" id="{3A968925-CEA3-0283-46E7-6BEB21509D58}"/>
              </a:ext>
            </a:extLst>
          </p:cNvPr>
          <p:cNvSpPr/>
          <p:nvPr/>
        </p:nvSpPr>
        <p:spPr>
          <a:xfrm>
            <a:off x="685800" y="3581400"/>
            <a:ext cx="114300" cy="114300"/>
          </a:xfrm>
          <a:prstGeom prst="ellipse">
            <a:avLst/>
          </a:prstGeom>
          <a:solidFill>
            <a:srgbClr val="E89A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AF726018-5310-1A42-CFB3-C6D01FE8D086}"/>
              </a:ext>
            </a:extLst>
          </p:cNvPr>
          <p:cNvSpPr txBox="1"/>
          <p:nvPr/>
        </p:nvSpPr>
        <p:spPr>
          <a:xfrm>
            <a:off x="965200" y="3492500"/>
            <a:ext cx="5372100" cy="246221"/>
          </a:xfrm>
          <a:prstGeom prst="rect">
            <a:avLst/>
          </a:prstGeom>
          <a:noFill/>
        </p:spPr>
        <p:txBody>
          <a:bodyPr vert="horz" lIns="0" tIns="0" rIns="0" bIns="0" rtlCol="0">
            <a:spAutoFit/>
          </a:bodyPr>
          <a:lstStyle/>
          <a:p>
            <a:r>
              <a:rPr lang="en-US" altLang="zh-CN" sz="1600">
                <a:solidFill>
                  <a:srgbClr val="23343B"/>
                </a:solidFill>
                <a:latin typeface="Aptos" panose="020B0004020202020204" pitchFamily="34" charset="0"/>
              </a:rPr>
              <a:t>Generate one complete PDF or a packaged set by sequence</a:t>
            </a:r>
            <a:endParaRPr lang="zh-CN" altLang="en-US" sz="1600">
              <a:solidFill>
                <a:srgbClr val="23343B"/>
              </a:solidFill>
              <a:latin typeface="Aptos" panose="020B0004020202020204" pitchFamily="34" charset="0"/>
            </a:endParaRPr>
          </a:p>
        </p:txBody>
      </p:sp>
      <p:sp>
        <p:nvSpPr>
          <p:cNvPr id="13" name="椭圆 12">
            <a:extLst>
              <a:ext uri="{FF2B5EF4-FFF2-40B4-BE49-F238E27FC236}">
                <a16:creationId xmlns:a16="http://schemas.microsoft.com/office/drawing/2014/main" id="{F4C3F9E9-724F-6BA9-45BD-506490B1CAEC}"/>
              </a:ext>
            </a:extLst>
          </p:cNvPr>
          <p:cNvSpPr/>
          <p:nvPr/>
        </p:nvSpPr>
        <p:spPr>
          <a:xfrm>
            <a:off x="685800" y="4470400"/>
            <a:ext cx="114300" cy="114300"/>
          </a:xfrm>
          <a:prstGeom prst="ellipse">
            <a:avLst/>
          </a:prstGeom>
          <a:solidFill>
            <a:srgbClr val="E89A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46E4209C-2863-EF56-D222-32731ABA1CAB}"/>
              </a:ext>
            </a:extLst>
          </p:cNvPr>
          <p:cNvSpPr txBox="1"/>
          <p:nvPr/>
        </p:nvSpPr>
        <p:spPr>
          <a:xfrm>
            <a:off x="965200" y="4381500"/>
            <a:ext cx="5372100" cy="246221"/>
          </a:xfrm>
          <a:prstGeom prst="rect">
            <a:avLst/>
          </a:prstGeom>
          <a:noFill/>
        </p:spPr>
        <p:txBody>
          <a:bodyPr vert="horz" lIns="0" tIns="0" rIns="0" bIns="0" rtlCol="0">
            <a:spAutoFit/>
          </a:bodyPr>
          <a:lstStyle/>
          <a:p>
            <a:r>
              <a:rPr lang="en-US" altLang="zh-CN" sz="1600">
                <a:solidFill>
                  <a:srgbClr val="23343B"/>
                </a:solidFill>
                <a:latin typeface="Aptos" panose="020B0004020202020204" pitchFamily="34" charset="0"/>
              </a:rPr>
              <a:t>Use pre-checks, progress, cancellation and failed-page retry</a:t>
            </a:r>
            <a:endParaRPr lang="zh-CN" altLang="en-US" sz="1600">
              <a:solidFill>
                <a:srgbClr val="23343B"/>
              </a:solidFill>
              <a:latin typeface="Aptos" panose="020B0004020202020204" pitchFamily="34" charset="0"/>
            </a:endParaRPr>
          </a:p>
        </p:txBody>
      </p:sp>
      <p:sp>
        <p:nvSpPr>
          <p:cNvPr id="15" name="矩形: 圆角 14">
            <a:extLst>
              <a:ext uri="{FF2B5EF4-FFF2-40B4-BE49-F238E27FC236}">
                <a16:creationId xmlns:a16="http://schemas.microsoft.com/office/drawing/2014/main" id="{B5C439B4-8D7E-CA8A-D685-CB7003589391}"/>
              </a:ext>
            </a:extLst>
          </p:cNvPr>
          <p:cNvSpPr/>
          <p:nvPr/>
        </p:nvSpPr>
        <p:spPr>
          <a:xfrm>
            <a:off x="6921500" y="1778000"/>
            <a:ext cx="4635500" cy="3213100"/>
          </a:xfrm>
          <a:prstGeom prst="roundRect">
            <a:avLst/>
          </a:prstGeom>
          <a:solidFill>
            <a:srgbClr val="FFFFFF"/>
          </a:solidFill>
          <a:ln w="9525">
            <a:solidFill>
              <a:srgbClr val="E5EA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7" name="图片 16">
            <a:extLst>
              <a:ext uri="{FF2B5EF4-FFF2-40B4-BE49-F238E27FC236}">
                <a16:creationId xmlns:a16="http://schemas.microsoft.com/office/drawing/2014/main" id="{C21EAACC-76E4-5828-FC6D-41152B7037F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0" y="1841500"/>
            <a:ext cx="4508500" cy="3086100"/>
          </a:xfrm>
          <a:prstGeom prst="rect">
            <a:avLst/>
          </a:prstGeom>
        </p:spPr>
      </p:pic>
      <p:sp>
        <p:nvSpPr>
          <p:cNvPr id="18" name="文本框 17">
            <a:extLst>
              <a:ext uri="{FF2B5EF4-FFF2-40B4-BE49-F238E27FC236}">
                <a16:creationId xmlns:a16="http://schemas.microsoft.com/office/drawing/2014/main" id="{9BCC17B2-CC1C-00FA-8C4F-7E7859FEA076}"/>
              </a:ext>
            </a:extLst>
          </p:cNvPr>
          <p:cNvSpPr txBox="1"/>
          <p:nvPr/>
        </p:nvSpPr>
        <p:spPr>
          <a:xfrm>
            <a:off x="6985000" y="5168900"/>
            <a:ext cx="4508500" cy="153888"/>
          </a:xfrm>
          <a:prstGeom prst="rect">
            <a:avLst/>
          </a:prstGeom>
          <a:noFill/>
        </p:spPr>
        <p:txBody>
          <a:bodyPr vert="horz" lIns="0" tIns="0" rIns="0" bIns="0" rtlCol="0">
            <a:spAutoFit/>
          </a:bodyPr>
          <a:lstStyle/>
          <a:p>
            <a:r>
              <a:rPr lang="en-US" altLang="zh-CN" sz="1000" b="1">
                <a:solidFill>
                  <a:srgbClr val="2F9E75"/>
                </a:solidFill>
                <a:latin typeface="Aptos" panose="020B0004020202020204" pitchFamily="34" charset="0"/>
              </a:rPr>
              <a:t>TURN COMPLEX DRAWINGS INTO CLEAR SCENARIOS</a:t>
            </a:r>
            <a:endParaRPr lang="zh-CN" altLang="en-US" sz="1000" b="1">
              <a:solidFill>
                <a:srgbClr val="2F9E75"/>
              </a:solidFill>
              <a:latin typeface="Aptos" panose="020B0004020202020204" pitchFamily="34" charset="0"/>
            </a:endParaRPr>
          </a:p>
        </p:txBody>
      </p:sp>
    </p:spTree>
    <p:extLst>
      <p:ext uri="{BB962C8B-B14F-4D97-AF65-F5344CB8AC3E}">
        <p14:creationId xmlns:p14="http://schemas.microsoft.com/office/powerpoint/2010/main" val="8927855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71CD863A-8EE6-0B12-E7C8-87B9D2C7D9F5}"/>
              </a:ext>
            </a:extLst>
          </p:cNvPr>
          <p:cNvSpPr txBox="1"/>
          <p:nvPr/>
        </p:nvSpPr>
        <p:spPr>
          <a:xfrm>
            <a:off x="533400" y="254000"/>
            <a:ext cx="8255000" cy="138499"/>
          </a:xfrm>
          <a:prstGeom prst="rect">
            <a:avLst/>
          </a:prstGeom>
          <a:noFill/>
        </p:spPr>
        <p:txBody>
          <a:bodyPr vert="horz" lIns="0" tIns="0" rIns="0" bIns="0" rtlCol="0">
            <a:spAutoFit/>
          </a:bodyPr>
          <a:lstStyle/>
          <a:p>
            <a:r>
              <a:rPr lang="en-US" altLang="zh-CN" sz="900" b="1">
                <a:solidFill>
                  <a:srgbClr val="2F9E75"/>
                </a:solidFill>
                <a:latin typeface="Aptos" panose="020B0004020202020204" pitchFamily="34" charset="0"/>
              </a:rPr>
              <a:t>PROJECT STATUS</a:t>
            </a:r>
            <a:endParaRPr lang="zh-CN" altLang="en-US" sz="900" b="1">
              <a:solidFill>
                <a:srgbClr val="2F9E75"/>
              </a:solidFill>
              <a:latin typeface="Aptos" panose="020B0004020202020204" pitchFamily="34" charset="0"/>
            </a:endParaRPr>
          </a:p>
        </p:txBody>
      </p:sp>
      <p:sp>
        <p:nvSpPr>
          <p:cNvPr id="3" name="文本框 2">
            <a:extLst>
              <a:ext uri="{FF2B5EF4-FFF2-40B4-BE49-F238E27FC236}">
                <a16:creationId xmlns:a16="http://schemas.microsoft.com/office/drawing/2014/main" id="{B43E8AB2-00F8-3F56-2E99-AE1562FF5BAE}"/>
              </a:ext>
            </a:extLst>
          </p:cNvPr>
          <p:cNvSpPr txBox="1"/>
          <p:nvPr/>
        </p:nvSpPr>
        <p:spPr>
          <a:xfrm>
            <a:off x="533400" y="558800"/>
            <a:ext cx="9779000" cy="400110"/>
          </a:xfrm>
          <a:prstGeom prst="rect">
            <a:avLst/>
          </a:prstGeom>
          <a:noFill/>
        </p:spPr>
        <p:txBody>
          <a:bodyPr vert="horz" lIns="0" tIns="0" rIns="0" bIns="0" rtlCol="0">
            <a:spAutoFit/>
          </a:bodyPr>
          <a:lstStyle/>
          <a:p>
            <a:r>
              <a:rPr lang="en-US" altLang="zh-CN" sz="2600" b="1">
                <a:solidFill>
                  <a:srgbClr val="23343B"/>
                </a:solidFill>
                <a:latin typeface="Aptos Display" panose="020B0004020202020204" pitchFamily="34" charset="0"/>
              </a:rPr>
              <a:t>Demo today, customer validation next</a:t>
            </a:r>
            <a:endParaRPr lang="zh-CN" altLang="en-US" sz="2600" b="1">
              <a:solidFill>
                <a:srgbClr val="23343B"/>
              </a:solidFill>
              <a:latin typeface="Aptos Display" panose="020B0004020202020204" pitchFamily="34" charset="0"/>
            </a:endParaRPr>
          </a:p>
        </p:txBody>
      </p:sp>
      <p:cxnSp>
        <p:nvCxnSpPr>
          <p:cNvPr id="4" name="直接连接符 3">
            <a:extLst>
              <a:ext uri="{FF2B5EF4-FFF2-40B4-BE49-F238E27FC236}">
                <a16:creationId xmlns:a16="http://schemas.microsoft.com/office/drawing/2014/main" id="{9239E8B3-4145-C265-23C8-722062D9B9AA}"/>
              </a:ext>
            </a:extLst>
          </p:cNvPr>
          <p:cNvCxnSpPr/>
          <p:nvPr/>
        </p:nvCxnSpPr>
        <p:spPr>
          <a:xfrm>
            <a:off x="533400" y="1231900"/>
            <a:ext cx="11125200" cy="0"/>
          </a:xfrm>
          <a:prstGeom prst="line">
            <a:avLst/>
          </a:prstGeom>
          <a:ln w="12700">
            <a:solidFill>
              <a:srgbClr val="E5EAE8"/>
            </a:solidFill>
          </a:ln>
        </p:spPr>
        <p:style>
          <a:lnRef idx="2">
            <a:schemeClr val="accent1"/>
          </a:lnRef>
          <a:fillRef idx="0">
            <a:schemeClr val="accent1"/>
          </a:fillRef>
          <a:effectRef idx="1">
            <a:schemeClr val="accent1"/>
          </a:effectRef>
          <a:fontRef idx="minor">
            <a:schemeClr val="tx1"/>
          </a:fontRef>
        </p:style>
      </p:cxnSp>
      <p:sp>
        <p:nvSpPr>
          <p:cNvPr id="5" name="文本框 4">
            <a:extLst>
              <a:ext uri="{FF2B5EF4-FFF2-40B4-BE49-F238E27FC236}">
                <a16:creationId xmlns:a16="http://schemas.microsoft.com/office/drawing/2014/main" id="{D5EA1E0F-33AB-13E9-6CA2-27664AE8B7BB}"/>
              </a:ext>
            </a:extLst>
          </p:cNvPr>
          <p:cNvSpPr txBox="1"/>
          <p:nvPr/>
        </p:nvSpPr>
        <p:spPr>
          <a:xfrm>
            <a:off x="11303000" y="254000"/>
            <a:ext cx="355600" cy="138499"/>
          </a:xfrm>
          <a:prstGeom prst="rect">
            <a:avLst/>
          </a:prstGeom>
          <a:noFill/>
        </p:spPr>
        <p:txBody>
          <a:bodyPr vert="horz" lIns="0" tIns="0" rIns="0" bIns="0" rtlCol="0">
            <a:spAutoFit/>
          </a:bodyPr>
          <a:lstStyle/>
          <a:p>
            <a:pPr algn="r"/>
            <a:r>
              <a:rPr lang="en-US" altLang="zh-CN" sz="900" b="1">
                <a:solidFill>
                  <a:srgbClr val="66757B"/>
                </a:solidFill>
                <a:latin typeface="Aptos" panose="020B0004020202020204" pitchFamily="34" charset="0"/>
              </a:rPr>
              <a:t>10</a:t>
            </a:r>
            <a:endParaRPr lang="zh-CN" altLang="en-US" sz="900" b="1">
              <a:solidFill>
                <a:srgbClr val="66757B"/>
              </a:solidFill>
              <a:latin typeface="Aptos" panose="020B0004020202020204" pitchFamily="34" charset="0"/>
            </a:endParaRPr>
          </a:p>
        </p:txBody>
      </p:sp>
      <p:sp>
        <p:nvSpPr>
          <p:cNvPr id="6" name="文本框 5">
            <a:extLst>
              <a:ext uri="{FF2B5EF4-FFF2-40B4-BE49-F238E27FC236}">
                <a16:creationId xmlns:a16="http://schemas.microsoft.com/office/drawing/2014/main" id="{E464D357-4697-499C-5E1E-897D3D7E1579}"/>
              </a:ext>
            </a:extLst>
          </p:cNvPr>
          <p:cNvSpPr txBox="1"/>
          <p:nvPr/>
        </p:nvSpPr>
        <p:spPr>
          <a:xfrm>
            <a:off x="533400" y="6578600"/>
            <a:ext cx="6350000" cy="107722"/>
          </a:xfrm>
          <a:prstGeom prst="rect">
            <a:avLst/>
          </a:prstGeom>
          <a:noFill/>
        </p:spPr>
        <p:txBody>
          <a:bodyPr vert="horz" lIns="0" tIns="0" rIns="0" bIns="0" rtlCol="0">
            <a:spAutoFit/>
          </a:bodyPr>
          <a:lstStyle/>
          <a:p>
            <a:r>
              <a:rPr lang="en-US" altLang="zh-CN" sz="700" b="1">
                <a:solidFill>
                  <a:srgbClr val="66757B"/>
                </a:solidFill>
                <a:latin typeface="Aptos" panose="020B0004020202020204" pitchFamily="34" charset="0"/>
              </a:rPr>
              <a:t>HIGHLIGHTED FLOW PATH SOFTWARE · CUSTOMER PRESENTATION</a:t>
            </a:r>
            <a:endParaRPr lang="zh-CN" altLang="en-US" sz="700" b="1">
              <a:solidFill>
                <a:srgbClr val="66757B"/>
              </a:solidFill>
              <a:latin typeface="Aptos" panose="020B0004020202020204" pitchFamily="34" charset="0"/>
            </a:endParaRPr>
          </a:p>
        </p:txBody>
      </p:sp>
      <p:sp>
        <p:nvSpPr>
          <p:cNvPr id="7" name="矩形: 圆角 6">
            <a:extLst>
              <a:ext uri="{FF2B5EF4-FFF2-40B4-BE49-F238E27FC236}">
                <a16:creationId xmlns:a16="http://schemas.microsoft.com/office/drawing/2014/main" id="{E3153555-7450-875F-80E4-D79BE5B03B17}"/>
              </a:ext>
            </a:extLst>
          </p:cNvPr>
          <p:cNvSpPr/>
          <p:nvPr/>
        </p:nvSpPr>
        <p:spPr>
          <a:xfrm>
            <a:off x="609600" y="1714500"/>
            <a:ext cx="3403600" cy="3746500"/>
          </a:xfrm>
          <a:prstGeom prst="roundRect">
            <a:avLst/>
          </a:prstGeom>
          <a:solidFill>
            <a:srgbClr val="FFFFFF"/>
          </a:solidFill>
          <a:ln w="9525">
            <a:solidFill>
              <a:srgbClr val="E5EA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56198937-FA95-AF7F-B54E-580DF699F849}"/>
              </a:ext>
            </a:extLst>
          </p:cNvPr>
          <p:cNvSpPr/>
          <p:nvPr/>
        </p:nvSpPr>
        <p:spPr>
          <a:xfrm>
            <a:off x="609600" y="1714500"/>
            <a:ext cx="3403600" cy="114300"/>
          </a:xfrm>
          <a:prstGeom prst="rect">
            <a:avLst/>
          </a:prstGeom>
          <a:solidFill>
            <a:srgbClr val="2F9E75"/>
          </a:solidFill>
          <a:ln w="9525">
            <a:solidFill>
              <a:srgbClr val="2F9E7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58EE9147-E3BD-1FED-1813-BDDE2A5255D1}"/>
              </a:ext>
            </a:extLst>
          </p:cNvPr>
          <p:cNvSpPr txBox="1"/>
          <p:nvPr/>
        </p:nvSpPr>
        <p:spPr>
          <a:xfrm>
            <a:off x="863600" y="2095500"/>
            <a:ext cx="2921000" cy="184666"/>
          </a:xfrm>
          <a:prstGeom prst="rect">
            <a:avLst/>
          </a:prstGeom>
          <a:noFill/>
        </p:spPr>
        <p:txBody>
          <a:bodyPr vert="horz" lIns="0" tIns="0" rIns="0" bIns="0" rtlCol="0">
            <a:spAutoFit/>
          </a:bodyPr>
          <a:lstStyle/>
          <a:p>
            <a:r>
              <a:rPr lang="en-US" altLang="zh-CN" sz="1200" b="1">
                <a:solidFill>
                  <a:srgbClr val="2F9E75"/>
                </a:solidFill>
                <a:latin typeface="Aptos" panose="020B0004020202020204" pitchFamily="34" charset="0"/>
              </a:rPr>
              <a:t>AVAILABLE IN THE DEMO</a:t>
            </a:r>
            <a:endParaRPr lang="zh-CN" altLang="en-US" sz="1200" b="1">
              <a:solidFill>
                <a:srgbClr val="2F9E75"/>
              </a:solidFill>
              <a:latin typeface="Aptos" panose="020B0004020202020204" pitchFamily="34" charset="0"/>
            </a:endParaRPr>
          </a:p>
        </p:txBody>
      </p:sp>
      <p:sp>
        <p:nvSpPr>
          <p:cNvPr id="10" name="椭圆 9">
            <a:extLst>
              <a:ext uri="{FF2B5EF4-FFF2-40B4-BE49-F238E27FC236}">
                <a16:creationId xmlns:a16="http://schemas.microsoft.com/office/drawing/2014/main" id="{652C8BC7-5CFF-4F02-FE6A-446D141503D3}"/>
              </a:ext>
            </a:extLst>
          </p:cNvPr>
          <p:cNvSpPr/>
          <p:nvPr/>
        </p:nvSpPr>
        <p:spPr>
          <a:xfrm>
            <a:off x="863600" y="2946400"/>
            <a:ext cx="114300" cy="114300"/>
          </a:xfrm>
          <a:prstGeom prst="ellipse">
            <a:avLst/>
          </a:prstGeom>
          <a:solidFill>
            <a:srgbClr val="2F9E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6DE88906-7814-2BE3-27B9-C629E7947EDF}"/>
              </a:ext>
            </a:extLst>
          </p:cNvPr>
          <p:cNvSpPr txBox="1"/>
          <p:nvPr/>
        </p:nvSpPr>
        <p:spPr>
          <a:xfrm>
            <a:off x="1143000" y="2857500"/>
            <a:ext cx="2578100" cy="430887"/>
          </a:xfrm>
          <a:prstGeom prst="rect">
            <a:avLst/>
          </a:prstGeom>
          <a:noFill/>
        </p:spPr>
        <p:txBody>
          <a:bodyPr vert="horz" lIns="0" tIns="0" rIns="0" bIns="0" rtlCol="0">
            <a:spAutoFit/>
          </a:bodyPr>
          <a:lstStyle/>
          <a:p>
            <a:r>
              <a:rPr lang="en-US" altLang="zh-CN" sz="1400">
                <a:solidFill>
                  <a:srgbClr val="23343B"/>
                </a:solidFill>
                <a:latin typeface="Aptos" panose="020B0004020202020204" pitchFamily="34" charset="0"/>
              </a:rPr>
              <a:t>Phase management and switching</a:t>
            </a:r>
            <a:endParaRPr lang="zh-CN" altLang="en-US" sz="1400">
              <a:solidFill>
                <a:srgbClr val="23343B"/>
              </a:solidFill>
              <a:latin typeface="Aptos" panose="020B0004020202020204" pitchFamily="34" charset="0"/>
            </a:endParaRPr>
          </a:p>
        </p:txBody>
      </p:sp>
      <p:sp>
        <p:nvSpPr>
          <p:cNvPr id="12" name="椭圆 11">
            <a:extLst>
              <a:ext uri="{FF2B5EF4-FFF2-40B4-BE49-F238E27FC236}">
                <a16:creationId xmlns:a16="http://schemas.microsoft.com/office/drawing/2014/main" id="{FD314140-6321-7579-E8EC-11DFF6990BEE}"/>
              </a:ext>
            </a:extLst>
          </p:cNvPr>
          <p:cNvSpPr/>
          <p:nvPr/>
        </p:nvSpPr>
        <p:spPr>
          <a:xfrm>
            <a:off x="863600" y="3683000"/>
            <a:ext cx="114300" cy="114300"/>
          </a:xfrm>
          <a:prstGeom prst="ellipse">
            <a:avLst/>
          </a:prstGeom>
          <a:solidFill>
            <a:srgbClr val="E89A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C68F5AE7-109C-F68C-5B5B-842F4AB682BE}"/>
              </a:ext>
            </a:extLst>
          </p:cNvPr>
          <p:cNvSpPr txBox="1"/>
          <p:nvPr/>
        </p:nvSpPr>
        <p:spPr>
          <a:xfrm>
            <a:off x="1143000" y="3594100"/>
            <a:ext cx="2578100" cy="430887"/>
          </a:xfrm>
          <a:prstGeom prst="rect">
            <a:avLst/>
          </a:prstGeom>
          <a:noFill/>
        </p:spPr>
        <p:txBody>
          <a:bodyPr vert="horz" lIns="0" tIns="0" rIns="0" bIns="0" rtlCol="0">
            <a:spAutoFit/>
          </a:bodyPr>
          <a:lstStyle/>
          <a:p>
            <a:r>
              <a:rPr lang="en-US" altLang="zh-CN" sz="1400">
                <a:solidFill>
                  <a:srgbClr val="23343B"/>
                </a:solidFill>
                <a:latin typeface="Aptos" panose="020B0004020202020204" pitchFamily="34" charset="0"/>
              </a:rPr>
              <a:t>Saved paths and equipment states</a:t>
            </a:r>
            <a:endParaRPr lang="zh-CN" altLang="en-US" sz="1400">
              <a:solidFill>
                <a:srgbClr val="23343B"/>
              </a:solidFill>
              <a:latin typeface="Aptos" panose="020B0004020202020204" pitchFamily="34" charset="0"/>
            </a:endParaRPr>
          </a:p>
        </p:txBody>
      </p:sp>
      <p:sp>
        <p:nvSpPr>
          <p:cNvPr id="14" name="椭圆 13">
            <a:extLst>
              <a:ext uri="{FF2B5EF4-FFF2-40B4-BE49-F238E27FC236}">
                <a16:creationId xmlns:a16="http://schemas.microsoft.com/office/drawing/2014/main" id="{5C915158-12DE-AA9A-E278-7B131967D06A}"/>
              </a:ext>
            </a:extLst>
          </p:cNvPr>
          <p:cNvSpPr/>
          <p:nvPr/>
        </p:nvSpPr>
        <p:spPr>
          <a:xfrm>
            <a:off x="863600" y="4419600"/>
            <a:ext cx="114300" cy="114300"/>
          </a:xfrm>
          <a:prstGeom prst="ellipse">
            <a:avLst/>
          </a:prstGeom>
          <a:solidFill>
            <a:srgbClr val="E89A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557E6D55-267A-5CDB-7DDF-88049D134CEA}"/>
              </a:ext>
            </a:extLst>
          </p:cNvPr>
          <p:cNvSpPr txBox="1"/>
          <p:nvPr/>
        </p:nvSpPr>
        <p:spPr>
          <a:xfrm>
            <a:off x="1143000" y="4330700"/>
            <a:ext cx="2578100" cy="215444"/>
          </a:xfrm>
          <a:prstGeom prst="rect">
            <a:avLst/>
          </a:prstGeom>
          <a:noFill/>
        </p:spPr>
        <p:txBody>
          <a:bodyPr vert="horz" lIns="0" tIns="0" rIns="0" bIns="0" rtlCol="0">
            <a:spAutoFit/>
          </a:bodyPr>
          <a:lstStyle/>
          <a:p>
            <a:r>
              <a:rPr lang="en-US" altLang="zh-CN" sz="1400">
                <a:solidFill>
                  <a:srgbClr val="23343B"/>
                </a:solidFill>
                <a:latin typeface="Aptos" panose="020B0004020202020204" pitchFamily="34" charset="0"/>
              </a:rPr>
              <a:t>Report editing and both outputs</a:t>
            </a:r>
            <a:endParaRPr lang="zh-CN" altLang="en-US" sz="1400">
              <a:solidFill>
                <a:srgbClr val="23343B"/>
              </a:solidFill>
              <a:latin typeface="Aptos" panose="020B0004020202020204" pitchFamily="34" charset="0"/>
            </a:endParaRPr>
          </a:p>
        </p:txBody>
      </p:sp>
      <p:sp>
        <p:nvSpPr>
          <p:cNvPr id="16" name="矩形: 圆角 15">
            <a:extLst>
              <a:ext uri="{FF2B5EF4-FFF2-40B4-BE49-F238E27FC236}">
                <a16:creationId xmlns:a16="http://schemas.microsoft.com/office/drawing/2014/main" id="{48A0EE45-4958-B3C1-7311-B61E115837B2}"/>
              </a:ext>
            </a:extLst>
          </p:cNvPr>
          <p:cNvSpPr/>
          <p:nvPr/>
        </p:nvSpPr>
        <p:spPr>
          <a:xfrm>
            <a:off x="4419600" y="1714500"/>
            <a:ext cx="3403600" cy="3746500"/>
          </a:xfrm>
          <a:prstGeom prst="roundRect">
            <a:avLst/>
          </a:prstGeom>
          <a:solidFill>
            <a:srgbClr val="FFFFFF"/>
          </a:solidFill>
          <a:ln w="9525">
            <a:solidFill>
              <a:srgbClr val="E5EA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2A943817-6A76-910C-FA97-F95CC6D6D14E}"/>
              </a:ext>
            </a:extLst>
          </p:cNvPr>
          <p:cNvSpPr/>
          <p:nvPr/>
        </p:nvSpPr>
        <p:spPr>
          <a:xfrm>
            <a:off x="4419600" y="1714500"/>
            <a:ext cx="3403600" cy="114300"/>
          </a:xfrm>
          <a:prstGeom prst="rect">
            <a:avLst/>
          </a:prstGeom>
          <a:solidFill>
            <a:srgbClr val="E89A3C"/>
          </a:solidFill>
          <a:ln w="9525">
            <a:solidFill>
              <a:srgbClr val="E89A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1A886057-B187-38AA-F542-56442AC3FCB6}"/>
              </a:ext>
            </a:extLst>
          </p:cNvPr>
          <p:cNvSpPr txBox="1"/>
          <p:nvPr/>
        </p:nvSpPr>
        <p:spPr>
          <a:xfrm>
            <a:off x="4673600" y="2095500"/>
            <a:ext cx="2921000" cy="184666"/>
          </a:xfrm>
          <a:prstGeom prst="rect">
            <a:avLst/>
          </a:prstGeom>
          <a:noFill/>
        </p:spPr>
        <p:txBody>
          <a:bodyPr vert="horz" lIns="0" tIns="0" rIns="0" bIns="0" rtlCol="0">
            <a:spAutoFit/>
          </a:bodyPr>
          <a:lstStyle/>
          <a:p>
            <a:r>
              <a:rPr lang="en-US" altLang="zh-CN" sz="1200" b="1">
                <a:solidFill>
                  <a:srgbClr val="E89A3C"/>
                </a:solidFill>
                <a:latin typeface="Aptos" panose="020B0004020202020204" pitchFamily="34" charset="0"/>
              </a:rPr>
              <a:t>CUSTOMER DATA VALIDATION</a:t>
            </a:r>
            <a:endParaRPr lang="zh-CN" altLang="en-US" sz="1200" b="1">
              <a:solidFill>
                <a:srgbClr val="E89A3C"/>
              </a:solidFill>
              <a:latin typeface="Aptos" panose="020B0004020202020204" pitchFamily="34" charset="0"/>
            </a:endParaRPr>
          </a:p>
        </p:txBody>
      </p:sp>
      <p:sp>
        <p:nvSpPr>
          <p:cNvPr id="19" name="椭圆 18">
            <a:extLst>
              <a:ext uri="{FF2B5EF4-FFF2-40B4-BE49-F238E27FC236}">
                <a16:creationId xmlns:a16="http://schemas.microsoft.com/office/drawing/2014/main" id="{56A6FEC0-D630-A64E-A7F0-A481B8BA0010}"/>
              </a:ext>
            </a:extLst>
          </p:cNvPr>
          <p:cNvSpPr/>
          <p:nvPr/>
        </p:nvSpPr>
        <p:spPr>
          <a:xfrm>
            <a:off x="4673600" y="2946400"/>
            <a:ext cx="114300" cy="114300"/>
          </a:xfrm>
          <a:prstGeom prst="ellipse">
            <a:avLst/>
          </a:prstGeom>
          <a:solidFill>
            <a:srgbClr val="2F9E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8D765A03-A207-2CDF-198A-A5CC0C8738AC}"/>
              </a:ext>
            </a:extLst>
          </p:cNvPr>
          <p:cNvSpPr txBox="1"/>
          <p:nvPr/>
        </p:nvSpPr>
        <p:spPr>
          <a:xfrm>
            <a:off x="4953000" y="2857500"/>
            <a:ext cx="2578100" cy="215444"/>
          </a:xfrm>
          <a:prstGeom prst="rect">
            <a:avLst/>
          </a:prstGeom>
          <a:noFill/>
        </p:spPr>
        <p:txBody>
          <a:bodyPr vert="horz" lIns="0" tIns="0" rIns="0" bIns="0" rtlCol="0">
            <a:spAutoFit/>
          </a:bodyPr>
          <a:lstStyle/>
          <a:p>
            <a:r>
              <a:rPr lang="en-US" altLang="zh-CN" sz="1400">
                <a:solidFill>
                  <a:srgbClr val="23343B"/>
                </a:solidFill>
                <a:latin typeface="Aptos" panose="020B0004020202020204" pitchFamily="34" charset="0"/>
              </a:rPr>
              <a:t>Complex connectivity coverage</a:t>
            </a:r>
            <a:endParaRPr lang="zh-CN" altLang="en-US" sz="1400">
              <a:solidFill>
                <a:srgbClr val="23343B"/>
              </a:solidFill>
              <a:latin typeface="Aptos" panose="020B0004020202020204" pitchFamily="34" charset="0"/>
            </a:endParaRPr>
          </a:p>
        </p:txBody>
      </p:sp>
      <p:sp>
        <p:nvSpPr>
          <p:cNvPr id="21" name="椭圆 20">
            <a:extLst>
              <a:ext uri="{FF2B5EF4-FFF2-40B4-BE49-F238E27FC236}">
                <a16:creationId xmlns:a16="http://schemas.microsoft.com/office/drawing/2014/main" id="{F73BE98B-6CC5-CEF2-AF23-7628A2DC56F0}"/>
              </a:ext>
            </a:extLst>
          </p:cNvPr>
          <p:cNvSpPr/>
          <p:nvPr/>
        </p:nvSpPr>
        <p:spPr>
          <a:xfrm>
            <a:off x="4673600" y="3683000"/>
            <a:ext cx="114300" cy="114300"/>
          </a:xfrm>
          <a:prstGeom prst="ellipse">
            <a:avLst/>
          </a:prstGeom>
          <a:solidFill>
            <a:srgbClr val="E89A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3295074E-1120-AFCE-CA59-69F28030AC3C}"/>
              </a:ext>
            </a:extLst>
          </p:cNvPr>
          <p:cNvSpPr txBox="1"/>
          <p:nvPr/>
        </p:nvSpPr>
        <p:spPr>
          <a:xfrm>
            <a:off x="4953000" y="3594100"/>
            <a:ext cx="2578100" cy="215444"/>
          </a:xfrm>
          <a:prstGeom prst="rect">
            <a:avLst/>
          </a:prstGeom>
          <a:noFill/>
        </p:spPr>
        <p:txBody>
          <a:bodyPr vert="horz" lIns="0" tIns="0" rIns="0" bIns="0" rtlCol="0">
            <a:spAutoFit/>
          </a:bodyPr>
          <a:lstStyle/>
          <a:p>
            <a:r>
              <a:rPr lang="en-US" altLang="zh-CN" sz="1400">
                <a:solidFill>
                  <a:srgbClr val="23343B"/>
                </a:solidFill>
                <a:latin typeface="Aptos" panose="020B0004020202020204" pitchFamily="34" charset="0"/>
              </a:rPr>
              <a:t>Off-page links and business rules</a:t>
            </a:r>
            <a:endParaRPr lang="zh-CN" altLang="en-US" sz="1400">
              <a:solidFill>
                <a:srgbClr val="23343B"/>
              </a:solidFill>
              <a:latin typeface="Aptos" panose="020B0004020202020204" pitchFamily="34" charset="0"/>
            </a:endParaRPr>
          </a:p>
        </p:txBody>
      </p:sp>
      <p:sp>
        <p:nvSpPr>
          <p:cNvPr id="23" name="椭圆 22">
            <a:extLst>
              <a:ext uri="{FF2B5EF4-FFF2-40B4-BE49-F238E27FC236}">
                <a16:creationId xmlns:a16="http://schemas.microsoft.com/office/drawing/2014/main" id="{10E70BD3-762A-CADD-D142-8FEB91A97746}"/>
              </a:ext>
            </a:extLst>
          </p:cNvPr>
          <p:cNvSpPr/>
          <p:nvPr/>
        </p:nvSpPr>
        <p:spPr>
          <a:xfrm>
            <a:off x="4673600" y="4419600"/>
            <a:ext cx="114300" cy="114300"/>
          </a:xfrm>
          <a:prstGeom prst="ellipse">
            <a:avLst/>
          </a:prstGeom>
          <a:solidFill>
            <a:srgbClr val="E89A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AD82F4FC-BD52-CAE9-D879-6EDCAD1F6B84}"/>
              </a:ext>
            </a:extLst>
          </p:cNvPr>
          <p:cNvSpPr txBox="1"/>
          <p:nvPr/>
        </p:nvSpPr>
        <p:spPr>
          <a:xfrm>
            <a:off x="4953000" y="4330700"/>
            <a:ext cx="2578100" cy="215444"/>
          </a:xfrm>
          <a:prstGeom prst="rect">
            <a:avLst/>
          </a:prstGeom>
          <a:noFill/>
        </p:spPr>
        <p:txBody>
          <a:bodyPr vert="horz" lIns="0" tIns="0" rIns="0" bIns="0" rtlCol="0">
            <a:spAutoFit/>
          </a:bodyPr>
          <a:lstStyle/>
          <a:p>
            <a:r>
              <a:rPr lang="en-US" altLang="zh-CN" sz="1400">
                <a:solidFill>
                  <a:srgbClr val="23343B"/>
                </a:solidFill>
                <a:latin typeface="Aptos" panose="020B0004020202020204" pitchFamily="34" charset="0"/>
              </a:rPr>
              <a:t>Scale, performance and accuracy</a:t>
            </a:r>
            <a:endParaRPr lang="zh-CN" altLang="en-US" sz="1400">
              <a:solidFill>
                <a:srgbClr val="23343B"/>
              </a:solidFill>
              <a:latin typeface="Aptos" panose="020B0004020202020204" pitchFamily="34" charset="0"/>
            </a:endParaRPr>
          </a:p>
        </p:txBody>
      </p:sp>
      <p:sp>
        <p:nvSpPr>
          <p:cNvPr id="25" name="矩形: 圆角 24">
            <a:extLst>
              <a:ext uri="{FF2B5EF4-FFF2-40B4-BE49-F238E27FC236}">
                <a16:creationId xmlns:a16="http://schemas.microsoft.com/office/drawing/2014/main" id="{8EB310D4-197E-3372-8D22-E78281439DA8}"/>
              </a:ext>
            </a:extLst>
          </p:cNvPr>
          <p:cNvSpPr/>
          <p:nvPr/>
        </p:nvSpPr>
        <p:spPr>
          <a:xfrm>
            <a:off x="8229600" y="1714500"/>
            <a:ext cx="3403600" cy="3746500"/>
          </a:xfrm>
          <a:prstGeom prst="roundRect">
            <a:avLst/>
          </a:prstGeom>
          <a:solidFill>
            <a:srgbClr val="FFFFFF"/>
          </a:solidFill>
          <a:ln w="9525">
            <a:solidFill>
              <a:srgbClr val="E5EA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a:extLst>
              <a:ext uri="{FF2B5EF4-FFF2-40B4-BE49-F238E27FC236}">
                <a16:creationId xmlns:a16="http://schemas.microsoft.com/office/drawing/2014/main" id="{D67F3A2D-1942-B102-0621-FEB7494E03D3}"/>
              </a:ext>
            </a:extLst>
          </p:cNvPr>
          <p:cNvSpPr/>
          <p:nvPr/>
        </p:nvSpPr>
        <p:spPr>
          <a:xfrm>
            <a:off x="8229600" y="1714500"/>
            <a:ext cx="3403600" cy="114300"/>
          </a:xfrm>
          <a:prstGeom prst="rect">
            <a:avLst/>
          </a:prstGeom>
          <a:solidFill>
            <a:srgbClr val="66757B"/>
          </a:solidFill>
          <a:ln w="9525">
            <a:solidFill>
              <a:srgbClr val="66757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a:extLst>
              <a:ext uri="{FF2B5EF4-FFF2-40B4-BE49-F238E27FC236}">
                <a16:creationId xmlns:a16="http://schemas.microsoft.com/office/drawing/2014/main" id="{D05E0165-C661-2C1D-84D6-2358E178B9CA}"/>
              </a:ext>
            </a:extLst>
          </p:cNvPr>
          <p:cNvSpPr txBox="1"/>
          <p:nvPr/>
        </p:nvSpPr>
        <p:spPr>
          <a:xfrm>
            <a:off x="8483600" y="2095500"/>
            <a:ext cx="2921000" cy="184666"/>
          </a:xfrm>
          <a:prstGeom prst="rect">
            <a:avLst/>
          </a:prstGeom>
          <a:noFill/>
        </p:spPr>
        <p:txBody>
          <a:bodyPr vert="horz" lIns="0" tIns="0" rIns="0" bIns="0" rtlCol="0">
            <a:spAutoFit/>
          </a:bodyPr>
          <a:lstStyle/>
          <a:p>
            <a:r>
              <a:rPr lang="en-US" altLang="zh-CN" sz="1200" b="1">
                <a:solidFill>
                  <a:srgbClr val="66757B"/>
                </a:solidFill>
                <a:latin typeface="Aptos" panose="020B0004020202020204" pitchFamily="34" charset="0"/>
              </a:rPr>
              <a:t>FUTURE EXTENSIONS</a:t>
            </a:r>
            <a:endParaRPr lang="zh-CN" altLang="en-US" sz="1200" b="1">
              <a:solidFill>
                <a:srgbClr val="66757B"/>
              </a:solidFill>
              <a:latin typeface="Aptos" panose="020B0004020202020204" pitchFamily="34" charset="0"/>
            </a:endParaRPr>
          </a:p>
        </p:txBody>
      </p:sp>
      <p:sp>
        <p:nvSpPr>
          <p:cNvPr id="28" name="椭圆 27">
            <a:extLst>
              <a:ext uri="{FF2B5EF4-FFF2-40B4-BE49-F238E27FC236}">
                <a16:creationId xmlns:a16="http://schemas.microsoft.com/office/drawing/2014/main" id="{B19D581F-90A4-1F19-E7B7-0E69DA12B867}"/>
              </a:ext>
            </a:extLst>
          </p:cNvPr>
          <p:cNvSpPr/>
          <p:nvPr/>
        </p:nvSpPr>
        <p:spPr>
          <a:xfrm>
            <a:off x="8483600" y="2946400"/>
            <a:ext cx="114300" cy="114300"/>
          </a:xfrm>
          <a:prstGeom prst="ellipse">
            <a:avLst/>
          </a:prstGeom>
          <a:solidFill>
            <a:srgbClr val="2F9E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8A438C70-6E8F-3C49-853A-24A871AA5524}"/>
              </a:ext>
            </a:extLst>
          </p:cNvPr>
          <p:cNvSpPr txBox="1"/>
          <p:nvPr/>
        </p:nvSpPr>
        <p:spPr>
          <a:xfrm>
            <a:off x="8763000" y="2857500"/>
            <a:ext cx="2578100" cy="215444"/>
          </a:xfrm>
          <a:prstGeom prst="rect">
            <a:avLst/>
          </a:prstGeom>
          <a:noFill/>
        </p:spPr>
        <p:txBody>
          <a:bodyPr vert="horz" lIns="0" tIns="0" rIns="0" bIns="0" rtlCol="0">
            <a:spAutoFit/>
          </a:bodyPr>
          <a:lstStyle/>
          <a:p>
            <a:r>
              <a:rPr lang="en-US" altLang="zh-CN" sz="1400">
                <a:solidFill>
                  <a:srgbClr val="23343B"/>
                </a:solidFill>
                <a:latin typeface="Aptos" panose="020B0004020202020204" pitchFamily="34" charset="0"/>
              </a:rPr>
              <a:t>Extended automatic pathfinding</a:t>
            </a:r>
            <a:endParaRPr lang="zh-CN" altLang="en-US" sz="1400">
              <a:solidFill>
                <a:srgbClr val="23343B"/>
              </a:solidFill>
              <a:latin typeface="Aptos" panose="020B0004020202020204" pitchFamily="34" charset="0"/>
            </a:endParaRPr>
          </a:p>
        </p:txBody>
      </p:sp>
      <p:sp>
        <p:nvSpPr>
          <p:cNvPr id="30" name="椭圆 29">
            <a:extLst>
              <a:ext uri="{FF2B5EF4-FFF2-40B4-BE49-F238E27FC236}">
                <a16:creationId xmlns:a16="http://schemas.microsoft.com/office/drawing/2014/main" id="{1A542DA8-59BF-DF20-A5EE-ED91CE219F48}"/>
              </a:ext>
            </a:extLst>
          </p:cNvPr>
          <p:cNvSpPr/>
          <p:nvPr/>
        </p:nvSpPr>
        <p:spPr>
          <a:xfrm>
            <a:off x="8483600" y="3683000"/>
            <a:ext cx="114300" cy="114300"/>
          </a:xfrm>
          <a:prstGeom prst="ellipse">
            <a:avLst/>
          </a:prstGeom>
          <a:solidFill>
            <a:srgbClr val="E89A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a:extLst>
              <a:ext uri="{FF2B5EF4-FFF2-40B4-BE49-F238E27FC236}">
                <a16:creationId xmlns:a16="http://schemas.microsoft.com/office/drawing/2014/main" id="{A525B2D5-25E0-90AF-060C-F4A6AB391866}"/>
              </a:ext>
            </a:extLst>
          </p:cNvPr>
          <p:cNvSpPr txBox="1"/>
          <p:nvPr/>
        </p:nvSpPr>
        <p:spPr>
          <a:xfrm>
            <a:off x="8763000" y="3594100"/>
            <a:ext cx="2578100" cy="215444"/>
          </a:xfrm>
          <a:prstGeom prst="rect">
            <a:avLst/>
          </a:prstGeom>
          <a:noFill/>
        </p:spPr>
        <p:txBody>
          <a:bodyPr vert="horz" lIns="0" tIns="0" rIns="0" bIns="0" rtlCol="0">
            <a:spAutoFit/>
          </a:bodyPr>
          <a:lstStyle/>
          <a:p>
            <a:r>
              <a:rPr lang="en-US" altLang="zh-CN" sz="1400">
                <a:solidFill>
                  <a:srgbClr val="23343B"/>
                </a:solidFill>
                <a:latin typeface="Aptos" panose="020B0004020202020204" pitchFamily="34" charset="0"/>
              </a:rPr>
              <a:t>Version and audit controls</a:t>
            </a:r>
            <a:endParaRPr lang="zh-CN" altLang="en-US" sz="1400">
              <a:solidFill>
                <a:srgbClr val="23343B"/>
              </a:solidFill>
              <a:latin typeface="Aptos" panose="020B0004020202020204" pitchFamily="34" charset="0"/>
            </a:endParaRPr>
          </a:p>
        </p:txBody>
      </p:sp>
      <p:sp>
        <p:nvSpPr>
          <p:cNvPr id="32" name="椭圆 31">
            <a:extLst>
              <a:ext uri="{FF2B5EF4-FFF2-40B4-BE49-F238E27FC236}">
                <a16:creationId xmlns:a16="http://schemas.microsoft.com/office/drawing/2014/main" id="{12084BCC-3007-C8FB-4324-23BBF6F3EA60}"/>
              </a:ext>
            </a:extLst>
          </p:cNvPr>
          <p:cNvSpPr/>
          <p:nvPr/>
        </p:nvSpPr>
        <p:spPr>
          <a:xfrm>
            <a:off x="8483600" y="4419600"/>
            <a:ext cx="114300" cy="114300"/>
          </a:xfrm>
          <a:prstGeom prst="ellipse">
            <a:avLst/>
          </a:prstGeom>
          <a:solidFill>
            <a:srgbClr val="E89A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文本框 32">
            <a:extLst>
              <a:ext uri="{FF2B5EF4-FFF2-40B4-BE49-F238E27FC236}">
                <a16:creationId xmlns:a16="http://schemas.microsoft.com/office/drawing/2014/main" id="{6157CC6F-AEE4-CA64-FD8F-E2214AFD5A5D}"/>
              </a:ext>
            </a:extLst>
          </p:cNvPr>
          <p:cNvSpPr txBox="1"/>
          <p:nvPr/>
        </p:nvSpPr>
        <p:spPr>
          <a:xfrm>
            <a:off x="8763000" y="4330700"/>
            <a:ext cx="2578100" cy="215444"/>
          </a:xfrm>
          <a:prstGeom prst="rect">
            <a:avLst/>
          </a:prstGeom>
          <a:noFill/>
        </p:spPr>
        <p:txBody>
          <a:bodyPr vert="horz" lIns="0" tIns="0" rIns="0" bIns="0" rtlCol="0">
            <a:spAutoFit/>
          </a:bodyPr>
          <a:lstStyle/>
          <a:p>
            <a:r>
              <a:rPr lang="en-US" altLang="zh-CN" sz="1400">
                <a:solidFill>
                  <a:srgbClr val="23343B"/>
                </a:solidFill>
                <a:latin typeface="Aptos" panose="020B0004020202020204" pitchFamily="34" charset="0"/>
              </a:rPr>
              <a:t>E-signatures and validation</a:t>
            </a:r>
            <a:endParaRPr lang="zh-CN" altLang="en-US" sz="1400">
              <a:solidFill>
                <a:srgbClr val="23343B"/>
              </a:solidFill>
              <a:latin typeface="Aptos" panose="020B0004020202020204" pitchFamily="34" charset="0"/>
            </a:endParaRPr>
          </a:p>
        </p:txBody>
      </p:sp>
    </p:spTree>
    <p:extLst>
      <p:ext uri="{BB962C8B-B14F-4D97-AF65-F5344CB8AC3E}">
        <p14:creationId xmlns:p14="http://schemas.microsoft.com/office/powerpoint/2010/main" val="22223403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FE392236-89AE-5815-0B1A-F65AA5D926A7}"/>
              </a:ext>
            </a:extLst>
          </p:cNvPr>
          <p:cNvSpPr txBox="1"/>
          <p:nvPr/>
        </p:nvSpPr>
        <p:spPr>
          <a:xfrm>
            <a:off x="533400" y="254000"/>
            <a:ext cx="8255000" cy="138499"/>
          </a:xfrm>
          <a:prstGeom prst="rect">
            <a:avLst/>
          </a:prstGeom>
          <a:noFill/>
        </p:spPr>
        <p:txBody>
          <a:bodyPr vert="horz" lIns="0" tIns="0" rIns="0" bIns="0" rtlCol="0">
            <a:spAutoFit/>
          </a:bodyPr>
          <a:lstStyle/>
          <a:p>
            <a:r>
              <a:rPr lang="en-US" altLang="zh-CN" sz="900" b="1">
                <a:solidFill>
                  <a:srgbClr val="2F9E75"/>
                </a:solidFill>
                <a:latin typeface="Aptos" panose="020B0004020202020204" pitchFamily="34" charset="0"/>
              </a:rPr>
              <a:t>SUMMARY</a:t>
            </a:r>
            <a:endParaRPr lang="zh-CN" altLang="en-US" sz="900" b="1">
              <a:solidFill>
                <a:srgbClr val="2F9E75"/>
              </a:solidFill>
              <a:latin typeface="Aptos" panose="020B0004020202020204" pitchFamily="34" charset="0"/>
            </a:endParaRPr>
          </a:p>
        </p:txBody>
      </p:sp>
      <p:sp>
        <p:nvSpPr>
          <p:cNvPr id="3" name="文本框 2">
            <a:extLst>
              <a:ext uri="{FF2B5EF4-FFF2-40B4-BE49-F238E27FC236}">
                <a16:creationId xmlns:a16="http://schemas.microsoft.com/office/drawing/2014/main" id="{E9BC4C04-03C9-C637-47DA-0ADF7686CAA0}"/>
              </a:ext>
            </a:extLst>
          </p:cNvPr>
          <p:cNvSpPr txBox="1"/>
          <p:nvPr/>
        </p:nvSpPr>
        <p:spPr>
          <a:xfrm>
            <a:off x="533400" y="558800"/>
            <a:ext cx="9779000" cy="400110"/>
          </a:xfrm>
          <a:prstGeom prst="rect">
            <a:avLst/>
          </a:prstGeom>
          <a:noFill/>
        </p:spPr>
        <p:txBody>
          <a:bodyPr vert="horz" lIns="0" tIns="0" rIns="0" bIns="0" rtlCol="0">
            <a:spAutoFit/>
          </a:bodyPr>
          <a:lstStyle/>
          <a:p>
            <a:r>
              <a:rPr lang="en-US" altLang="zh-CN" sz="2600" b="1">
                <a:solidFill>
                  <a:srgbClr val="23343B"/>
                </a:solidFill>
                <a:latin typeface="Aptos Display" panose="020B0004020202020204" pitchFamily="34" charset="0"/>
              </a:rPr>
              <a:t>A digital workflow across design, simulation, review and delivery</a:t>
            </a:r>
            <a:endParaRPr lang="zh-CN" altLang="en-US" sz="2600" b="1">
              <a:solidFill>
                <a:srgbClr val="23343B"/>
              </a:solidFill>
              <a:latin typeface="Aptos Display" panose="020B0004020202020204" pitchFamily="34" charset="0"/>
            </a:endParaRPr>
          </a:p>
        </p:txBody>
      </p:sp>
      <p:cxnSp>
        <p:nvCxnSpPr>
          <p:cNvPr id="4" name="直接连接符 3">
            <a:extLst>
              <a:ext uri="{FF2B5EF4-FFF2-40B4-BE49-F238E27FC236}">
                <a16:creationId xmlns:a16="http://schemas.microsoft.com/office/drawing/2014/main" id="{72116C71-B7FE-E952-2A3C-166CDA961FFE}"/>
              </a:ext>
            </a:extLst>
          </p:cNvPr>
          <p:cNvCxnSpPr/>
          <p:nvPr/>
        </p:nvCxnSpPr>
        <p:spPr>
          <a:xfrm>
            <a:off x="533400" y="1231900"/>
            <a:ext cx="11125200" cy="0"/>
          </a:xfrm>
          <a:prstGeom prst="line">
            <a:avLst/>
          </a:prstGeom>
          <a:ln w="12700">
            <a:solidFill>
              <a:srgbClr val="E5EAE8"/>
            </a:solidFill>
          </a:ln>
        </p:spPr>
        <p:style>
          <a:lnRef idx="2">
            <a:schemeClr val="accent1"/>
          </a:lnRef>
          <a:fillRef idx="0">
            <a:schemeClr val="accent1"/>
          </a:fillRef>
          <a:effectRef idx="1">
            <a:schemeClr val="accent1"/>
          </a:effectRef>
          <a:fontRef idx="minor">
            <a:schemeClr val="tx1"/>
          </a:fontRef>
        </p:style>
      </p:cxnSp>
      <p:sp>
        <p:nvSpPr>
          <p:cNvPr id="5" name="文本框 4">
            <a:extLst>
              <a:ext uri="{FF2B5EF4-FFF2-40B4-BE49-F238E27FC236}">
                <a16:creationId xmlns:a16="http://schemas.microsoft.com/office/drawing/2014/main" id="{F5FA2F32-8A93-1F26-B9C8-2DC57F836ACA}"/>
              </a:ext>
            </a:extLst>
          </p:cNvPr>
          <p:cNvSpPr txBox="1"/>
          <p:nvPr/>
        </p:nvSpPr>
        <p:spPr>
          <a:xfrm>
            <a:off x="11303000" y="254000"/>
            <a:ext cx="355600" cy="138499"/>
          </a:xfrm>
          <a:prstGeom prst="rect">
            <a:avLst/>
          </a:prstGeom>
          <a:noFill/>
        </p:spPr>
        <p:txBody>
          <a:bodyPr vert="horz" lIns="0" tIns="0" rIns="0" bIns="0" rtlCol="0">
            <a:spAutoFit/>
          </a:bodyPr>
          <a:lstStyle/>
          <a:p>
            <a:pPr algn="r"/>
            <a:r>
              <a:rPr lang="en-US" altLang="zh-CN" sz="900" b="1">
                <a:solidFill>
                  <a:srgbClr val="66757B"/>
                </a:solidFill>
                <a:latin typeface="Aptos" panose="020B0004020202020204" pitchFamily="34" charset="0"/>
              </a:rPr>
              <a:t>11</a:t>
            </a:r>
            <a:endParaRPr lang="zh-CN" altLang="en-US" sz="900" b="1">
              <a:solidFill>
                <a:srgbClr val="66757B"/>
              </a:solidFill>
              <a:latin typeface="Aptos" panose="020B0004020202020204" pitchFamily="34" charset="0"/>
            </a:endParaRPr>
          </a:p>
        </p:txBody>
      </p:sp>
      <p:sp>
        <p:nvSpPr>
          <p:cNvPr id="6" name="文本框 5">
            <a:extLst>
              <a:ext uri="{FF2B5EF4-FFF2-40B4-BE49-F238E27FC236}">
                <a16:creationId xmlns:a16="http://schemas.microsoft.com/office/drawing/2014/main" id="{A471EF7C-7035-FC13-DA19-0534843677C8}"/>
              </a:ext>
            </a:extLst>
          </p:cNvPr>
          <p:cNvSpPr txBox="1"/>
          <p:nvPr/>
        </p:nvSpPr>
        <p:spPr>
          <a:xfrm>
            <a:off x="533400" y="6578600"/>
            <a:ext cx="6350000" cy="107722"/>
          </a:xfrm>
          <a:prstGeom prst="rect">
            <a:avLst/>
          </a:prstGeom>
          <a:noFill/>
        </p:spPr>
        <p:txBody>
          <a:bodyPr vert="horz" lIns="0" tIns="0" rIns="0" bIns="0" rtlCol="0">
            <a:spAutoFit/>
          </a:bodyPr>
          <a:lstStyle/>
          <a:p>
            <a:r>
              <a:rPr lang="en-US" altLang="zh-CN" sz="700" b="1">
                <a:solidFill>
                  <a:srgbClr val="66757B"/>
                </a:solidFill>
                <a:latin typeface="Aptos" panose="020B0004020202020204" pitchFamily="34" charset="0"/>
              </a:rPr>
              <a:t>HIGHLIGHTED FLOW PATH SOFTWARE · CUSTOMER PRESENTATION</a:t>
            </a:r>
            <a:endParaRPr lang="zh-CN" altLang="en-US" sz="700" b="1">
              <a:solidFill>
                <a:srgbClr val="66757B"/>
              </a:solidFill>
              <a:latin typeface="Aptos" panose="020B0004020202020204" pitchFamily="34" charset="0"/>
            </a:endParaRPr>
          </a:p>
        </p:txBody>
      </p:sp>
      <p:sp>
        <p:nvSpPr>
          <p:cNvPr id="7" name="文本框 6">
            <a:extLst>
              <a:ext uri="{FF2B5EF4-FFF2-40B4-BE49-F238E27FC236}">
                <a16:creationId xmlns:a16="http://schemas.microsoft.com/office/drawing/2014/main" id="{797B65A4-4326-BFB0-64DA-0D29AFB4531F}"/>
              </a:ext>
            </a:extLst>
          </p:cNvPr>
          <p:cNvSpPr txBox="1"/>
          <p:nvPr/>
        </p:nvSpPr>
        <p:spPr>
          <a:xfrm>
            <a:off x="889000" y="1905000"/>
            <a:ext cx="889000" cy="461665"/>
          </a:xfrm>
          <a:prstGeom prst="rect">
            <a:avLst/>
          </a:prstGeom>
          <a:noFill/>
        </p:spPr>
        <p:txBody>
          <a:bodyPr vert="horz" lIns="0" tIns="0" rIns="0" bIns="0" rtlCol="0">
            <a:spAutoFit/>
          </a:bodyPr>
          <a:lstStyle/>
          <a:p>
            <a:r>
              <a:rPr lang="en-US" altLang="zh-CN" sz="3000" b="1">
                <a:solidFill>
                  <a:srgbClr val="2F9E75"/>
                </a:solidFill>
                <a:latin typeface="Aptos" panose="020B0004020202020204" pitchFamily="34" charset="0"/>
              </a:rPr>
              <a:t>01</a:t>
            </a:r>
            <a:endParaRPr lang="zh-CN" altLang="en-US" sz="3000" b="1">
              <a:solidFill>
                <a:srgbClr val="2F9E75"/>
              </a:solidFill>
              <a:latin typeface="Aptos" panose="020B0004020202020204" pitchFamily="34" charset="0"/>
            </a:endParaRPr>
          </a:p>
        </p:txBody>
      </p:sp>
      <p:sp>
        <p:nvSpPr>
          <p:cNvPr id="8" name="文本框 7">
            <a:extLst>
              <a:ext uri="{FF2B5EF4-FFF2-40B4-BE49-F238E27FC236}">
                <a16:creationId xmlns:a16="http://schemas.microsoft.com/office/drawing/2014/main" id="{19D7627F-F556-2E60-12C0-4E6EFF852028}"/>
              </a:ext>
            </a:extLst>
          </p:cNvPr>
          <p:cNvSpPr txBox="1"/>
          <p:nvPr/>
        </p:nvSpPr>
        <p:spPr>
          <a:xfrm>
            <a:off x="1778000" y="2006600"/>
            <a:ext cx="2794000" cy="246221"/>
          </a:xfrm>
          <a:prstGeom prst="rect">
            <a:avLst/>
          </a:prstGeom>
          <a:noFill/>
        </p:spPr>
        <p:txBody>
          <a:bodyPr vert="horz" lIns="0" tIns="0" rIns="0" bIns="0" rtlCol="0">
            <a:spAutoFit/>
          </a:bodyPr>
          <a:lstStyle/>
          <a:p>
            <a:r>
              <a:rPr lang="en-US" altLang="zh-CN" sz="1600" b="1">
                <a:solidFill>
                  <a:srgbClr val="23343B"/>
                </a:solidFill>
                <a:latin typeface="Aptos" panose="020B0004020202020204" pitchFamily="34" charset="0"/>
              </a:rPr>
              <a:t>DIGITAL P&amp;ID</a:t>
            </a:r>
            <a:endParaRPr lang="zh-CN" altLang="en-US" sz="1600" b="1">
              <a:solidFill>
                <a:srgbClr val="23343B"/>
              </a:solidFill>
              <a:latin typeface="Aptos" panose="020B0004020202020204" pitchFamily="34" charset="0"/>
            </a:endParaRPr>
          </a:p>
        </p:txBody>
      </p:sp>
      <p:cxnSp>
        <p:nvCxnSpPr>
          <p:cNvPr id="9" name="直接连接符 8">
            <a:extLst>
              <a:ext uri="{FF2B5EF4-FFF2-40B4-BE49-F238E27FC236}">
                <a16:creationId xmlns:a16="http://schemas.microsoft.com/office/drawing/2014/main" id="{A22D6951-0F76-44F3-9B52-BC128A19ADFC}"/>
              </a:ext>
            </a:extLst>
          </p:cNvPr>
          <p:cNvCxnSpPr/>
          <p:nvPr/>
        </p:nvCxnSpPr>
        <p:spPr>
          <a:xfrm>
            <a:off x="4254500" y="2209800"/>
            <a:ext cx="1651000" cy="0"/>
          </a:xfrm>
          <a:prstGeom prst="line">
            <a:avLst/>
          </a:prstGeom>
          <a:ln w="38100">
            <a:solidFill>
              <a:srgbClr val="E89A3C"/>
            </a:solidFill>
          </a:ln>
        </p:spPr>
        <p:style>
          <a:lnRef idx="2">
            <a:schemeClr val="accent1"/>
          </a:lnRef>
          <a:fillRef idx="0">
            <a:schemeClr val="accent1"/>
          </a:fillRef>
          <a:effectRef idx="1">
            <a:schemeClr val="accent1"/>
          </a:effectRef>
          <a:fontRef idx="minor">
            <a:schemeClr val="tx1"/>
          </a:fontRef>
        </p:style>
      </p:cxnSp>
      <p:sp>
        <p:nvSpPr>
          <p:cNvPr id="10" name="文本框 9">
            <a:extLst>
              <a:ext uri="{FF2B5EF4-FFF2-40B4-BE49-F238E27FC236}">
                <a16:creationId xmlns:a16="http://schemas.microsoft.com/office/drawing/2014/main" id="{DBF5BBE1-9B65-5334-7DDF-9E384058AE0A}"/>
              </a:ext>
            </a:extLst>
          </p:cNvPr>
          <p:cNvSpPr txBox="1"/>
          <p:nvPr/>
        </p:nvSpPr>
        <p:spPr>
          <a:xfrm>
            <a:off x="6172200" y="1905000"/>
            <a:ext cx="889000" cy="461665"/>
          </a:xfrm>
          <a:prstGeom prst="rect">
            <a:avLst/>
          </a:prstGeom>
          <a:noFill/>
        </p:spPr>
        <p:txBody>
          <a:bodyPr vert="horz" lIns="0" tIns="0" rIns="0" bIns="0" rtlCol="0">
            <a:spAutoFit/>
          </a:bodyPr>
          <a:lstStyle/>
          <a:p>
            <a:r>
              <a:rPr lang="en-US" altLang="zh-CN" sz="3000" b="1">
                <a:solidFill>
                  <a:srgbClr val="2F9E75"/>
                </a:solidFill>
                <a:latin typeface="Aptos" panose="020B0004020202020204" pitchFamily="34" charset="0"/>
              </a:rPr>
              <a:t>02</a:t>
            </a:r>
            <a:endParaRPr lang="zh-CN" altLang="en-US" sz="3000" b="1">
              <a:solidFill>
                <a:srgbClr val="2F9E75"/>
              </a:solidFill>
              <a:latin typeface="Aptos" panose="020B0004020202020204" pitchFamily="34" charset="0"/>
            </a:endParaRPr>
          </a:p>
        </p:txBody>
      </p:sp>
      <p:sp>
        <p:nvSpPr>
          <p:cNvPr id="11" name="文本框 10">
            <a:extLst>
              <a:ext uri="{FF2B5EF4-FFF2-40B4-BE49-F238E27FC236}">
                <a16:creationId xmlns:a16="http://schemas.microsoft.com/office/drawing/2014/main" id="{8B1D1D9C-97B0-F60D-43FC-F49D0D2673E3}"/>
              </a:ext>
            </a:extLst>
          </p:cNvPr>
          <p:cNvSpPr txBox="1"/>
          <p:nvPr/>
        </p:nvSpPr>
        <p:spPr>
          <a:xfrm>
            <a:off x="7061200" y="2006600"/>
            <a:ext cx="3302000" cy="246221"/>
          </a:xfrm>
          <a:prstGeom prst="rect">
            <a:avLst/>
          </a:prstGeom>
          <a:noFill/>
        </p:spPr>
        <p:txBody>
          <a:bodyPr vert="horz" lIns="0" tIns="0" rIns="0" bIns="0" rtlCol="0">
            <a:spAutoFit/>
          </a:bodyPr>
          <a:lstStyle/>
          <a:p>
            <a:r>
              <a:rPr lang="en-US" altLang="zh-CN" sz="1600" b="1">
                <a:solidFill>
                  <a:srgbClr val="23343B"/>
                </a:solidFill>
                <a:latin typeface="Aptos" panose="020B0004020202020204" pitchFamily="34" charset="0"/>
              </a:rPr>
              <a:t>SIMULATE &amp; REVIEW</a:t>
            </a:r>
            <a:endParaRPr lang="zh-CN" altLang="en-US" sz="1600" b="1">
              <a:solidFill>
                <a:srgbClr val="23343B"/>
              </a:solidFill>
              <a:latin typeface="Aptos" panose="020B0004020202020204" pitchFamily="34" charset="0"/>
            </a:endParaRPr>
          </a:p>
        </p:txBody>
      </p:sp>
      <p:sp>
        <p:nvSpPr>
          <p:cNvPr id="12" name="矩形: 圆角 11">
            <a:extLst>
              <a:ext uri="{FF2B5EF4-FFF2-40B4-BE49-F238E27FC236}">
                <a16:creationId xmlns:a16="http://schemas.microsoft.com/office/drawing/2014/main" id="{321DAEA3-5D7D-7768-724B-932A7226C4BA}"/>
              </a:ext>
            </a:extLst>
          </p:cNvPr>
          <p:cNvSpPr/>
          <p:nvPr/>
        </p:nvSpPr>
        <p:spPr>
          <a:xfrm>
            <a:off x="889000" y="3276600"/>
            <a:ext cx="10414000" cy="1625600"/>
          </a:xfrm>
          <a:prstGeom prst="roundRect">
            <a:avLst/>
          </a:prstGeom>
          <a:solidFill>
            <a:srgbClr val="263F42"/>
          </a:solidFill>
          <a:ln w="9525">
            <a:solidFill>
              <a:srgbClr val="263F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6C18004F-7688-D904-EA17-FE0D1787C266}"/>
              </a:ext>
            </a:extLst>
          </p:cNvPr>
          <p:cNvSpPr txBox="1"/>
          <p:nvPr/>
        </p:nvSpPr>
        <p:spPr>
          <a:xfrm>
            <a:off x="1333500" y="3632200"/>
            <a:ext cx="9525000" cy="677108"/>
          </a:xfrm>
          <a:prstGeom prst="rect">
            <a:avLst/>
          </a:prstGeom>
          <a:noFill/>
        </p:spPr>
        <p:txBody>
          <a:bodyPr vert="horz" lIns="0" tIns="0" rIns="0" bIns="0" rtlCol="0">
            <a:spAutoFit/>
          </a:bodyPr>
          <a:lstStyle/>
          <a:p>
            <a:pPr algn="ctr"/>
            <a:r>
              <a:rPr lang="en-US" altLang="zh-CN" sz="2200" b="1">
                <a:solidFill>
                  <a:srgbClr val="FFFFFF"/>
                </a:solidFill>
                <a:latin typeface="Aptos Display" panose="020B0004020202020204" pitchFamily="34" charset="0"/>
              </a:rPr>
              <a:t>Connect CIP processes, P&amp;ID states and report output in one complete digital workflow.</a:t>
            </a:r>
            <a:endParaRPr lang="zh-CN" altLang="en-US" sz="2200" b="1">
              <a:solidFill>
                <a:srgbClr val="FFFFFF"/>
              </a:solidFill>
              <a:latin typeface="Aptos Display" panose="020B0004020202020204" pitchFamily="34" charset="0"/>
            </a:endParaRPr>
          </a:p>
        </p:txBody>
      </p:sp>
      <p:sp>
        <p:nvSpPr>
          <p:cNvPr id="14" name="文本框 13">
            <a:extLst>
              <a:ext uri="{FF2B5EF4-FFF2-40B4-BE49-F238E27FC236}">
                <a16:creationId xmlns:a16="http://schemas.microsoft.com/office/drawing/2014/main" id="{1B6AED73-1ED0-CCCE-627E-08DCCAC7F33C}"/>
              </a:ext>
            </a:extLst>
          </p:cNvPr>
          <p:cNvSpPr txBox="1"/>
          <p:nvPr/>
        </p:nvSpPr>
        <p:spPr>
          <a:xfrm>
            <a:off x="1905000" y="5334000"/>
            <a:ext cx="8382000" cy="169277"/>
          </a:xfrm>
          <a:prstGeom prst="rect">
            <a:avLst/>
          </a:prstGeom>
          <a:noFill/>
        </p:spPr>
        <p:txBody>
          <a:bodyPr vert="horz" lIns="0" tIns="0" rIns="0" bIns="0" rtlCol="0">
            <a:spAutoFit/>
          </a:bodyPr>
          <a:lstStyle/>
          <a:p>
            <a:pPr algn="ctr"/>
            <a:r>
              <a:rPr lang="en-US" altLang="zh-CN" sz="1100" b="1">
                <a:solidFill>
                  <a:srgbClr val="2F9E75"/>
                </a:solidFill>
                <a:latin typeface="Aptos" panose="020B0004020202020204" pitchFamily="34" charset="0"/>
              </a:rPr>
              <a:t>LESS REPETITION · LOWER OMISSION RISK · CONSISTENT DELIVERY</a:t>
            </a:r>
            <a:endParaRPr lang="zh-CN" altLang="en-US" sz="1100" b="1">
              <a:solidFill>
                <a:srgbClr val="2F9E75"/>
              </a:solidFill>
              <a:latin typeface="Aptos" panose="020B0004020202020204" pitchFamily="34" charset="0"/>
            </a:endParaRPr>
          </a:p>
        </p:txBody>
      </p:sp>
    </p:spTree>
    <p:extLst>
      <p:ext uri="{BB962C8B-B14F-4D97-AF65-F5344CB8AC3E}">
        <p14:creationId xmlns:p14="http://schemas.microsoft.com/office/powerpoint/2010/main" val="3887549088"/>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1163</Words>
  <Application>Microsoft Office PowerPoint</Application>
  <PresentationFormat>自定义</PresentationFormat>
  <Paragraphs>138</Paragraphs>
  <Slides>11</Slides>
  <Notes>11</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11</vt:i4>
      </vt:variant>
    </vt:vector>
  </HeadingPairs>
  <TitlesOfParts>
    <vt:vector size="17" baseType="lpstr">
      <vt:lpstr>等线</vt:lpstr>
      <vt:lpstr>等线 Light</vt:lpstr>
      <vt:lpstr>Aptos</vt:lpstr>
      <vt:lpstr>Aptos Display</vt:lpstr>
      <vt:lpstr>Arial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Sai Shang</dc:creator>
  <cp:lastModifiedBy>Sai Shang</cp:lastModifiedBy>
  <cp:revision>1</cp:revision>
  <dcterms:created xsi:type="dcterms:W3CDTF">2026-08-13T02:51:16Z</dcterms:created>
  <dcterms:modified xsi:type="dcterms:W3CDTF">2026-08-13T02:51:16Z</dcterms:modified>
</cp:coreProperties>
</file>