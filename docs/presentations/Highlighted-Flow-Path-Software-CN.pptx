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152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A2681C-D00C-47A9-880C-592525836FE5}" type="datetimeFigureOut">
              <a:rPr lang="zh-CN" altLang="en-US" smtClean="0"/>
              <a:t>2026/8/13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70C681-ADD2-43A4-9AFB-03A99BF1A559}" type="slidenum">
              <a:rPr lang="zh-CN" altLang="en-US" smtClean="0"/>
              <a:t>‹#›</a:t>
            </a:fld>
            <a:endParaRPr lang="zh-CN" altLang="en-US"/>
          </a:p>
        </p:txBody>
      </p:sp>
    </p:spTree>
    <p:extLst>
      <p:ext uri="{BB962C8B-B14F-4D97-AF65-F5344CB8AC3E}">
        <p14:creationId xmlns:p14="http://schemas.microsoft.com/office/powerpoint/2010/main" val="31471168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今天介绍的重点不是一套 </a:t>
            </a:r>
            <a:r>
              <a:rPr lang="en-US" altLang="zh-CN"/>
              <a:t>PDF </a:t>
            </a:r>
            <a:r>
              <a:rPr lang="zh-CN" altLang="en-US"/>
              <a:t>工具，而是一套面向设计阶段的 </a:t>
            </a:r>
            <a:r>
              <a:rPr lang="en-US" altLang="zh-CN"/>
              <a:t>P&amp;ID </a:t>
            </a:r>
            <a:r>
              <a:rPr lang="zh-CN" altLang="en-US"/>
              <a:t>数字流路分析与模拟软件。它服务于制药、生物反应器、配液以及 </a:t>
            </a:r>
            <a:r>
              <a:rPr lang="en-US" altLang="zh-CN"/>
              <a:t>CIP/SIP </a:t>
            </a:r>
            <a:r>
              <a:rPr lang="zh-CN" altLang="en-US"/>
              <a:t>系统，帮助工程团队更直观地确认不同工艺阶段下介质经过的路径和设备状态。</a:t>
            </a:r>
          </a:p>
        </p:txBody>
      </p:sp>
      <p:sp>
        <p:nvSpPr>
          <p:cNvPr id="4" name="灯片编号占位符 3"/>
          <p:cNvSpPr>
            <a:spLocks noGrp="1"/>
          </p:cNvSpPr>
          <p:nvPr>
            <p:ph type="sldNum" sz="quarter" idx="5"/>
          </p:nvPr>
        </p:nvSpPr>
        <p:spPr/>
        <p:txBody>
          <a:bodyPr/>
          <a:lstStyle/>
          <a:p>
            <a:fld id="{9470C681-ADD2-43A4-9AFB-03A99BF1A559}" type="slidenum">
              <a:rPr lang="zh-CN" altLang="en-US" smtClean="0"/>
              <a:t>1</a:t>
            </a:fld>
            <a:endParaRPr lang="zh-CN" altLang="en-US"/>
          </a:p>
        </p:txBody>
      </p:sp>
    </p:spTree>
    <p:extLst>
      <p:ext uri="{BB962C8B-B14F-4D97-AF65-F5344CB8AC3E}">
        <p14:creationId xmlns:p14="http://schemas.microsoft.com/office/powerpoint/2010/main" val="14034264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在 </a:t>
            </a:r>
            <a:r>
              <a:rPr lang="en-US" altLang="zh-CN"/>
              <a:t>CIP/SIP </a:t>
            </a:r>
            <a:r>
              <a:rPr lang="zh-CN" altLang="en-US"/>
              <a:t>项目中，难点不是把图纸打开，而是准确理解每个阶段介质实际经过哪里。随着系统规模扩大，人工沿线检查很容易遗漏阀门、支路或跨图连接，结果也较难在不同专业之间快速达成一致。</a:t>
            </a:r>
          </a:p>
        </p:txBody>
      </p:sp>
      <p:sp>
        <p:nvSpPr>
          <p:cNvPr id="4" name="灯片编号占位符 3"/>
          <p:cNvSpPr>
            <a:spLocks noGrp="1"/>
          </p:cNvSpPr>
          <p:nvPr>
            <p:ph type="sldNum" sz="quarter" idx="5"/>
          </p:nvPr>
        </p:nvSpPr>
        <p:spPr/>
        <p:txBody>
          <a:bodyPr/>
          <a:lstStyle/>
          <a:p>
            <a:fld id="{9470C681-ADD2-43A4-9AFB-03A99BF1A559}" type="slidenum">
              <a:rPr lang="zh-CN" altLang="en-US" smtClean="0"/>
              <a:t>2</a:t>
            </a:fld>
            <a:endParaRPr lang="zh-CN" altLang="en-US"/>
          </a:p>
        </p:txBody>
      </p:sp>
    </p:spTree>
    <p:extLst>
      <p:ext uri="{BB962C8B-B14F-4D97-AF65-F5344CB8AC3E}">
        <p14:creationId xmlns:p14="http://schemas.microsoft.com/office/powerpoint/2010/main" val="42924597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同一张 </a:t>
            </a:r>
            <a:r>
              <a:rPr lang="en-US" altLang="zh-CN"/>
              <a:t>P&amp;ID </a:t>
            </a:r>
            <a:r>
              <a:rPr lang="zh-CN" altLang="en-US"/>
              <a:t>会在不同 </a:t>
            </a:r>
            <a:r>
              <a:rPr lang="en-US" altLang="zh-CN"/>
              <a:t>Phase </a:t>
            </a:r>
            <a:r>
              <a:rPr lang="zh-CN" altLang="en-US"/>
              <a:t>下反复使用，但高亮路径和设备状态不同。如果依靠人工复制和标注，不仅工作量线性增长，还会带来页面遗漏、顺序错误和版本不一致。报告只是这个问题链条的最后一环。</a:t>
            </a:r>
          </a:p>
        </p:txBody>
      </p:sp>
      <p:sp>
        <p:nvSpPr>
          <p:cNvPr id="4" name="灯片编号占位符 3"/>
          <p:cNvSpPr>
            <a:spLocks noGrp="1"/>
          </p:cNvSpPr>
          <p:nvPr>
            <p:ph type="sldNum" sz="quarter" idx="5"/>
          </p:nvPr>
        </p:nvSpPr>
        <p:spPr/>
        <p:txBody>
          <a:bodyPr/>
          <a:lstStyle/>
          <a:p>
            <a:fld id="{9470C681-ADD2-43A4-9AFB-03A99BF1A559}" type="slidenum">
              <a:rPr lang="zh-CN" altLang="en-US" smtClean="0"/>
              <a:t>3</a:t>
            </a:fld>
            <a:endParaRPr lang="zh-CN" altLang="en-US"/>
          </a:p>
        </p:txBody>
      </p:sp>
    </p:spTree>
    <p:extLst>
      <p:ext uri="{BB962C8B-B14F-4D97-AF65-F5344CB8AC3E}">
        <p14:creationId xmlns:p14="http://schemas.microsoft.com/office/powerpoint/2010/main" val="2949830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我们的方案先把 </a:t>
            </a:r>
            <a:r>
              <a:rPr lang="en-US" altLang="zh-CN"/>
              <a:t>P&amp;ID </a:t>
            </a:r>
            <a:r>
              <a:rPr lang="zh-CN" altLang="en-US"/>
              <a:t>作为可交互的工程对象，再围绕流路分析和 </a:t>
            </a:r>
            <a:r>
              <a:rPr lang="en-US" altLang="zh-CN"/>
              <a:t>Phase </a:t>
            </a:r>
            <a:r>
              <a:rPr lang="zh-CN" altLang="en-US"/>
              <a:t>状态模拟开展工作。设计人员完成确认后，结果可用于跨专业审查，并自动沉淀为后续交付资料。</a:t>
            </a:r>
          </a:p>
        </p:txBody>
      </p:sp>
      <p:sp>
        <p:nvSpPr>
          <p:cNvPr id="4" name="灯片编号占位符 3"/>
          <p:cNvSpPr>
            <a:spLocks noGrp="1"/>
          </p:cNvSpPr>
          <p:nvPr>
            <p:ph type="sldNum" sz="quarter" idx="5"/>
          </p:nvPr>
        </p:nvSpPr>
        <p:spPr/>
        <p:txBody>
          <a:bodyPr/>
          <a:lstStyle/>
          <a:p>
            <a:fld id="{9470C681-ADD2-43A4-9AFB-03A99BF1A559}" type="slidenum">
              <a:rPr lang="zh-CN" altLang="en-US" smtClean="0"/>
              <a:t>4</a:t>
            </a:fld>
            <a:endParaRPr lang="zh-CN" altLang="en-US"/>
          </a:p>
        </p:txBody>
      </p:sp>
    </p:spTree>
    <p:extLst>
      <p:ext uri="{BB962C8B-B14F-4D97-AF65-F5344CB8AC3E}">
        <p14:creationId xmlns:p14="http://schemas.microsoft.com/office/powerpoint/2010/main" val="18205976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这是本项目最核心的能力。系统依据 </a:t>
            </a:r>
            <a:r>
              <a:rPr lang="en-US" altLang="zh-CN"/>
              <a:t>P&amp;ID </a:t>
            </a:r>
            <a:r>
              <a:rPr lang="zh-CN" altLang="en-US"/>
              <a:t>的连接关系辅助形成候选流路，并把相关管线和设备状态直观呈现出来。自动分析用于提高效率和降低遗漏风险，最终结果仍由工程师复核确认。</a:t>
            </a:r>
          </a:p>
        </p:txBody>
      </p:sp>
      <p:sp>
        <p:nvSpPr>
          <p:cNvPr id="4" name="灯片编号占位符 3"/>
          <p:cNvSpPr>
            <a:spLocks noGrp="1"/>
          </p:cNvSpPr>
          <p:nvPr>
            <p:ph type="sldNum" sz="quarter" idx="5"/>
          </p:nvPr>
        </p:nvSpPr>
        <p:spPr/>
        <p:txBody>
          <a:bodyPr/>
          <a:lstStyle/>
          <a:p>
            <a:fld id="{9470C681-ADD2-43A4-9AFB-03A99BF1A559}" type="slidenum">
              <a:rPr lang="zh-CN" altLang="en-US" smtClean="0"/>
              <a:t>5</a:t>
            </a:fld>
            <a:endParaRPr lang="zh-CN" altLang="en-US"/>
          </a:p>
        </p:txBody>
      </p:sp>
    </p:spTree>
    <p:extLst>
      <p:ext uri="{BB962C8B-B14F-4D97-AF65-F5344CB8AC3E}">
        <p14:creationId xmlns:p14="http://schemas.microsoft.com/office/powerpoint/2010/main" val="2605330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系统按照实际业务结构管理结果。一个工艺下可以有多个清洗序列，每个序列包含多个阶段。每个阶段保存自己的流路和设备状态，因此工程师可以在同一张图上快速比较预冲洗、循环清洗、排放等不同场景。</a:t>
            </a:r>
          </a:p>
        </p:txBody>
      </p:sp>
      <p:sp>
        <p:nvSpPr>
          <p:cNvPr id="4" name="灯片编号占位符 3"/>
          <p:cNvSpPr>
            <a:spLocks noGrp="1"/>
          </p:cNvSpPr>
          <p:nvPr>
            <p:ph type="sldNum" sz="quarter" idx="5"/>
          </p:nvPr>
        </p:nvSpPr>
        <p:spPr/>
        <p:txBody>
          <a:bodyPr/>
          <a:lstStyle/>
          <a:p>
            <a:fld id="{9470C681-ADD2-43A4-9AFB-03A99BF1A559}" type="slidenum">
              <a:rPr lang="zh-CN" altLang="en-US" smtClean="0"/>
              <a:t>6</a:t>
            </a:fld>
            <a:endParaRPr lang="zh-CN" altLang="en-US"/>
          </a:p>
        </p:txBody>
      </p:sp>
    </p:spTree>
    <p:extLst>
      <p:ext uri="{BB962C8B-B14F-4D97-AF65-F5344CB8AC3E}">
        <p14:creationId xmlns:p14="http://schemas.microsoft.com/office/powerpoint/2010/main" val="21431696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CIP </a:t>
            </a:r>
            <a:r>
              <a:rPr lang="zh-CN" altLang="en-US"/>
              <a:t>和 </a:t>
            </a:r>
            <a:r>
              <a:rPr lang="en-US" altLang="zh-CN"/>
              <a:t>SIP </a:t>
            </a:r>
            <a:r>
              <a:rPr lang="zh-CN" altLang="en-US"/>
              <a:t>是最典型的切入场景，但能力并不局限于清洗。只要业务需要围绕 </a:t>
            </a:r>
            <a:r>
              <a:rPr lang="en-US" altLang="zh-CN"/>
              <a:t>P&amp;ID </a:t>
            </a:r>
            <a:r>
              <a:rPr lang="zh-CN" altLang="en-US"/>
              <a:t>分析介质路径和设备状态，就可以扩展到配液、物料转移、生物反应器以及 </a:t>
            </a:r>
            <a:r>
              <a:rPr lang="en-US" altLang="zh-CN"/>
              <a:t>WFI</a:t>
            </a:r>
            <a:r>
              <a:rPr lang="zh-CN" altLang="en-US"/>
              <a:t>、</a:t>
            </a:r>
            <a:r>
              <a:rPr lang="en-US" altLang="zh-CN"/>
              <a:t>PW</a:t>
            </a:r>
            <a:r>
              <a:rPr lang="zh-CN" altLang="en-US"/>
              <a:t>、洁净蒸汽等公用工程。</a:t>
            </a:r>
          </a:p>
        </p:txBody>
      </p:sp>
      <p:sp>
        <p:nvSpPr>
          <p:cNvPr id="4" name="灯片编号占位符 3"/>
          <p:cNvSpPr>
            <a:spLocks noGrp="1"/>
          </p:cNvSpPr>
          <p:nvPr>
            <p:ph type="sldNum" sz="quarter" idx="5"/>
          </p:nvPr>
        </p:nvSpPr>
        <p:spPr/>
        <p:txBody>
          <a:bodyPr/>
          <a:lstStyle/>
          <a:p>
            <a:fld id="{9470C681-ADD2-43A4-9AFB-03A99BF1A559}" type="slidenum">
              <a:rPr lang="zh-CN" altLang="en-US" smtClean="0"/>
              <a:t>7</a:t>
            </a:fld>
            <a:endParaRPr lang="zh-CN" altLang="en-US"/>
          </a:p>
        </p:txBody>
      </p:sp>
    </p:spTree>
    <p:extLst>
      <p:ext uri="{BB962C8B-B14F-4D97-AF65-F5344CB8AC3E}">
        <p14:creationId xmlns:p14="http://schemas.microsoft.com/office/powerpoint/2010/main" val="6983621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高亮流路把复杂的设计判断变成所有参与者都能看到的场景。工艺工程师可以确认路径，机械和自动化团队可以核对设备与阀门状态，验证团队也能更早理解设计意图，从而减少反复解释和后期返工。</a:t>
            </a:r>
          </a:p>
        </p:txBody>
      </p:sp>
      <p:sp>
        <p:nvSpPr>
          <p:cNvPr id="4" name="灯片编号占位符 3"/>
          <p:cNvSpPr>
            <a:spLocks noGrp="1"/>
          </p:cNvSpPr>
          <p:nvPr>
            <p:ph type="sldNum" sz="quarter" idx="5"/>
          </p:nvPr>
        </p:nvSpPr>
        <p:spPr/>
        <p:txBody>
          <a:bodyPr/>
          <a:lstStyle/>
          <a:p>
            <a:fld id="{9470C681-ADD2-43A4-9AFB-03A99BF1A559}" type="slidenum">
              <a:rPr lang="zh-CN" altLang="en-US" smtClean="0"/>
              <a:t>8</a:t>
            </a:fld>
            <a:endParaRPr lang="zh-CN" altLang="en-US"/>
          </a:p>
        </p:txBody>
      </p:sp>
    </p:spTree>
    <p:extLst>
      <p:ext uri="{BB962C8B-B14F-4D97-AF65-F5344CB8AC3E}">
        <p14:creationId xmlns:p14="http://schemas.microsoft.com/office/powerpoint/2010/main" val="38216647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PDF </a:t>
            </a:r>
            <a:r>
              <a:rPr lang="zh-CN" altLang="en-US"/>
              <a:t>报告是流路分析成果的一种交付形式。系统能够按照业务顺序自动组织页面，并保留人工调整空间。这样可以降低后期整理工作量，同时减少漏页、错序和版本不一致。</a:t>
            </a:r>
          </a:p>
        </p:txBody>
      </p:sp>
      <p:sp>
        <p:nvSpPr>
          <p:cNvPr id="4" name="灯片编号占位符 3"/>
          <p:cNvSpPr>
            <a:spLocks noGrp="1"/>
          </p:cNvSpPr>
          <p:nvPr>
            <p:ph type="sldNum" sz="quarter" idx="5"/>
          </p:nvPr>
        </p:nvSpPr>
        <p:spPr/>
        <p:txBody>
          <a:bodyPr/>
          <a:lstStyle/>
          <a:p>
            <a:fld id="{9470C681-ADD2-43A4-9AFB-03A99BF1A559}" type="slidenum">
              <a:rPr lang="zh-CN" altLang="en-US" smtClean="0"/>
              <a:t>9</a:t>
            </a:fld>
            <a:endParaRPr lang="zh-CN" altLang="en-US"/>
          </a:p>
        </p:txBody>
      </p:sp>
    </p:spTree>
    <p:extLst>
      <p:ext uri="{BB962C8B-B14F-4D97-AF65-F5344CB8AC3E}">
        <p14:creationId xmlns:p14="http://schemas.microsoft.com/office/powerpoint/2010/main" val="22669225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当前 </a:t>
            </a:r>
            <a:r>
              <a:rPr lang="en-US" altLang="zh-CN"/>
              <a:t>Demo </a:t>
            </a:r>
            <a:r>
              <a:rPr lang="zh-CN" altLang="en-US"/>
              <a:t>已经打通 </a:t>
            </a:r>
            <a:r>
              <a:rPr lang="en-US" altLang="zh-CN"/>
              <a:t>Phase </a:t>
            </a:r>
            <a:r>
              <a:rPr lang="zh-CN" altLang="en-US"/>
              <a:t>管理、状态保存与切换、报告编辑和输出流程。下一步最重要的是使用客户真实 </a:t>
            </a:r>
            <a:r>
              <a:rPr lang="en-US" altLang="zh-CN"/>
              <a:t>P&amp;ID </a:t>
            </a:r>
            <a:r>
              <a:rPr lang="zh-CN" altLang="en-US"/>
              <a:t>验证复杂连接、远程连接和业务规则。审计追踪、电子签名和完整合规能力属于后续范围，当前不作为已实现能力陈述。</a:t>
            </a:r>
          </a:p>
        </p:txBody>
      </p:sp>
      <p:sp>
        <p:nvSpPr>
          <p:cNvPr id="4" name="灯片编号占位符 3"/>
          <p:cNvSpPr>
            <a:spLocks noGrp="1"/>
          </p:cNvSpPr>
          <p:nvPr>
            <p:ph type="sldNum" sz="quarter" idx="5"/>
          </p:nvPr>
        </p:nvSpPr>
        <p:spPr/>
        <p:txBody>
          <a:bodyPr/>
          <a:lstStyle/>
          <a:p>
            <a:fld id="{9470C681-ADD2-43A4-9AFB-03A99BF1A559}" type="slidenum">
              <a:rPr lang="zh-CN" altLang="en-US" smtClean="0"/>
              <a:t>10</a:t>
            </a:fld>
            <a:endParaRPr lang="zh-CN" altLang="en-US"/>
          </a:p>
        </p:txBody>
      </p:sp>
    </p:spTree>
    <p:extLst>
      <p:ext uri="{BB962C8B-B14F-4D97-AF65-F5344CB8AC3E}">
        <p14:creationId xmlns:p14="http://schemas.microsoft.com/office/powerpoint/2010/main" val="4881925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总结来说，这套软件的价值是把静态 </a:t>
            </a:r>
            <a:r>
              <a:rPr lang="en-US" altLang="zh-CN"/>
              <a:t>P&amp;ID </a:t>
            </a:r>
            <a:r>
              <a:rPr lang="zh-CN" altLang="en-US"/>
              <a:t>升级为可分析、可模拟、可审查的数字化工程对象。它减少重复劳动和遗漏风险，提高跨专业沟通与交付一致性，并为未来的版本控制、审计和合规扩展打下基础。</a:t>
            </a:r>
          </a:p>
        </p:txBody>
      </p:sp>
      <p:sp>
        <p:nvSpPr>
          <p:cNvPr id="4" name="灯片编号占位符 3"/>
          <p:cNvSpPr>
            <a:spLocks noGrp="1"/>
          </p:cNvSpPr>
          <p:nvPr>
            <p:ph type="sldNum" sz="quarter" idx="5"/>
          </p:nvPr>
        </p:nvSpPr>
        <p:spPr/>
        <p:txBody>
          <a:bodyPr/>
          <a:lstStyle/>
          <a:p>
            <a:fld id="{9470C681-ADD2-43A4-9AFB-03A99BF1A559}" type="slidenum">
              <a:rPr lang="zh-CN" altLang="en-US" smtClean="0"/>
              <a:t>11</a:t>
            </a:fld>
            <a:endParaRPr lang="zh-CN" altLang="en-US"/>
          </a:p>
        </p:txBody>
      </p:sp>
    </p:spTree>
    <p:extLst>
      <p:ext uri="{BB962C8B-B14F-4D97-AF65-F5344CB8AC3E}">
        <p14:creationId xmlns:p14="http://schemas.microsoft.com/office/powerpoint/2010/main" val="1218164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DF08C1-B451-039B-57C8-4795E93D707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A291D8F-3659-8C2E-2D8A-6353CA6B79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FE726EB-9972-DA9C-782F-6AA9D8BD0FEA}"/>
              </a:ext>
            </a:extLst>
          </p:cNvPr>
          <p:cNvSpPr>
            <a:spLocks noGrp="1"/>
          </p:cNvSpPr>
          <p:nvPr>
            <p:ph type="dt" sz="half" idx="10"/>
          </p:nvPr>
        </p:nvSpPr>
        <p:spPr/>
        <p:txBody>
          <a:bodyPr/>
          <a:lstStyle/>
          <a:p>
            <a:fld id="{EC5AB37F-94EC-4368-B5EC-3C690D5B891D}" type="datetimeFigureOut">
              <a:rPr lang="zh-CN" altLang="en-US" smtClean="0"/>
              <a:t>2026/8/13</a:t>
            </a:fld>
            <a:endParaRPr lang="zh-CN" altLang="en-US"/>
          </a:p>
        </p:txBody>
      </p:sp>
      <p:sp>
        <p:nvSpPr>
          <p:cNvPr id="5" name="页脚占位符 4">
            <a:extLst>
              <a:ext uri="{FF2B5EF4-FFF2-40B4-BE49-F238E27FC236}">
                <a16:creationId xmlns:a16="http://schemas.microsoft.com/office/drawing/2014/main" id="{F758E628-2C28-67CF-B1F9-A8A779E3383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3BC3540-BD15-CF9D-AF1E-128507AA4146}"/>
              </a:ext>
            </a:extLst>
          </p:cNvPr>
          <p:cNvSpPr>
            <a:spLocks noGrp="1"/>
          </p:cNvSpPr>
          <p:nvPr>
            <p:ph type="sldNum" sz="quarter" idx="12"/>
          </p:nvPr>
        </p:nvSpPr>
        <p:spPr/>
        <p:txBody>
          <a:bodyPr/>
          <a:lstStyle/>
          <a:p>
            <a:fld id="{C7F54855-164B-4BF8-9346-2E84CFEA2E5C}" type="slidenum">
              <a:rPr lang="zh-CN" altLang="en-US" smtClean="0"/>
              <a:t>‹#›</a:t>
            </a:fld>
            <a:endParaRPr lang="zh-CN" altLang="en-US"/>
          </a:p>
        </p:txBody>
      </p:sp>
    </p:spTree>
    <p:extLst>
      <p:ext uri="{BB962C8B-B14F-4D97-AF65-F5344CB8AC3E}">
        <p14:creationId xmlns:p14="http://schemas.microsoft.com/office/powerpoint/2010/main" val="11856604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98C94A-E5BC-5742-0643-512F3F8B072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F78FC3B-2759-5D35-A0FF-7AEE5B31C80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108D9CF-54C4-09F8-9423-6EB91D8983BC}"/>
              </a:ext>
            </a:extLst>
          </p:cNvPr>
          <p:cNvSpPr>
            <a:spLocks noGrp="1"/>
          </p:cNvSpPr>
          <p:nvPr>
            <p:ph type="dt" sz="half" idx="10"/>
          </p:nvPr>
        </p:nvSpPr>
        <p:spPr/>
        <p:txBody>
          <a:bodyPr/>
          <a:lstStyle/>
          <a:p>
            <a:fld id="{EC5AB37F-94EC-4368-B5EC-3C690D5B891D}" type="datetimeFigureOut">
              <a:rPr lang="zh-CN" altLang="en-US" smtClean="0"/>
              <a:t>2026/8/13</a:t>
            </a:fld>
            <a:endParaRPr lang="zh-CN" altLang="en-US"/>
          </a:p>
        </p:txBody>
      </p:sp>
      <p:sp>
        <p:nvSpPr>
          <p:cNvPr id="5" name="页脚占位符 4">
            <a:extLst>
              <a:ext uri="{FF2B5EF4-FFF2-40B4-BE49-F238E27FC236}">
                <a16:creationId xmlns:a16="http://schemas.microsoft.com/office/drawing/2014/main" id="{0C38554E-CC21-7B52-C058-50112267D60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5E0CA6-DD3E-CD48-9125-B90046D6EFA2}"/>
              </a:ext>
            </a:extLst>
          </p:cNvPr>
          <p:cNvSpPr>
            <a:spLocks noGrp="1"/>
          </p:cNvSpPr>
          <p:nvPr>
            <p:ph type="sldNum" sz="quarter" idx="12"/>
          </p:nvPr>
        </p:nvSpPr>
        <p:spPr/>
        <p:txBody>
          <a:bodyPr/>
          <a:lstStyle/>
          <a:p>
            <a:fld id="{C7F54855-164B-4BF8-9346-2E84CFEA2E5C}" type="slidenum">
              <a:rPr lang="zh-CN" altLang="en-US" smtClean="0"/>
              <a:t>‹#›</a:t>
            </a:fld>
            <a:endParaRPr lang="zh-CN" altLang="en-US"/>
          </a:p>
        </p:txBody>
      </p:sp>
    </p:spTree>
    <p:extLst>
      <p:ext uri="{BB962C8B-B14F-4D97-AF65-F5344CB8AC3E}">
        <p14:creationId xmlns:p14="http://schemas.microsoft.com/office/powerpoint/2010/main" val="41431962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EBEB0D-491A-9F3A-ACB5-8247F921DBBD}"/>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665EBB93-52FC-9E15-3C75-A2354DC732B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F9C8054-9E90-7A1B-14E4-2232DE62D4D5}"/>
              </a:ext>
            </a:extLst>
          </p:cNvPr>
          <p:cNvSpPr>
            <a:spLocks noGrp="1"/>
          </p:cNvSpPr>
          <p:nvPr>
            <p:ph type="dt" sz="half" idx="10"/>
          </p:nvPr>
        </p:nvSpPr>
        <p:spPr/>
        <p:txBody>
          <a:bodyPr/>
          <a:lstStyle/>
          <a:p>
            <a:fld id="{EC5AB37F-94EC-4368-B5EC-3C690D5B891D}" type="datetimeFigureOut">
              <a:rPr lang="zh-CN" altLang="en-US" smtClean="0"/>
              <a:t>2026/8/13</a:t>
            </a:fld>
            <a:endParaRPr lang="zh-CN" altLang="en-US"/>
          </a:p>
        </p:txBody>
      </p:sp>
      <p:sp>
        <p:nvSpPr>
          <p:cNvPr id="5" name="页脚占位符 4">
            <a:extLst>
              <a:ext uri="{FF2B5EF4-FFF2-40B4-BE49-F238E27FC236}">
                <a16:creationId xmlns:a16="http://schemas.microsoft.com/office/drawing/2014/main" id="{DD1B872D-11A1-1C2E-3B94-A535EF3D040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76DAA91-D776-137A-05F8-1F8B59908792}"/>
              </a:ext>
            </a:extLst>
          </p:cNvPr>
          <p:cNvSpPr>
            <a:spLocks noGrp="1"/>
          </p:cNvSpPr>
          <p:nvPr>
            <p:ph type="sldNum" sz="quarter" idx="12"/>
          </p:nvPr>
        </p:nvSpPr>
        <p:spPr/>
        <p:txBody>
          <a:bodyPr/>
          <a:lstStyle/>
          <a:p>
            <a:fld id="{C7F54855-164B-4BF8-9346-2E84CFEA2E5C}" type="slidenum">
              <a:rPr lang="zh-CN" altLang="en-US" smtClean="0"/>
              <a:t>‹#›</a:t>
            </a:fld>
            <a:endParaRPr lang="zh-CN" altLang="en-US"/>
          </a:p>
        </p:txBody>
      </p:sp>
    </p:spTree>
    <p:extLst>
      <p:ext uri="{BB962C8B-B14F-4D97-AF65-F5344CB8AC3E}">
        <p14:creationId xmlns:p14="http://schemas.microsoft.com/office/powerpoint/2010/main" val="3693007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310BEB-054D-B4B0-1FB3-A2193541506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D748F0C-C9CE-721B-82B8-2A691BE1E94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553CCCF-0053-346E-18A2-0A72F9B3BE5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6658306-DE41-08AC-46A4-5D219BA65C80}"/>
              </a:ext>
            </a:extLst>
          </p:cNvPr>
          <p:cNvSpPr>
            <a:spLocks noGrp="1"/>
          </p:cNvSpPr>
          <p:nvPr>
            <p:ph type="dt" sz="half" idx="10"/>
          </p:nvPr>
        </p:nvSpPr>
        <p:spPr/>
        <p:txBody>
          <a:bodyPr/>
          <a:lstStyle/>
          <a:p>
            <a:fld id="{EC5AB37F-94EC-4368-B5EC-3C690D5B891D}" type="datetimeFigureOut">
              <a:rPr lang="zh-CN" altLang="en-US" smtClean="0"/>
              <a:t>2026/8/13</a:t>
            </a:fld>
            <a:endParaRPr lang="zh-CN" altLang="en-US"/>
          </a:p>
        </p:txBody>
      </p:sp>
      <p:sp>
        <p:nvSpPr>
          <p:cNvPr id="6" name="页脚占位符 5">
            <a:extLst>
              <a:ext uri="{FF2B5EF4-FFF2-40B4-BE49-F238E27FC236}">
                <a16:creationId xmlns:a16="http://schemas.microsoft.com/office/drawing/2014/main" id="{290DCA7C-11B3-DB50-2639-4D6823997E8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83A5B8A-4109-C49E-5E3C-50ED3AA89A04}"/>
              </a:ext>
            </a:extLst>
          </p:cNvPr>
          <p:cNvSpPr>
            <a:spLocks noGrp="1"/>
          </p:cNvSpPr>
          <p:nvPr>
            <p:ph type="sldNum" sz="quarter" idx="12"/>
          </p:nvPr>
        </p:nvSpPr>
        <p:spPr/>
        <p:txBody>
          <a:bodyPr/>
          <a:lstStyle/>
          <a:p>
            <a:fld id="{C7F54855-164B-4BF8-9346-2E84CFEA2E5C}" type="slidenum">
              <a:rPr lang="zh-CN" altLang="en-US" smtClean="0"/>
              <a:t>‹#›</a:t>
            </a:fld>
            <a:endParaRPr lang="zh-CN" altLang="en-US"/>
          </a:p>
        </p:txBody>
      </p:sp>
    </p:spTree>
    <p:extLst>
      <p:ext uri="{BB962C8B-B14F-4D97-AF65-F5344CB8AC3E}">
        <p14:creationId xmlns:p14="http://schemas.microsoft.com/office/powerpoint/2010/main" val="38707408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01E8DD-AE00-0AE0-8795-5754FA4421E6}"/>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7710CFF-BB23-16A6-F095-F9E5D728CD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0601438-1A94-4591-8BB4-70603EA4761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A1A6C79-5577-6CDF-7BA0-9FEB60C049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88F358A-76FE-722C-6043-10654EC92AF2}"/>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808DC19-F07B-2942-01B9-38AB4F3C1CC9}"/>
              </a:ext>
            </a:extLst>
          </p:cNvPr>
          <p:cNvSpPr>
            <a:spLocks noGrp="1"/>
          </p:cNvSpPr>
          <p:nvPr>
            <p:ph type="dt" sz="half" idx="10"/>
          </p:nvPr>
        </p:nvSpPr>
        <p:spPr/>
        <p:txBody>
          <a:bodyPr/>
          <a:lstStyle/>
          <a:p>
            <a:fld id="{EC5AB37F-94EC-4368-B5EC-3C690D5B891D}" type="datetimeFigureOut">
              <a:rPr lang="zh-CN" altLang="en-US" smtClean="0"/>
              <a:t>2026/8/13</a:t>
            </a:fld>
            <a:endParaRPr lang="zh-CN" altLang="en-US"/>
          </a:p>
        </p:txBody>
      </p:sp>
      <p:sp>
        <p:nvSpPr>
          <p:cNvPr id="8" name="页脚占位符 7">
            <a:extLst>
              <a:ext uri="{FF2B5EF4-FFF2-40B4-BE49-F238E27FC236}">
                <a16:creationId xmlns:a16="http://schemas.microsoft.com/office/drawing/2014/main" id="{A29C5C72-2294-DEBC-83F0-3C49C0221491}"/>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F54EC07-FF3C-14BB-F916-8059863C4B61}"/>
              </a:ext>
            </a:extLst>
          </p:cNvPr>
          <p:cNvSpPr>
            <a:spLocks noGrp="1"/>
          </p:cNvSpPr>
          <p:nvPr>
            <p:ph type="sldNum" sz="quarter" idx="12"/>
          </p:nvPr>
        </p:nvSpPr>
        <p:spPr/>
        <p:txBody>
          <a:bodyPr/>
          <a:lstStyle/>
          <a:p>
            <a:fld id="{C7F54855-164B-4BF8-9346-2E84CFEA2E5C}" type="slidenum">
              <a:rPr lang="zh-CN" altLang="en-US" smtClean="0"/>
              <a:t>‹#›</a:t>
            </a:fld>
            <a:endParaRPr lang="zh-CN" altLang="en-US"/>
          </a:p>
        </p:txBody>
      </p:sp>
    </p:spTree>
    <p:extLst>
      <p:ext uri="{BB962C8B-B14F-4D97-AF65-F5344CB8AC3E}">
        <p14:creationId xmlns:p14="http://schemas.microsoft.com/office/powerpoint/2010/main" val="1733444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6DACAA-D95E-0C26-AE7D-DC41C798419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D999252-643A-95A1-7F80-055CA16134C3}"/>
              </a:ext>
            </a:extLst>
          </p:cNvPr>
          <p:cNvSpPr>
            <a:spLocks noGrp="1"/>
          </p:cNvSpPr>
          <p:nvPr>
            <p:ph type="dt" sz="half" idx="10"/>
          </p:nvPr>
        </p:nvSpPr>
        <p:spPr/>
        <p:txBody>
          <a:bodyPr/>
          <a:lstStyle/>
          <a:p>
            <a:fld id="{EC5AB37F-94EC-4368-B5EC-3C690D5B891D}" type="datetimeFigureOut">
              <a:rPr lang="zh-CN" altLang="en-US" smtClean="0"/>
              <a:t>2026/8/13</a:t>
            </a:fld>
            <a:endParaRPr lang="zh-CN" altLang="en-US"/>
          </a:p>
        </p:txBody>
      </p:sp>
      <p:sp>
        <p:nvSpPr>
          <p:cNvPr id="4" name="页脚占位符 3">
            <a:extLst>
              <a:ext uri="{FF2B5EF4-FFF2-40B4-BE49-F238E27FC236}">
                <a16:creationId xmlns:a16="http://schemas.microsoft.com/office/drawing/2014/main" id="{DB97DAA7-83C1-F82C-0692-0EF15AC2938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D28C096-AE12-7F99-3EBE-642015E7ED31}"/>
              </a:ext>
            </a:extLst>
          </p:cNvPr>
          <p:cNvSpPr>
            <a:spLocks noGrp="1"/>
          </p:cNvSpPr>
          <p:nvPr>
            <p:ph type="sldNum" sz="quarter" idx="12"/>
          </p:nvPr>
        </p:nvSpPr>
        <p:spPr/>
        <p:txBody>
          <a:bodyPr/>
          <a:lstStyle/>
          <a:p>
            <a:fld id="{C7F54855-164B-4BF8-9346-2E84CFEA2E5C}" type="slidenum">
              <a:rPr lang="zh-CN" altLang="en-US" smtClean="0"/>
              <a:t>‹#›</a:t>
            </a:fld>
            <a:endParaRPr lang="zh-CN" altLang="en-US"/>
          </a:p>
        </p:txBody>
      </p:sp>
    </p:spTree>
    <p:extLst>
      <p:ext uri="{BB962C8B-B14F-4D97-AF65-F5344CB8AC3E}">
        <p14:creationId xmlns:p14="http://schemas.microsoft.com/office/powerpoint/2010/main" val="1541784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90C2807-3083-E0A6-3C9E-3FCDB6592A73}"/>
              </a:ext>
            </a:extLst>
          </p:cNvPr>
          <p:cNvSpPr>
            <a:spLocks noGrp="1"/>
          </p:cNvSpPr>
          <p:nvPr>
            <p:ph type="dt" sz="half" idx="10"/>
          </p:nvPr>
        </p:nvSpPr>
        <p:spPr/>
        <p:txBody>
          <a:bodyPr/>
          <a:lstStyle/>
          <a:p>
            <a:fld id="{EC5AB37F-94EC-4368-B5EC-3C690D5B891D}" type="datetimeFigureOut">
              <a:rPr lang="zh-CN" altLang="en-US" smtClean="0"/>
              <a:t>2026/8/13</a:t>
            </a:fld>
            <a:endParaRPr lang="zh-CN" altLang="en-US"/>
          </a:p>
        </p:txBody>
      </p:sp>
      <p:sp>
        <p:nvSpPr>
          <p:cNvPr id="3" name="页脚占位符 2">
            <a:extLst>
              <a:ext uri="{FF2B5EF4-FFF2-40B4-BE49-F238E27FC236}">
                <a16:creationId xmlns:a16="http://schemas.microsoft.com/office/drawing/2014/main" id="{05416FF9-80C6-5B34-3191-592C7D73AAE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313F388-57BF-E374-A3A5-89239920563C}"/>
              </a:ext>
            </a:extLst>
          </p:cNvPr>
          <p:cNvSpPr>
            <a:spLocks noGrp="1"/>
          </p:cNvSpPr>
          <p:nvPr>
            <p:ph type="sldNum" sz="quarter" idx="12"/>
          </p:nvPr>
        </p:nvSpPr>
        <p:spPr/>
        <p:txBody>
          <a:bodyPr/>
          <a:lstStyle/>
          <a:p>
            <a:fld id="{C7F54855-164B-4BF8-9346-2E84CFEA2E5C}" type="slidenum">
              <a:rPr lang="zh-CN" altLang="en-US" smtClean="0"/>
              <a:t>‹#›</a:t>
            </a:fld>
            <a:endParaRPr lang="zh-CN" altLang="en-US"/>
          </a:p>
        </p:txBody>
      </p:sp>
    </p:spTree>
    <p:extLst>
      <p:ext uri="{BB962C8B-B14F-4D97-AF65-F5344CB8AC3E}">
        <p14:creationId xmlns:p14="http://schemas.microsoft.com/office/powerpoint/2010/main" val="19431694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9CBC04-59AD-FC9A-F719-91BEFDDDEFD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344E166-E118-9A11-9345-14752406F6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E792EB77-4448-0F9D-DB00-4D4655A450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EB512F1-C05F-B7F7-433C-63CEA30E76B7}"/>
              </a:ext>
            </a:extLst>
          </p:cNvPr>
          <p:cNvSpPr>
            <a:spLocks noGrp="1"/>
          </p:cNvSpPr>
          <p:nvPr>
            <p:ph type="dt" sz="half" idx="10"/>
          </p:nvPr>
        </p:nvSpPr>
        <p:spPr/>
        <p:txBody>
          <a:bodyPr/>
          <a:lstStyle/>
          <a:p>
            <a:fld id="{EC5AB37F-94EC-4368-B5EC-3C690D5B891D}" type="datetimeFigureOut">
              <a:rPr lang="zh-CN" altLang="en-US" smtClean="0"/>
              <a:t>2026/8/13</a:t>
            </a:fld>
            <a:endParaRPr lang="zh-CN" altLang="en-US"/>
          </a:p>
        </p:txBody>
      </p:sp>
      <p:sp>
        <p:nvSpPr>
          <p:cNvPr id="6" name="页脚占位符 5">
            <a:extLst>
              <a:ext uri="{FF2B5EF4-FFF2-40B4-BE49-F238E27FC236}">
                <a16:creationId xmlns:a16="http://schemas.microsoft.com/office/drawing/2014/main" id="{7B1C8ABB-9A2C-60D9-39B3-1EE01980120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1A8D2A7-3241-FA18-FA2C-0AE3DAC92DEA}"/>
              </a:ext>
            </a:extLst>
          </p:cNvPr>
          <p:cNvSpPr>
            <a:spLocks noGrp="1"/>
          </p:cNvSpPr>
          <p:nvPr>
            <p:ph type="sldNum" sz="quarter" idx="12"/>
          </p:nvPr>
        </p:nvSpPr>
        <p:spPr/>
        <p:txBody>
          <a:bodyPr/>
          <a:lstStyle/>
          <a:p>
            <a:fld id="{C7F54855-164B-4BF8-9346-2E84CFEA2E5C}" type="slidenum">
              <a:rPr lang="zh-CN" altLang="en-US" smtClean="0"/>
              <a:t>‹#›</a:t>
            </a:fld>
            <a:endParaRPr lang="zh-CN" altLang="en-US"/>
          </a:p>
        </p:txBody>
      </p:sp>
    </p:spTree>
    <p:extLst>
      <p:ext uri="{BB962C8B-B14F-4D97-AF65-F5344CB8AC3E}">
        <p14:creationId xmlns:p14="http://schemas.microsoft.com/office/powerpoint/2010/main" val="4602625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D0E825-CB82-302C-22E2-D66186F250F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51DC937B-ECF6-9555-EFAA-CFFF0C65B7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EA3223D5-0E3B-055A-C3C0-6E35136F0B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CC5048E-A1B5-1EEE-29A6-0B1F2BEAAB5C}"/>
              </a:ext>
            </a:extLst>
          </p:cNvPr>
          <p:cNvSpPr>
            <a:spLocks noGrp="1"/>
          </p:cNvSpPr>
          <p:nvPr>
            <p:ph type="dt" sz="half" idx="10"/>
          </p:nvPr>
        </p:nvSpPr>
        <p:spPr/>
        <p:txBody>
          <a:bodyPr/>
          <a:lstStyle/>
          <a:p>
            <a:fld id="{EC5AB37F-94EC-4368-B5EC-3C690D5B891D}" type="datetimeFigureOut">
              <a:rPr lang="zh-CN" altLang="en-US" smtClean="0"/>
              <a:t>2026/8/13</a:t>
            </a:fld>
            <a:endParaRPr lang="zh-CN" altLang="en-US"/>
          </a:p>
        </p:txBody>
      </p:sp>
      <p:sp>
        <p:nvSpPr>
          <p:cNvPr id="6" name="页脚占位符 5">
            <a:extLst>
              <a:ext uri="{FF2B5EF4-FFF2-40B4-BE49-F238E27FC236}">
                <a16:creationId xmlns:a16="http://schemas.microsoft.com/office/drawing/2014/main" id="{12CBA070-DA74-7802-C7F3-DD1629C8F66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98F35ED-F06F-C11D-A27D-02E787AD957F}"/>
              </a:ext>
            </a:extLst>
          </p:cNvPr>
          <p:cNvSpPr>
            <a:spLocks noGrp="1"/>
          </p:cNvSpPr>
          <p:nvPr>
            <p:ph type="sldNum" sz="quarter" idx="12"/>
          </p:nvPr>
        </p:nvSpPr>
        <p:spPr/>
        <p:txBody>
          <a:bodyPr/>
          <a:lstStyle/>
          <a:p>
            <a:fld id="{C7F54855-164B-4BF8-9346-2E84CFEA2E5C}" type="slidenum">
              <a:rPr lang="zh-CN" altLang="en-US" smtClean="0"/>
              <a:t>‹#›</a:t>
            </a:fld>
            <a:endParaRPr lang="zh-CN" altLang="en-US"/>
          </a:p>
        </p:txBody>
      </p:sp>
    </p:spTree>
    <p:extLst>
      <p:ext uri="{BB962C8B-B14F-4D97-AF65-F5344CB8AC3E}">
        <p14:creationId xmlns:p14="http://schemas.microsoft.com/office/powerpoint/2010/main" val="2482027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3C1A9F-F40E-EE55-1A23-E7A643014E19}"/>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0978593-9EDD-EB0D-78EB-989472BE716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ECFF18A-97BA-B54B-B509-A194439047D6}"/>
              </a:ext>
            </a:extLst>
          </p:cNvPr>
          <p:cNvSpPr>
            <a:spLocks noGrp="1"/>
          </p:cNvSpPr>
          <p:nvPr>
            <p:ph type="dt" sz="half" idx="10"/>
          </p:nvPr>
        </p:nvSpPr>
        <p:spPr/>
        <p:txBody>
          <a:bodyPr/>
          <a:lstStyle/>
          <a:p>
            <a:fld id="{EC5AB37F-94EC-4368-B5EC-3C690D5B891D}" type="datetimeFigureOut">
              <a:rPr lang="zh-CN" altLang="en-US" smtClean="0"/>
              <a:t>2026/8/13</a:t>
            </a:fld>
            <a:endParaRPr lang="zh-CN" altLang="en-US"/>
          </a:p>
        </p:txBody>
      </p:sp>
      <p:sp>
        <p:nvSpPr>
          <p:cNvPr id="5" name="页脚占位符 4">
            <a:extLst>
              <a:ext uri="{FF2B5EF4-FFF2-40B4-BE49-F238E27FC236}">
                <a16:creationId xmlns:a16="http://schemas.microsoft.com/office/drawing/2014/main" id="{302F9FBE-3EA2-D893-4E7D-0C40010B63E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7CD8178-38A2-6B63-D4E9-28EC9FEA50E6}"/>
              </a:ext>
            </a:extLst>
          </p:cNvPr>
          <p:cNvSpPr>
            <a:spLocks noGrp="1"/>
          </p:cNvSpPr>
          <p:nvPr>
            <p:ph type="sldNum" sz="quarter" idx="12"/>
          </p:nvPr>
        </p:nvSpPr>
        <p:spPr/>
        <p:txBody>
          <a:bodyPr/>
          <a:lstStyle/>
          <a:p>
            <a:fld id="{C7F54855-164B-4BF8-9346-2E84CFEA2E5C}" type="slidenum">
              <a:rPr lang="zh-CN" altLang="en-US" smtClean="0"/>
              <a:t>‹#›</a:t>
            </a:fld>
            <a:endParaRPr lang="zh-CN" altLang="en-US"/>
          </a:p>
        </p:txBody>
      </p:sp>
    </p:spTree>
    <p:extLst>
      <p:ext uri="{BB962C8B-B14F-4D97-AF65-F5344CB8AC3E}">
        <p14:creationId xmlns:p14="http://schemas.microsoft.com/office/powerpoint/2010/main" val="170281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9B564BB-D3E8-4F75-101A-9EE9487B8AD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0975C21-6939-CA14-4C3E-6C96F5791BC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7AC5843-4A88-ECC5-A6C9-12141F93D827}"/>
              </a:ext>
            </a:extLst>
          </p:cNvPr>
          <p:cNvSpPr>
            <a:spLocks noGrp="1"/>
          </p:cNvSpPr>
          <p:nvPr>
            <p:ph type="dt" sz="half" idx="10"/>
          </p:nvPr>
        </p:nvSpPr>
        <p:spPr/>
        <p:txBody>
          <a:bodyPr/>
          <a:lstStyle/>
          <a:p>
            <a:fld id="{EC5AB37F-94EC-4368-B5EC-3C690D5B891D}" type="datetimeFigureOut">
              <a:rPr lang="zh-CN" altLang="en-US" smtClean="0"/>
              <a:t>2026/8/13</a:t>
            </a:fld>
            <a:endParaRPr lang="zh-CN" altLang="en-US"/>
          </a:p>
        </p:txBody>
      </p:sp>
      <p:sp>
        <p:nvSpPr>
          <p:cNvPr id="5" name="页脚占位符 4">
            <a:extLst>
              <a:ext uri="{FF2B5EF4-FFF2-40B4-BE49-F238E27FC236}">
                <a16:creationId xmlns:a16="http://schemas.microsoft.com/office/drawing/2014/main" id="{FEB9D654-1A62-5E69-02A9-C03710B971E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1042568-1B89-601F-529D-572C21E7DE3E}"/>
              </a:ext>
            </a:extLst>
          </p:cNvPr>
          <p:cNvSpPr>
            <a:spLocks noGrp="1"/>
          </p:cNvSpPr>
          <p:nvPr>
            <p:ph type="sldNum" sz="quarter" idx="12"/>
          </p:nvPr>
        </p:nvSpPr>
        <p:spPr/>
        <p:txBody>
          <a:bodyPr/>
          <a:lstStyle/>
          <a:p>
            <a:fld id="{C7F54855-164B-4BF8-9346-2E84CFEA2E5C}" type="slidenum">
              <a:rPr lang="zh-CN" altLang="en-US" smtClean="0"/>
              <a:t>‹#›</a:t>
            </a:fld>
            <a:endParaRPr lang="zh-CN" altLang="en-US"/>
          </a:p>
        </p:txBody>
      </p:sp>
    </p:spTree>
    <p:extLst>
      <p:ext uri="{BB962C8B-B14F-4D97-AF65-F5344CB8AC3E}">
        <p14:creationId xmlns:p14="http://schemas.microsoft.com/office/powerpoint/2010/main" val="3260269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D456C7FE-CF14-A6B7-9AC5-430A9DB484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7367BB0-A19C-5D23-4F0C-1641F210EA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DF79E23-5A22-CD3B-889F-9A1E4FA51F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C5AB37F-94EC-4368-B5EC-3C690D5B891D}" type="datetimeFigureOut">
              <a:rPr lang="zh-CN" altLang="en-US" smtClean="0"/>
              <a:t>2026/8/13</a:t>
            </a:fld>
            <a:endParaRPr lang="zh-CN" altLang="en-US"/>
          </a:p>
        </p:txBody>
      </p:sp>
      <p:sp>
        <p:nvSpPr>
          <p:cNvPr id="5" name="页脚占位符 4">
            <a:extLst>
              <a:ext uri="{FF2B5EF4-FFF2-40B4-BE49-F238E27FC236}">
                <a16:creationId xmlns:a16="http://schemas.microsoft.com/office/drawing/2014/main" id="{302EB642-D405-1E73-D2E9-E250DD4492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2269BB32-952F-1E62-6DD5-D83038563F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7F54855-164B-4BF8-9346-2E84CFEA2E5C}" type="slidenum">
              <a:rPr lang="zh-CN" altLang="en-US" smtClean="0"/>
              <a:t>‹#›</a:t>
            </a:fld>
            <a:endParaRPr lang="zh-CN" altLang="en-US"/>
          </a:p>
        </p:txBody>
      </p:sp>
    </p:spTree>
    <p:extLst>
      <p:ext uri="{BB962C8B-B14F-4D97-AF65-F5344CB8AC3E}">
        <p14:creationId xmlns:p14="http://schemas.microsoft.com/office/powerpoint/2010/main" val="39107534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63F42"/>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FA3986B-DF61-632D-3F0F-24380FC61046}"/>
              </a:ext>
            </a:extLst>
          </p:cNvPr>
          <p:cNvSpPr txBox="1"/>
          <p:nvPr/>
        </p:nvSpPr>
        <p:spPr>
          <a:xfrm>
            <a:off x="635000" y="444500"/>
            <a:ext cx="2032000" cy="153888"/>
          </a:xfrm>
          <a:prstGeom prst="rect">
            <a:avLst/>
          </a:prstGeom>
          <a:noFill/>
        </p:spPr>
        <p:txBody>
          <a:bodyPr vert="horz" lIns="0" tIns="0" rIns="0" bIns="0" rtlCol="0">
            <a:spAutoFit/>
          </a:bodyPr>
          <a:lstStyle/>
          <a:p>
            <a:r>
              <a:rPr lang="en-US" altLang="zh-CN" sz="1000" b="1">
                <a:solidFill>
                  <a:srgbClr val="2F9E75"/>
                </a:solidFill>
                <a:latin typeface="Aptos" panose="020B0004020202020204" pitchFamily="34" charset="0"/>
              </a:rPr>
              <a:t>FLOWPATH</a:t>
            </a:r>
            <a:endParaRPr lang="zh-CN" altLang="en-US" sz="1000" b="1">
              <a:solidFill>
                <a:srgbClr val="2F9E75"/>
              </a:solidFill>
              <a:latin typeface="Aptos" panose="020B0004020202020204" pitchFamily="34" charset="0"/>
            </a:endParaRPr>
          </a:p>
        </p:txBody>
      </p:sp>
      <p:sp>
        <p:nvSpPr>
          <p:cNvPr id="3" name="文本框 2">
            <a:extLst>
              <a:ext uri="{FF2B5EF4-FFF2-40B4-BE49-F238E27FC236}">
                <a16:creationId xmlns:a16="http://schemas.microsoft.com/office/drawing/2014/main" id="{6EC06092-A93F-8B3C-67B1-0C8F97A3CF8B}"/>
              </a:ext>
            </a:extLst>
          </p:cNvPr>
          <p:cNvSpPr txBox="1"/>
          <p:nvPr/>
        </p:nvSpPr>
        <p:spPr>
          <a:xfrm>
            <a:off x="635000" y="1206500"/>
            <a:ext cx="7112000" cy="523220"/>
          </a:xfrm>
          <a:prstGeom prst="rect">
            <a:avLst/>
          </a:prstGeom>
          <a:noFill/>
        </p:spPr>
        <p:txBody>
          <a:bodyPr vert="horz" lIns="0" tIns="0" rIns="0" bIns="0" rtlCol="0">
            <a:spAutoFit/>
          </a:bodyPr>
          <a:lstStyle/>
          <a:p>
            <a:r>
              <a:rPr lang="en-US" altLang="zh-CN" sz="3400" b="1">
                <a:solidFill>
                  <a:srgbClr val="FFFFFF"/>
                </a:solidFill>
                <a:latin typeface="Aptos Display" panose="020B0004020202020204" pitchFamily="34" charset="0"/>
              </a:rPr>
              <a:t>Highlighted Flow Path Software</a:t>
            </a:r>
            <a:endParaRPr lang="zh-CN" altLang="en-US" sz="3400" b="1">
              <a:solidFill>
                <a:srgbClr val="FFFFFF"/>
              </a:solidFill>
              <a:latin typeface="Aptos Display" panose="020B0004020202020204" pitchFamily="34" charset="0"/>
            </a:endParaRPr>
          </a:p>
        </p:txBody>
      </p:sp>
      <p:sp>
        <p:nvSpPr>
          <p:cNvPr id="4" name="文本框 3">
            <a:extLst>
              <a:ext uri="{FF2B5EF4-FFF2-40B4-BE49-F238E27FC236}">
                <a16:creationId xmlns:a16="http://schemas.microsoft.com/office/drawing/2014/main" id="{294ACB55-CEFA-7A39-B201-B8D1840E269C}"/>
              </a:ext>
            </a:extLst>
          </p:cNvPr>
          <p:cNvSpPr txBox="1"/>
          <p:nvPr/>
        </p:nvSpPr>
        <p:spPr>
          <a:xfrm>
            <a:off x="635000" y="2260600"/>
            <a:ext cx="7112000" cy="276999"/>
          </a:xfrm>
          <a:prstGeom prst="rect">
            <a:avLst/>
          </a:prstGeom>
          <a:noFill/>
        </p:spPr>
        <p:txBody>
          <a:bodyPr vert="horz" lIns="0" tIns="0" rIns="0" bIns="0" rtlCol="0">
            <a:spAutoFit/>
          </a:bodyPr>
          <a:lstStyle/>
          <a:p>
            <a:r>
              <a:rPr lang="zh-CN" altLang="en-US">
                <a:solidFill>
                  <a:srgbClr val="D5E3E0"/>
                </a:solidFill>
                <a:latin typeface="Microsoft YaHei" panose="020B0503020204020204" pitchFamily="34" charset="-122"/>
              </a:rPr>
              <a:t>面向制药工艺设计的 </a:t>
            </a:r>
            <a:r>
              <a:rPr lang="en-US" altLang="zh-CN">
                <a:solidFill>
                  <a:srgbClr val="D5E3E0"/>
                </a:solidFill>
                <a:latin typeface="Microsoft YaHei" panose="020B0503020204020204" pitchFamily="34" charset="-122"/>
              </a:rPr>
              <a:t>P&amp;ID </a:t>
            </a:r>
            <a:r>
              <a:rPr lang="zh-CN" altLang="en-US">
                <a:solidFill>
                  <a:srgbClr val="D5E3E0"/>
                </a:solidFill>
                <a:latin typeface="Microsoft YaHei" panose="020B0503020204020204" pitchFamily="34" charset="-122"/>
              </a:rPr>
              <a:t>数字流路分析与模拟</a:t>
            </a:r>
          </a:p>
        </p:txBody>
      </p:sp>
      <p:cxnSp>
        <p:nvCxnSpPr>
          <p:cNvPr id="5" name="直接连接符 4">
            <a:extLst>
              <a:ext uri="{FF2B5EF4-FFF2-40B4-BE49-F238E27FC236}">
                <a16:creationId xmlns:a16="http://schemas.microsoft.com/office/drawing/2014/main" id="{BD04213E-E10F-2FD0-0CE2-D986E36EED8E}"/>
              </a:ext>
            </a:extLst>
          </p:cNvPr>
          <p:cNvCxnSpPr/>
          <p:nvPr/>
        </p:nvCxnSpPr>
        <p:spPr>
          <a:xfrm>
            <a:off x="635000" y="3327400"/>
            <a:ext cx="4165600" cy="0"/>
          </a:xfrm>
          <a:prstGeom prst="line">
            <a:avLst/>
          </a:prstGeom>
          <a:ln w="63500">
            <a:solidFill>
              <a:srgbClr val="2F9E75"/>
            </a:solidFill>
          </a:ln>
        </p:spPr>
        <p:style>
          <a:lnRef idx="2">
            <a:schemeClr val="accent1"/>
          </a:lnRef>
          <a:fillRef idx="0">
            <a:schemeClr val="accent1"/>
          </a:fillRef>
          <a:effectRef idx="1">
            <a:schemeClr val="accent1"/>
          </a:effectRef>
          <a:fontRef idx="minor">
            <a:schemeClr val="tx1"/>
          </a:fontRef>
        </p:style>
      </p:cxnSp>
      <p:sp>
        <p:nvSpPr>
          <p:cNvPr id="6" name="文本框 5">
            <a:extLst>
              <a:ext uri="{FF2B5EF4-FFF2-40B4-BE49-F238E27FC236}">
                <a16:creationId xmlns:a16="http://schemas.microsoft.com/office/drawing/2014/main" id="{9669B181-B5BA-C9D1-23A4-E505B4AAC036}"/>
              </a:ext>
            </a:extLst>
          </p:cNvPr>
          <p:cNvSpPr txBox="1"/>
          <p:nvPr/>
        </p:nvSpPr>
        <p:spPr>
          <a:xfrm>
            <a:off x="635000" y="3581400"/>
            <a:ext cx="6350000" cy="169277"/>
          </a:xfrm>
          <a:prstGeom prst="rect">
            <a:avLst/>
          </a:prstGeom>
          <a:noFill/>
        </p:spPr>
        <p:txBody>
          <a:bodyPr vert="horz" lIns="0" tIns="0" rIns="0" bIns="0" rtlCol="0">
            <a:spAutoFit/>
          </a:bodyPr>
          <a:lstStyle/>
          <a:p>
            <a:r>
              <a:rPr lang="zh-CN" altLang="en-US" sz="1100" b="1">
                <a:solidFill>
                  <a:srgbClr val="FFFFFF"/>
                </a:solidFill>
                <a:latin typeface="Aptos" panose="020B0004020202020204" pitchFamily="34" charset="0"/>
              </a:rPr>
              <a:t>设计阶段 </a:t>
            </a:r>
            <a:r>
              <a:rPr lang="en-US" altLang="zh-CN" sz="1100" b="1">
                <a:solidFill>
                  <a:srgbClr val="FFFFFF"/>
                </a:solidFill>
                <a:latin typeface="Aptos" panose="020B0004020202020204" pitchFamily="34" charset="0"/>
              </a:rPr>
              <a:t>· </a:t>
            </a:r>
            <a:r>
              <a:rPr lang="zh-CN" altLang="en-US" sz="1100" b="1">
                <a:solidFill>
                  <a:srgbClr val="FFFFFF"/>
                </a:solidFill>
                <a:latin typeface="Aptos" panose="020B0004020202020204" pitchFamily="34" charset="0"/>
              </a:rPr>
              <a:t>数字流路 </a:t>
            </a:r>
            <a:r>
              <a:rPr lang="en-US" altLang="zh-CN" sz="1100" b="1">
                <a:solidFill>
                  <a:srgbClr val="FFFFFF"/>
                </a:solidFill>
                <a:latin typeface="Aptos" panose="020B0004020202020204" pitchFamily="34" charset="0"/>
              </a:rPr>
              <a:t>· </a:t>
            </a:r>
            <a:r>
              <a:rPr lang="zh-CN" altLang="en-US" sz="1100" b="1">
                <a:solidFill>
                  <a:srgbClr val="FFFFFF"/>
                </a:solidFill>
                <a:latin typeface="Aptos" panose="020B0004020202020204" pitchFamily="34" charset="0"/>
              </a:rPr>
              <a:t>状态模拟</a:t>
            </a:r>
          </a:p>
        </p:txBody>
      </p:sp>
      <p:sp>
        <p:nvSpPr>
          <p:cNvPr id="7" name="矩形 6">
            <a:extLst>
              <a:ext uri="{FF2B5EF4-FFF2-40B4-BE49-F238E27FC236}">
                <a16:creationId xmlns:a16="http://schemas.microsoft.com/office/drawing/2014/main" id="{EDB19522-4E60-DDF5-8F20-955B65A84BA2}"/>
              </a:ext>
            </a:extLst>
          </p:cNvPr>
          <p:cNvSpPr/>
          <p:nvPr/>
        </p:nvSpPr>
        <p:spPr>
          <a:xfrm>
            <a:off x="8255000" y="0"/>
            <a:ext cx="3937000" cy="6858000"/>
          </a:xfrm>
          <a:prstGeom prst="rect">
            <a:avLst/>
          </a:prstGeom>
          <a:solidFill>
            <a:srgbClr val="E8ECEA">
              <a:alpha val="96000"/>
            </a:srgbClr>
          </a:solidFill>
          <a:ln w="9525">
            <a:solidFill>
              <a:srgbClr val="E8EC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83941F7E-DC15-358A-9FD2-0FA767126523}"/>
              </a:ext>
            </a:extLst>
          </p:cNvPr>
          <p:cNvSpPr/>
          <p:nvPr/>
        </p:nvSpPr>
        <p:spPr>
          <a:xfrm>
            <a:off x="7874000" y="1498600"/>
            <a:ext cx="4191000" cy="2908300"/>
          </a:xfrm>
          <a:prstGeom prst="roundRect">
            <a:avLst/>
          </a:prstGeom>
          <a:solidFill>
            <a:srgbClr val="FFFFFF"/>
          </a:solidFill>
          <a:ln w="9525">
            <a:solidFill>
              <a:srgbClr val="E5E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A7539CFF-1CAA-91DA-73CA-A53E16CA262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937500" y="1562100"/>
            <a:ext cx="4064000" cy="2781300"/>
          </a:xfrm>
          <a:prstGeom prst="rect">
            <a:avLst/>
          </a:prstGeom>
        </p:spPr>
      </p:pic>
      <p:sp>
        <p:nvSpPr>
          <p:cNvPr id="11" name="文本框 10">
            <a:extLst>
              <a:ext uri="{FF2B5EF4-FFF2-40B4-BE49-F238E27FC236}">
                <a16:creationId xmlns:a16="http://schemas.microsoft.com/office/drawing/2014/main" id="{95C9D960-5854-F808-2554-303E717237DA}"/>
              </a:ext>
            </a:extLst>
          </p:cNvPr>
          <p:cNvSpPr txBox="1"/>
          <p:nvPr/>
        </p:nvSpPr>
        <p:spPr>
          <a:xfrm>
            <a:off x="8255000" y="4749800"/>
            <a:ext cx="3175000" cy="184666"/>
          </a:xfrm>
          <a:prstGeom prst="rect">
            <a:avLst/>
          </a:prstGeom>
          <a:noFill/>
        </p:spPr>
        <p:txBody>
          <a:bodyPr vert="horz" lIns="0" tIns="0" rIns="0" bIns="0" rtlCol="0">
            <a:spAutoFit/>
          </a:bodyPr>
          <a:lstStyle/>
          <a:p>
            <a:r>
              <a:rPr lang="en-US" altLang="zh-CN" sz="1200" b="1">
                <a:solidFill>
                  <a:srgbClr val="23343B"/>
                </a:solidFill>
                <a:latin typeface="Microsoft YaHei" panose="020B0503020204020204" pitchFamily="34" charset="-122"/>
              </a:rPr>
              <a:t>P&amp;ID </a:t>
            </a:r>
            <a:r>
              <a:rPr lang="zh-CN" altLang="en-US" sz="1200" b="1">
                <a:solidFill>
                  <a:srgbClr val="23343B"/>
                </a:solidFill>
                <a:latin typeface="Microsoft YaHei" panose="020B0503020204020204" pitchFamily="34" charset="-122"/>
              </a:rPr>
              <a:t>不再只是静态图纸</a:t>
            </a:r>
          </a:p>
        </p:txBody>
      </p:sp>
      <p:sp>
        <p:nvSpPr>
          <p:cNvPr id="12" name="文本框 11">
            <a:extLst>
              <a:ext uri="{FF2B5EF4-FFF2-40B4-BE49-F238E27FC236}">
                <a16:creationId xmlns:a16="http://schemas.microsoft.com/office/drawing/2014/main" id="{DC3521F8-14D9-F42D-3652-8D73E2A85ACA}"/>
              </a:ext>
            </a:extLst>
          </p:cNvPr>
          <p:cNvSpPr txBox="1"/>
          <p:nvPr/>
        </p:nvSpPr>
        <p:spPr>
          <a:xfrm>
            <a:off x="8255000" y="5143500"/>
            <a:ext cx="3492500" cy="184666"/>
          </a:xfrm>
          <a:prstGeom prst="rect">
            <a:avLst/>
          </a:prstGeom>
          <a:noFill/>
        </p:spPr>
        <p:txBody>
          <a:bodyPr vert="horz" lIns="0" tIns="0" rIns="0" bIns="0" rtlCol="0">
            <a:spAutoFit/>
          </a:bodyPr>
          <a:lstStyle/>
          <a:p>
            <a:r>
              <a:rPr lang="zh-CN" altLang="en-US" sz="1200">
                <a:solidFill>
                  <a:srgbClr val="66757B"/>
                </a:solidFill>
                <a:latin typeface="Microsoft YaHei" panose="020B0503020204020204" pitchFamily="34" charset="-122"/>
              </a:rPr>
              <a:t>让每个 </a:t>
            </a:r>
            <a:r>
              <a:rPr lang="en-US" altLang="zh-CN" sz="1200">
                <a:solidFill>
                  <a:srgbClr val="66757B"/>
                </a:solidFill>
                <a:latin typeface="Microsoft YaHei" panose="020B0503020204020204" pitchFamily="34" charset="-122"/>
              </a:rPr>
              <a:t>Phase </a:t>
            </a:r>
            <a:r>
              <a:rPr lang="zh-CN" altLang="en-US" sz="1200">
                <a:solidFill>
                  <a:srgbClr val="66757B"/>
                </a:solidFill>
                <a:latin typeface="Microsoft YaHei" panose="020B0503020204020204" pitchFamily="34" charset="-122"/>
              </a:rPr>
              <a:t>的路径与设备状态清晰可见</a:t>
            </a:r>
          </a:p>
        </p:txBody>
      </p:sp>
    </p:spTree>
    <p:extLst>
      <p:ext uri="{BB962C8B-B14F-4D97-AF65-F5344CB8AC3E}">
        <p14:creationId xmlns:p14="http://schemas.microsoft.com/office/powerpoint/2010/main" val="22542988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91B6531B-07D5-ADF4-F17D-CFD68B64D671}"/>
              </a:ext>
            </a:extLst>
          </p:cNvPr>
          <p:cNvSpPr txBox="1"/>
          <p:nvPr/>
        </p:nvSpPr>
        <p:spPr>
          <a:xfrm>
            <a:off x="533400" y="254000"/>
            <a:ext cx="8255000" cy="138499"/>
          </a:xfrm>
          <a:prstGeom prst="rect">
            <a:avLst/>
          </a:prstGeom>
          <a:noFill/>
        </p:spPr>
        <p:txBody>
          <a:bodyPr vert="horz" lIns="0" tIns="0" rIns="0" bIns="0" rtlCol="0">
            <a:spAutoFit/>
          </a:bodyPr>
          <a:lstStyle/>
          <a:p>
            <a:r>
              <a:rPr lang="zh-CN" altLang="en-US" sz="900" b="1">
                <a:solidFill>
                  <a:srgbClr val="2F9E75"/>
                </a:solidFill>
                <a:latin typeface="Aptos" panose="020B0004020202020204" pitchFamily="34" charset="0"/>
              </a:rPr>
              <a:t>业务挑战</a:t>
            </a:r>
          </a:p>
        </p:txBody>
      </p:sp>
      <p:sp>
        <p:nvSpPr>
          <p:cNvPr id="3" name="文本框 2">
            <a:extLst>
              <a:ext uri="{FF2B5EF4-FFF2-40B4-BE49-F238E27FC236}">
                <a16:creationId xmlns:a16="http://schemas.microsoft.com/office/drawing/2014/main" id="{C39CDE1D-A5DB-A321-CF96-55E8D4126B44}"/>
              </a:ext>
            </a:extLst>
          </p:cNvPr>
          <p:cNvSpPr txBox="1"/>
          <p:nvPr/>
        </p:nvSpPr>
        <p:spPr>
          <a:xfrm>
            <a:off x="533400" y="558800"/>
            <a:ext cx="9779000" cy="400110"/>
          </a:xfrm>
          <a:prstGeom prst="rect">
            <a:avLst/>
          </a:prstGeom>
          <a:noFill/>
        </p:spPr>
        <p:txBody>
          <a:bodyPr vert="horz" lIns="0" tIns="0" rIns="0" bIns="0" rtlCol="0">
            <a:spAutoFit/>
          </a:bodyPr>
          <a:lstStyle/>
          <a:p>
            <a:r>
              <a:rPr lang="zh-CN" altLang="en-US" sz="2600" b="1">
                <a:solidFill>
                  <a:srgbClr val="23343B"/>
                </a:solidFill>
                <a:latin typeface="Microsoft YaHei" panose="020B0503020204020204" pitchFamily="34" charset="-122"/>
              </a:rPr>
              <a:t>复杂 </a:t>
            </a:r>
            <a:r>
              <a:rPr lang="en-US" altLang="zh-CN" sz="2600" b="1">
                <a:solidFill>
                  <a:srgbClr val="23343B"/>
                </a:solidFill>
                <a:latin typeface="Microsoft YaHei" panose="020B0503020204020204" pitchFamily="34" charset="-122"/>
              </a:rPr>
              <a:t>P&amp;ID </a:t>
            </a:r>
            <a:r>
              <a:rPr lang="zh-CN" altLang="en-US" sz="2600" b="1">
                <a:solidFill>
                  <a:srgbClr val="23343B"/>
                </a:solidFill>
                <a:latin typeface="Microsoft YaHei" panose="020B0503020204020204" pitchFamily="34" charset="-122"/>
              </a:rPr>
              <a:t>让流路判断高度依赖人工</a:t>
            </a:r>
          </a:p>
        </p:txBody>
      </p:sp>
      <p:cxnSp>
        <p:nvCxnSpPr>
          <p:cNvPr id="4" name="直接连接符 3">
            <a:extLst>
              <a:ext uri="{FF2B5EF4-FFF2-40B4-BE49-F238E27FC236}">
                <a16:creationId xmlns:a16="http://schemas.microsoft.com/office/drawing/2014/main" id="{144C52A4-E882-C701-1F19-C50377B3CCF2}"/>
              </a:ext>
            </a:extLst>
          </p:cNvPr>
          <p:cNvCxnSpPr/>
          <p:nvPr/>
        </p:nvCxnSpPr>
        <p:spPr>
          <a:xfrm>
            <a:off x="533400" y="1231900"/>
            <a:ext cx="11125200" cy="0"/>
          </a:xfrm>
          <a:prstGeom prst="line">
            <a:avLst/>
          </a:prstGeom>
          <a:ln w="12700">
            <a:solidFill>
              <a:srgbClr val="E5EAE8"/>
            </a:solidFill>
          </a:ln>
        </p:spPr>
        <p:style>
          <a:lnRef idx="2">
            <a:schemeClr val="accent1"/>
          </a:lnRef>
          <a:fillRef idx="0">
            <a:schemeClr val="accent1"/>
          </a:fillRef>
          <a:effectRef idx="1">
            <a:schemeClr val="accent1"/>
          </a:effectRef>
          <a:fontRef idx="minor">
            <a:schemeClr val="tx1"/>
          </a:fontRef>
        </p:style>
      </p:cxnSp>
      <p:sp>
        <p:nvSpPr>
          <p:cNvPr id="5" name="文本框 4">
            <a:extLst>
              <a:ext uri="{FF2B5EF4-FFF2-40B4-BE49-F238E27FC236}">
                <a16:creationId xmlns:a16="http://schemas.microsoft.com/office/drawing/2014/main" id="{255C7C25-E49E-5B3C-DFEB-2D33FF57CCC2}"/>
              </a:ext>
            </a:extLst>
          </p:cNvPr>
          <p:cNvSpPr txBox="1"/>
          <p:nvPr/>
        </p:nvSpPr>
        <p:spPr>
          <a:xfrm>
            <a:off x="11303000" y="254000"/>
            <a:ext cx="355600" cy="138499"/>
          </a:xfrm>
          <a:prstGeom prst="rect">
            <a:avLst/>
          </a:prstGeom>
          <a:noFill/>
        </p:spPr>
        <p:txBody>
          <a:bodyPr vert="horz" lIns="0" tIns="0" rIns="0" bIns="0" rtlCol="0">
            <a:spAutoFit/>
          </a:bodyPr>
          <a:lstStyle/>
          <a:p>
            <a:pPr algn="r"/>
            <a:r>
              <a:rPr lang="en-US" altLang="zh-CN" sz="900" b="1">
                <a:solidFill>
                  <a:srgbClr val="66757B"/>
                </a:solidFill>
                <a:latin typeface="Aptos" panose="020B0004020202020204" pitchFamily="34" charset="0"/>
              </a:rPr>
              <a:t>02</a:t>
            </a:r>
            <a:endParaRPr lang="zh-CN" altLang="en-US" sz="900" b="1">
              <a:solidFill>
                <a:srgbClr val="66757B"/>
              </a:solidFill>
              <a:latin typeface="Aptos" panose="020B0004020202020204" pitchFamily="34" charset="0"/>
            </a:endParaRPr>
          </a:p>
        </p:txBody>
      </p:sp>
      <p:sp>
        <p:nvSpPr>
          <p:cNvPr id="6" name="文本框 5">
            <a:extLst>
              <a:ext uri="{FF2B5EF4-FFF2-40B4-BE49-F238E27FC236}">
                <a16:creationId xmlns:a16="http://schemas.microsoft.com/office/drawing/2014/main" id="{1D3A14F1-199B-01D3-EA08-094A666FA10C}"/>
              </a:ext>
            </a:extLst>
          </p:cNvPr>
          <p:cNvSpPr txBox="1"/>
          <p:nvPr/>
        </p:nvSpPr>
        <p:spPr>
          <a:xfrm>
            <a:off x="533400" y="6578600"/>
            <a:ext cx="6350000" cy="107722"/>
          </a:xfrm>
          <a:prstGeom prst="rect">
            <a:avLst/>
          </a:prstGeom>
          <a:noFill/>
        </p:spPr>
        <p:txBody>
          <a:bodyPr vert="horz" lIns="0" tIns="0" rIns="0" bIns="0" rtlCol="0">
            <a:spAutoFit/>
          </a:bodyPr>
          <a:lstStyle/>
          <a:p>
            <a:r>
              <a:rPr lang="en-US" altLang="zh-CN" sz="700" b="1">
                <a:solidFill>
                  <a:srgbClr val="66757B"/>
                </a:solidFill>
                <a:latin typeface="Aptos" panose="020B0004020202020204" pitchFamily="34" charset="0"/>
              </a:rPr>
              <a:t>HIGHLIGHTED FLOW PATH SOFTWARE · </a:t>
            </a:r>
            <a:r>
              <a:rPr lang="zh-CN" altLang="en-US" sz="700" b="1">
                <a:solidFill>
                  <a:srgbClr val="66757B"/>
                </a:solidFill>
                <a:latin typeface="Aptos" panose="020B0004020202020204" pitchFamily="34" charset="0"/>
              </a:rPr>
              <a:t>客户演示</a:t>
            </a:r>
          </a:p>
        </p:txBody>
      </p:sp>
      <p:sp>
        <p:nvSpPr>
          <p:cNvPr id="7" name="椭圆 6">
            <a:extLst>
              <a:ext uri="{FF2B5EF4-FFF2-40B4-BE49-F238E27FC236}">
                <a16:creationId xmlns:a16="http://schemas.microsoft.com/office/drawing/2014/main" id="{8CCF6B08-F9CD-7973-E0C3-EDF125691980}"/>
              </a:ext>
            </a:extLst>
          </p:cNvPr>
          <p:cNvSpPr/>
          <p:nvPr/>
        </p:nvSpPr>
        <p:spPr>
          <a:xfrm>
            <a:off x="685800" y="1803400"/>
            <a:ext cx="114300" cy="114300"/>
          </a:xfrm>
          <a:prstGeom prst="ellipse">
            <a:avLst/>
          </a:prstGeom>
          <a:solidFill>
            <a:srgbClr val="2F9E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9FF8C313-50BE-F375-DA97-84ADBDEC89A7}"/>
              </a:ext>
            </a:extLst>
          </p:cNvPr>
          <p:cNvSpPr txBox="1"/>
          <p:nvPr/>
        </p:nvSpPr>
        <p:spPr>
          <a:xfrm>
            <a:off x="965200" y="1714500"/>
            <a:ext cx="5372100" cy="246221"/>
          </a:xfrm>
          <a:prstGeom prst="rect">
            <a:avLst/>
          </a:prstGeom>
          <a:noFill/>
        </p:spPr>
        <p:txBody>
          <a:bodyPr vert="horz" lIns="0" tIns="0" rIns="0" bIns="0" rtlCol="0">
            <a:spAutoFit/>
          </a:bodyPr>
          <a:lstStyle/>
          <a:p>
            <a:r>
              <a:rPr lang="zh-CN" altLang="en-US" sz="1600">
                <a:solidFill>
                  <a:srgbClr val="23343B"/>
                </a:solidFill>
                <a:latin typeface="Microsoft YaHei" panose="020B0503020204020204" pitchFamily="34" charset="-122"/>
              </a:rPr>
              <a:t>管线、阀门、泵、罐体、仪表与远程连接数量庞大</a:t>
            </a:r>
          </a:p>
        </p:txBody>
      </p:sp>
      <p:sp>
        <p:nvSpPr>
          <p:cNvPr id="9" name="椭圆 8">
            <a:extLst>
              <a:ext uri="{FF2B5EF4-FFF2-40B4-BE49-F238E27FC236}">
                <a16:creationId xmlns:a16="http://schemas.microsoft.com/office/drawing/2014/main" id="{E650DEE1-0F4F-5435-D035-EBF44930BB47}"/>
              </a:ext>
            </a:extLst>
          </p:cNvPr>
          <p:cNvSpPr/>
          <p:nvPr/>
        </p:nvSpPr>
        <p:spPr>
          <a:xfrm>
            <a:off x="685800" y="26924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AF696A59-901C-5F6B-C40D-EBE7CA239CE0}"/>
              </a:ext>
            </a:extLst>
          </p:cNvPr>
          <p:cNvSpPr txBox="1"/>
          <p:nvPr/>
        </p:nvSpPr>
        <p:spPr>
          <a:xfrm>
            <a:off x="965200" y="2603500"/>
            <a:ext cx="5372100" cy="246221"/>
          </a:xfrm>
          <a:prstGeom prst="rect">
            <a:avLst/>
          </a:prstGeom>
          <a:noFill/>
        </p:spPr>
        <p:txBody>
          <a:bodyPr vert="horz" lIns="0" tIns="0" rIns="0" bIns="0" rtlCol="0">
            <a:spAutoFit/>
          </a:bodyPr>
          <a:lstStyle/>
          <a:p>
            <a:r>
              <a:rPr lang="zh-CN" altLang="en-US" sz="1600">
                <a:solidFill>
                  <a:srgbClr val="23343B"/>
                </a:solidFill>
                <a:latin typeface="Microsoft YaHei" panose="020B0503020204020204" pitchFamily="34" charset="-122"/>
              </a:rPr>
              <a:t>每个 </a:t>
            </a:r>
            <a:r>
              <a:rPr lang="en-US" altLang="zh-CN" sz="1600">
                <a:solidFill>
                  <a:srgbClr val="23343B"/>
                </a:solidFill>
                <a:latin typeface="Microsoft YaHei" panose="020B0503020204020204" pitchFamily="34" charset="-122"/>
              </a:rPr>
              <a:t>Phase </a:t>
            </a:r>
            <a:r>
              <a:rPr lang="zh-CN" altLang="en-US" sz="1600">
                <a:solidFill>
                  <a:srgbClr val="23343B"/>
                </a:solidFill>
                <a:latin typeface="Microsoft YaHei" panose="020B0503020204020204" pitchFamily="34" charset="-122"/>
              </a:rPr>
              <a:t>的介质路径和设备状态都可能不同</a:t>
            </a:r>
          </a:p>
        </p:txBody>
      </p:sp>
      <p:sp>
        <p:nvSpPr>
          <p:cNvPr id="11" name="椭圆 10">
            <a:extLst>
              <a:ext uri="{FF2B5EF4-FFF2-40B4-BE49-F238E27FC236}">
                <a16:creationId xmlns:a16="http://schemas.microsoft.com/office/drawing/2014/main" id="{A009AA72-399F-8DF2-4653-F5FF9D6EA30E}"/>
              </a:ext>
            </a:extLst>
          </p:cNvPr>
          <p:cNvSpPr/>
          <p:nvPr/>
        </p:nvSpPr>
        <p:spPr>
          <a:xfrm>
            <a:off x="685800" y="35814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3E24161F-583E-994A-6999-13DA85B5C25A}"/>
              </a:ext>
            </a:extLst>
          </p:cNvPr>
          <p:cNvSpPr txBox="1"/>
          <p:nvPr/>
        </p:nvSpPr>
        <p:spPr>
          <a:xfrm>
            <a:off x="965200" y="3492500"/>
            <a:ext cx="5372100" cy="246221"/>
          </a:xfrm>
          <a:prstGeom prst="rect">
            <a:avLst/>
          </a:prstGeom>
          <a:noFill/>
        </p:spPr>
        <p:txBody>
          <a:bodyPr vert="horz" lIns="0" tIns="0" rIns="0" bIns="0" rtlCol="0">
            <a:spAutoFit/>
          </a:bodyPr>
          <a:lstStyle/>
          <a:p>
            <a:r>
              <a:rPr lang="zh-CN" altLang="en-US" sz="1600">
                <a:solidFill>
                  <a:srgbClr val="23343B"/>
                </a:solidFill>
                <a:latin typeface="Microsoft YaHei" panose="020B0503020204020204" pitchFamily="34" charset="-122"/>
              </a:rPr>
              <a:t>跨图纸连接、分支与回流路径容易漏看</a:t>
            </a:r>
          </a:p>
        </p:txBody>
      </p:sp>
      <p:sp>
        <p:nvSpPr>
          <p:cNvPr id="13" name="椭圆 12">
            <a:extLst>
              <a:ext uri="{FF2B5EF4-FFF2-40B4-BE49-F238E27FC236}">
                <a16:creationId xmlns:a16="http://schemas.microsoft.com/office/drawing/2014/main" id="{A305D5FD-2856-C672-D914-6E38DAA46688}"/>
              </a:ext>
            </a:extLst>
          </p:cNvPr>
          <p:cNvSpPr/>
          <p:nvPr/>
        </p:nvSpPr>
        <p:spPr>
          <a:xfrm>
            <a:off x="685800" y="44704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78BEEBA0-B927-118A-48FE-8E65FFA841A4}"/>
              </a:ext>
            </a:extLst>
          </p:cNvPr>
          <p:cNvSpPr txBox="1"/>
          <p:nvPr/>
        </p:nvSpPr>
        <p:spPr>
          <a:xfrm>
            <a:off x="965200" y="4381500"/>
            <a:ext cx="5372100" cy="246221"/>
          </a:xfrm>
          <a:prstGeom prst="rect">
            <a:avLst/>
          </a:prstGeom>
          <a:noFill/>
        </p:spPr>
        <p:txBody>
          <a:bodyPr vert="horz" lIns="0" tIns="0" rIns="0" bIns="0" rtlCol="0">
            <a:spAutoFit/>
          </a:bodyPr>
          <a:lstStyle/>
          <a:p>
            <a:r>
              <a:rPr lang="zh-CN" altLang="en-US" sz="1600">
                <a:solidFill>
                  <a:srgbClr val="23343B"/>
                </a:solidFill>
                <a:latin typeface="Microsoft YaHei" panose="020B0503020204020204" pitchFamily="34" charset="-122"/>
              </a:rPr>
              <a:t>设计审查依赖个人经验，沟通成本较高</a:t>
            </a:r>
          </a:p>
        </p:txBody>
      </p:sp>
      <p:sp>
        <p:nvSpPr>
          <p:cNvPr id="15" name="矩形: 圆角 14">
            <a:extLst>
              <a:ext uri="{FF2B5EF4-FFF2-40B4-BE49-F238E27FC236}">
                <a16:creationId xmlns:a16="http://schemas.microsoft.com/office/drawing/2014/main" id="{947675CD-F4AC-14E9-2007-A1E2539D6EE9}"/>
              </a:ext>
            </a:extLst>
          </p:cNvPr>
          <p:cNvSpPr/>
          <p:nvPr/>
        </p:nvSpPr>
        <p:spPr>
          <a:xfrm>
            <a:off x="6921500" y="1778000"/>
            <a:ext cx="4635500" cy="3213100"/>
          </a:xfrm>
          <a:prstGeom prst="roundRect">
            <a:avLst/>
          </a:prstGeom>
          <a:solidFill>
            <a:srgbClr val="FFFFFF"/>
          </a:solidFill>
          <a:ln w="9525">
            <a:solidFill>
              <a:srgbClr val="E5E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a:extLst>
              <a:ext uri="{FF2B5EF4-FFF2-40B4-BE49-F238E27FC236}">
                <a16:creationId xmlns:a16="http://schemas.microsoft.com/office/drawing/2014/main" id="{EEBB72AF-8AB7-156E-424F-2325FBDD22F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0" y="1841500"/>
            <a:ext cx="4508500" cy="3086100"/>
          </a:xfrm>
          <a:prstGeom prst="rect">
            <a:avLst/>
          </a:prstGeom>
        </p:spPr>
      </p:pic>
      <p:sp>
        <p:nvSpPr>
          <p:cNvPr id="18" name="文本框 17">
            <a:extLst>
              <a:ext uri="{FF2B5EF4-FFF2-40B4-BE49-F238E27FC236}">
                <a16:creationId xmlns:a16="http://schemas.microsoft.com/office/drawing/2014/main" id="{BD038CE8-3ACA-FE43-E802-1CB63BA64118}"/>
              </a:ext>
            </a:extLst>
          </p:cNvPr>
          <p:cNvSpPr txBox="1"/>
          <p:nvPr/>
        </p:nvSpPr>
        <p:spPr>
          <a:xfrm>
            <a:off x="6985000" y="5168900"/>
            <a:ext cx="4508500" cy="153888"/>
          </a:xfrm>
          <a:prstGeom prst="rect">
            <a:avLst/>
          </a:prstGeom>
          <a:noFill/>
        </p:spPr>
        <p:txBody>
          <a:bodyPr vert="horz" lIns="0" tIns="0" rIns="0" bIns="0" rtlCol="0">
            <a:spAutoFit/>
          </a:bodyPr>
          <a:lstStyle/>
          <a:p>
            <a:r>
              <a:rPr lang="zh-CN" altLang="en-US" sz="1000" b="1">
                <a:solidFill>
                  <a:srgbClr val="2F9E75"/>
                </a:solidFill>
                <a:latin typeface="Microsoft YaHei" panose="020B0503020204020204" pitchFamily="34" charset="-122"/>
              </a:rPr>
              <a:t>从复杂图纸中建立清晰场景</a:t>
            </a:r>
          </a:p>
        </p:txBody>
      </p:sp>
    </p:spTree>
    <p:extLst>
      <p:ext uri="{BB962C8B-B14F-4D97-AF65-F5344CB8AC3E}">
        <p14:creationId xmlns:p14="http://schemas.microsoft.com/office/powerpoint/2010/main" val="3169738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1654849-87FD-11D0-A77E-0B748F82F434}"/>
              </a:ext>
            </a:extLst>
          </p:cNvPr>
          <p:cNvSpPr txBox="1"/>
          <p:nvPr/>
        </p:nvSpPr>
        <p:spPr>
          <a:xfrm>
            <a:off x="533400" y="254000"/>
            <a:ext cx="8255000" cy="138499"/>
          </a:xfrm>
          <a:prstGeom prst="rect">
            <a:avLst/>
          </a:prstGeom>
          <a:noFill/>
        </p:spPr>
        <p:txBody>
          <a:bodyPr vert="horz" lIns="0" tIns="0" rIns="0" bIns="0" rtlCol="0">
            <a:spAutoFit/>
          </a:bodyPr>
          <a:lstStyle/>
          <a:p>
            <a:r>
              <a:rPr lang="zh-CN" altLang="en-US" sz="900" b="1">
                <a:solidFill>
                  <a:srgbClr val="2F9E75"/>
                </a:solidFill>
                <a:latin typeface="Aptos" panose="020B0004020202020204" pitchFamily="34" charset="0"/>
              </a:rPr>
              <a:t>业务挑战</a:t>
            </a:r>
          </a:p>
        </p:txBody>
      </p:sp>
      <p:sp>
        <p:nvSpPr>
          <p:cNvPr id="3" name="文本框 2">
            <a:extLst>
              <a:ext uri="{FF2B5EF4-FFF2-40B4-BE49-F238E27FC236}">
                <a16:creationId xmlns:a16="http://schemas.microsoft.com/office/drawing/2014/main" id="{73B5317E-AE86-4DDE-8B36-DDA1DECCF56F}"/>
              </a:ext>
            </a:extLst>
          </p:cNvPr>
          <p:cNvSpPr txBox="1"/>
          <p:nvPr/>
        </p:nvSpPr>
        <p:spPr>
          <a:xfrm>
            <a:off x="533400" y="558800"/>
            <a:ext cx="9779000" cy="400110"/>
          </a:xfrm>
          <a:prstGeom prst="rect">
            <a:avLst/>
          </a:prstGeom>
          <a:noFill/>
        </p:spPr>
        <p:txBody>
          <a:bodyPr vert="horz" lIns="0" tIns="0" rIns="0" bIns="0" rtlCol="0">
            <a:spAutoFit/>
          </a:bodyPr>
          <a:lstStyle/>
          <a:p>
            <a:r>
              <a:rPr lang="en-US" altLang="zh-CN" sz="2600" b="1">
                <a:solidFill>
                  <a:srgbClr val="23343B"/>
                </a:solidFill>
                <a:latin typeface="Microsoft YaHei" panose="020B0503020204020204" pitchFamily="34" charset="-122"/>
              </a:rPr>
              <a:t>Phase </a:t>
            </a:r>
            <a:r>
              <a:rPr lang="zh-CN" altLang="en-US" sz="2600" b="1">
                <a:solidFill>
                  <a:srgbClr val="23343B"/>
                </a:solidFill>
                <a:latin typeface="Microsoft YaHei" panose="020B0503020204020204" pitchFamily="34" charset="-122"/>
              </a:rPr>
              <a:t>越多，重复标注与交付风险越高</a:t>
            </a:r>
          </a:p>
        </p:txBody>
      </p:sp>
      <p:cxnSp>
        <p:nvCxnSpPr>
          <p:cNvPr id="4" name="直接连接符 3">
            <a:extLst>
              <a:ext uri="{FF2B5EF4-FFF2-40B4-BE49-F238E27FC236}">
                <a16:creationId xmlns:a16="http://schemas.microsoft.com/office/drawing/2014/main" id="{F3B5071B-67C9-342E-6E9B-56C8679D7091}"/>
              </a:ext>
            </a:extLst>
          </p:cNvPr>
          <p:cNvCxnSpPr/>
          <p:nvPr/>
        </p:nvCxnSpPr>
        <p:spPr>
          <a:xfrm>
            <a:off x="533400" y="1231900"/>
            <a:ext cx="11125200" cy="0"/>
          </a:xfrm>
          <a:prstGeom prst="line">
            <a:avLst/>
          </a:prstGeom>
          <a:ln w="12700">
            <a:solidFill>
              <a:srgbClr val="E5EAE8"/>
            </a:solidFill>
          </a:ln>
        </p:spPr>
        <p:style>
          <a:lnRef idx="2">
            <a:schemeClr val="accent1"/>
          </a:lnRef>
          <a:fillRef idx="0">
            <a:schemeClr val="accent1"/>
          </a:fillRef>
          <a:effectRef idx="1">
            <a:schemeClr val="accent1"/>
          </a:effectRef>
          <a:fontRef idx="minor">
            <a:schemeClr val="tx1"/>
          </a:fontRef>
        </p:style>
      </p:cxnSp>
      <p:sp>
        <p:nvSpPr>
          <p:cNvPr id="5" name="文本框 4">
            <a:extLst>
              <a:ext uri="{FF2B5EF4-FFF2-40B4-BE49-F238E27FC236}">
                <a16:creationId xmlns:a16="http://schemas.microsoft.com/office/drawing/2014/main" id="{BED6D891-50D6-6F5E-33D0-574EE6922B06}"/>
              </a:ext>
            </a:extLst>
          </p:cNvPr>
          <p:cNvSpPr txBox="1"/>
          <p:nvPr/>
        </p:nvSpPr>
        <p:spPr>
          <a:xfrm>
            <a:off x="11303000" y="254000"/>
            <a:ext cx="355600" cy="138499"/>
          </a:xfrm>
          <a:prstGeom prst="rect">
            <a:avLst/>
          </a:prstGeom>
          <a:noFill/>
        </p:spPr>
        <p:txBody>
          <a:bodyPr vert="horz" lIns="0" tIns="0" rIns="0" bIns="0" rtlCol="0">
            <a:spAutoFit/>
          </a:bodyPr>
          <a:lstStyle/>
          <a:p>
            <a:pPr algn="r"/>
            <a:r>
              <a:rPr lang="en-US" altLang="zh-CN" sz="900" b="1">
                <a:solidFill>
                  <a:srgbClr val="66757B"/>
                </a:solidFill>
                <a:latin typeface="Aptos" panose="020B0004020202020204" pitchFamily="34" charset="0"/>
              </a:rPr>
              <a:t>03</a:t>
            </a:r>
            <a:endParaRPr lang="zh-CN" altLang="en-US" sz="900" b="1">
              <a:solidFill>
                <a:srgbClr val="66757B"/>
              </a:solidFill>
              <a:latin typeface="Aptos" panose="020B0004020202020204" pitchFamily="34" charset="0"/>
            </a:endParaRPr>
          </a:p>
        </p:txBody>
      </p:sp>
      <p:sp>
        <p:nvSpPr>
          <p:cNvPr id="6" name="文本框 5">
            <a:extLst>
              <a:ext uri="{FF2B5EF4-FFF2-40B4-BE49-F238E27FC236}">
                <a16:creationId xmlns:a16="http://schemas.microsoft.com/office/drawing/2014/main" id="{CA39DD41-115F-FFDA-B5E8-381D58057FFE}"/>
              </a:ext>
            </a:extLst>
          </p:cNvPr>
          <p:cNvSpPr txBox="1"/>
          <p:nvPr/>
        </p:nvSpPr>
        <p:spPr>
          <a:xfrm>
            <a:off x="533400" y="6578600"/>
            <a:ext cx="6350000" cy="107722"/>
          </a:xfrm>
          <a:prstGeom prst="rect">
            <a:avLst/>
          </a:prstGeom>
          <a:noFill/>
        </p:spPr>
        <p:txBody>
          <a:bodyPr vert="horz" lIns="0" tIns="0" rIns="0" bIns="0" rtlCol="0">
            <a:spAutoFit/>
          </a:bodyPr>
          <a:lstStyle/>
          <a:p>
            <a:r>
              <a:rPr lang="en-US" altLang="zh-CN" sz="700" b="1">
                <a:solidFill>
                  <a:srgbClr val="66757B"/>
                </a:solidFill>
                <a:latin typeface="Aptos" panose="020B0004020202020204" pitchFamily="34" charset="0"/>
              </a:rPr>
              <a:t>HIGHLIGHTED FLOW PATH SOFTWARE · </a:t>
            </a:r>
            <a:r>
              <a:rPr lang="zh-CN" altLang="en-US" sz="700" b="1">
                <a:solidFill>
                  <a:srgbClr val="66757B"/>
                </a:solidFill>
                <a:latin typeface="Aptos" panose="020B0004020202020204" pitchFamily="34" charset="0"/>
              </a:rPr>
              <a:t>客户演示</a:t>
            </a:r>
          </a:p>
        </p:txBody>
      </p:sp>
      <p:sp>
        <p:nvSpPr>
          <p:cNvPr id="7" name="椭圆 6">
            <a:extLst>
              <a:ext uri="{FF2B5EF4-FFF2-40B4-BE49-F238E27FC236}">
                <a16:creationId xmlns:a16="http://schemas.microsoft.com/office/drawing/2014/main" id="{C890D12D-7C04-1B33-B49D-F2DA3763E905}"/>
              </a:ext>
            </a:extLst>
          </p:cNvPr>
          <p:cNvSpPr/>
          <p:nvPr/>
        </p:nvSpPr>
        <p:spPr>
          <a:xfrm>
            <a:off x="685800" y="1803400"/>
            <a:ext cx="114300" cy="114300"/>
          </a:xfrm>
          <a:prstGeom prst="ellipse">
            <a:avLst/>
          </a:prstGeom>
          <a:solidFill>
            <a:srgbClr val="2F9E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914010C5-2567-21BB-D4A9-1AEDB8F76BCC}"/>
              </a:ext>
            </a:extLst>
          </p:cNvPr>
          <p:cNvSpPr txBox="1"/>
          <p:nvPr/>
        </p:nvSpPr>
        <p:spPr>
          <a:xfrm>
            <a:off x="965200" y="1714500"/>
            <a:ext cx="5372100" cy="246221"/>
          </a:xfrm>
          <a:prstGeom prst="rect">
            <a:avLst/>
          </a:prstGeom>
          <a:noFill/>
        </p:spPr>
        <p:txBody>
          <a:bodyPr vert="horz" lIns="0" tIns="0" rIns="0" bIns="0" rtlCol="0">
            <a:spAutoFit/>
          </a:bodyPr>
          <a:lstStyle/>
          <a:p>
            <a:r>
              <a:rPr lang="zh-CN" altLang="en-US" sz="1600">
                <a:solidFill>
                  <a:srgbClr val="23343B"/>
                </a:solidFill>
                <a:latin typeface="Microsoft YaHei" panose="020B0503020204020204" pitchFamily="34" charset="-122"/>
              </a:rPr>
              <a:t>一个 </a:t>
            </a:r>
            <a:r>
              <a:rPr lang="en-US" altLang="zh-CN" sz="1600">
                <a:solidFill>
                  <a:srgbClr val="23343B"/>
                </a:solidFill>
                <a:latin typeface="Microsoft YaHei" panose="020B0503020204020204" pitchFamily="34" charset="-122"/>
              </a:rPr>
              <a:t>CIP </a:t>
            </a:r>
            <a:r>
              <a:rPr lang="zh-CN" altLang="en-US" sz="1600">
                <a:solidFill>
                  <a:srgbClr val="23343B"/>
                </a:solidFill>
                <a:latin typeface="Microsoft YaHei" panose="020B0503020204020204" pitchFamily="34" charset="-122"/>
              </a:rPr>
              <a:t>流程通常包含几十个 </a:t>
            </a:r>
            <a:r>
              <a:rPr lang="en-US" altLang="zh-CN" sz="1600">
                <a:solidFill>
                  <a:srgbClr val="23343B"/>
                </a:solidFill>
                <a:latin typeface="Microsoft YaHei" panose="020B0503020204020204" pitchFamily="34" charset="-122"/>
              </a:rPr>
              <a:t>Phase</a:t>
            </a:r>
            <a:endParaRPr lang="zh-CN" altLang="en-US" sz="1600">
              <a:solidFill>
                <a:srgbClr val="23343B"/>
              </a:solidFill>
              <a:latin typeface="Microsoft YaHei" panose="020B0503020204020204" pitchFamily="34" charset="-122"/>
            </a:endParaRPr>
          </a:p>
        </p:txBody>
      </p:sp>
      <p:sp>
        <p:nvSpPr>
          <p:cNvPr id="9" name="椭圆 8">
            <a:extLst>
              <a:ext uri="{FF2B5EF4-FFF2-40B4-BE49-F238E27FC236}">
                <a16:creationId xmlns:a16="http://schemas.microsoft.com/office/drawing/2014/main" id="{FBAE6230-644E-6292-AE1A-DB7C4DD3A803}"/>
              </a:ext>
            </a:extLst>
          </p:cNvPr>
          <p:cNvSpPr/>
          <p:nvPr/>
        </p:nvSpPr>
        <p:spPr>
          <a:xfrm>
            <a:off x="685800" y="26924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DC0B97FC-3644-F841-CAE4-15252EAB8F0B}"/>
              </a:ext>
            </a:extLst>
          </p:cNvPr>
          <p:cNvSpPr txBox="1"/>
          <p:nvPr/>
        </p:nvSpPr>
        <p:spPr>
          <a:xfrm>
            <a:off x="965200" y="2603500"/>
            <a:ext cx="5372100" cy="246221"/>
          </a:xfrm>
          <a:prstGeom prst="rect">
            <a:avLst/>
          </a:prstGeom>
          <a:noFill/>
        </p:spPr>
        <p:txBody>
          <a:bodyPr vert="horz" lIns="0" tIns="0" rIns="0" bIns="0" rtlCol="0">
            <a:spAutoFit/>
          </a:bodyPr>
          <a:lstStyle/>
          <a:p>
            <a:r>
              <a:rPr lang="zh-CN" altLang="en-US" sz="1600">
                <a:solidFill>
                  <a:srgbClr val="23343B"/>
                </a:solidFill>
                <a:latin typeface="Microsoft YaHei" panose="020B0503020204020204" pitchFamily="34" charset="-122"/>
              </a:rPr>
              <a:t>每个 </a:t>
            </a:r>
            <a:r>
              <a:rPr lang="en-US" altLang="zh-CN" sz="1600">
                <a:solidFill>
                  <a:srgbClr val="23343B"/>
                </a:solidFill>
                <a:latin typeface="Microsoft YaHei" panose="020B0503020204020204" pitchFamily="34" charset="-122"/>
              </a:rPr>
              <a:t>Phase </a:t>
            </a:r>
            <a:r>
              <a:rPr lang="zh-CN" altLang="en-US" sz="1600">
                <a:solidFill>
                  <a:srgbClr val="23343B"/>
                </a:solidFill>
                <a:latin typeface="Microsoft YaHei" panose="020B0503020204020204" pitchFamily="34" charset="-122"/>
              </a:rPr>
              <a:t>都要重复确认路径与阀门状态</a:t>
            </a:r>
          </a:p>
        </p:txBody>
      </p:sp>
      <p:sp>
        <p:nvSpPr>
          <p:cNvPr id="11" name="椭圆 10">
            <a:extLst>
              <a:ext uri="{FF2B5EF4-FFF2-40B4-BE49-F238E27FC236}">
                <a16:creationId xmlns:a16="http://schemas.microsoft.com/office/drawing/2014/main" id="{B76E760F-2AB6-750B-AFA6-1B819AB43FDE}"/>
              </a:ext>
            </a:extLst>
          </p:cNvPr>
          <p:cNvSpPr/>
          <p:nvPr/>
        </p:nvSpPr>
        <p:spPr>
          <a:xfrm>
            <a:off x="685800" y="35814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AB43E5D3-FBD5-C6CE-6752-8A8D894850AC}"/>
              </a:ext>
            </a:extLst>
          </p:cNvPr>
          <p:cNvSpPr txBox="1"/>
          <p:nvPr/>
        </p:nvSpPr>
        <p:spPr>
          <a:xfrm>
            <a:off x="965200" y="3492500"/>
            <a:ext cx="5372100" cy="246221"/>
          </a:xfrm>
          <a:prstGeom prst="rect">
            <a:avLst/>
          </a:prstGeom>
          <a:noFill/>
        </p:spPr>
        <p:txBody>
          <a:bodyPr vert="horz" lIns="0" tIns="0" rIns="0" bIns="0" rtlCol="0">
            <a:spAutoFit/>
          </a:bodyPr>
          <a:lstStyle/>
          <a:p>
            <a:r>
              <a:rPr lang="zh-CN" altLang="en-US" sz="1600">
                <a:solidFill>
                  <a:srgbClr val="23343B"/>
                </a:solidFill>
                <a:latin typeface="Microsoft YaHei" panose="020B0503020204020204" pitchFamily="34" charset="-122"/>
              </a:rPr>
              <a:t>人工复制、标注和整理页面耗时且容易错序</a:t>
            </a:r>
          </a:p>
        </p:txBody>
      </p:sp>
      <p:sp>
        <p:nvSpPr>
          <p:cNvPr id="13" name="椭圆 12">
            <a:extLst>
              <a:ext uri="{FF2B5EF4-FFF2-40B4-BE49-F238E27FC236}">
                <a16:creationId xmlns:a16="http://schemas.microsoft.com/office/drawing/2014/main" id="{006246FA-0DA1-0E7C-15CA-D29A57988E11}"/>
              </a:ext>
            </a:extLst>
          </p:cNvPr>
          <p:cNvSpPr/>
          <p:nvPr/>
        </p:nvSpPr>
        <p:spPr>
          <a:xfrm>
            <a:off x="685800" y="44704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C64EFEBA-57DF-50D2-A9B8-BDE529032CB3}"/>
              </a:ext>
            </a:extLst>
          </p:cNvPr>
          <p:cNvSpPr txBox="1"/>
          <p:nvPr/>
        </p:nvSpPr>
        <p:spPr>
          <a:xfrm>
            <a:off x="965200" y="4381500"/>
            <a:ext cx="5372100" cy="246221"/>
          </a:xfrm>
          <a:prstGeom prst="rect">
            <a:avLst/>
          </a:prstGeom>
          <a:noFill/>
        </p:spPr>
        <p:txBody>
          <a:bodyPr vert="horz" lIns="0" tIns="0" rIns="0" bIns="0" rtlCol="0">
            <a:spAutoFit/>
          </a:bodyPr>
          <a:lstStyle/>
          <a:p>
            <a:r>
              <a:rPr lang="zh-CN" altLang="en-US" sz="1600">
                <a:solidFill>
                  <a:srgbClr val="23343B"/>
                </a:solidFill>
                <a:latin typeface="Microsoft YaHei" panose="020B0503020204020204" pitchFamily="34" charset="-122"/>
              </a:rPr>
              <a:t>数百页报告进一步放大遗漏与版本风险</a:t>
            </a:r>
          </a:p>
        </p:txBody>
      </p:sp>
      <p:sp>
        <p:nvSpPr>
          <p:cNvPr id="15" name="矩形: 圆角 14">
            <a:extLst>
              <a:ext uri="{FF2B5EF4-FFF2-40B4-BE49-F238E27FC236}">
                <a16:creationId xmlns:a16="http://schemas.microsoft.com/office/drawing/2014/main" id="{D3EC12B7-9199-8DFA-DB4E-8D007D45EC59}"/>
              </a:ext>
            </a:extLst>
          </p:cNvPr>
          <p:cNvSpPr/>
          <p:nvPr/>
        </p:nvSpPr>
        <p:spPr>
          <a:xfrm>
            <a:off x="6921500" y="1778000"/>
            <a:ext cx="4635500" cy="3213100"/>
          </a:xfrm>
          <a:prstGeom prst="roundRect">
            <a:avLst/>
          </a:prstGeom>
          <a:solidFill>
            <a:srgbClr val="FFFFFF"/>
          </a:solidFill>
          <a:ln w="9525">
            <a:solidFill>
              <a:srgbClr val="E5E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a:extLst>
              <a:ext uri="{FF2B5EF4-FFF2-40B4-BE49-F238E27FC236}">
                <a16:creationId xmlns:a16="http://schemas.microsoft.com/office/drawing/2014/main" id="{3CD47EAE-E915-6530-62F1-1A5ABBA4F97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0" y="1841500"/>
            <a:ext cx="4508500" cy="3086100"/>
          </a:xfrm>
          <a:prstGeom prst="rect">
            <a:avLst/>
          </a:prstGeom>
        </p:spPr>
      </p:pic>
      <p:sp>
        <p:nvSpPr>
          <p:cNvPr id="18" name="文本框 17">
            <a:extLst>
              <a:ext uri="{FF2B5EF4-FFF2-40B4-BE49-F238E27FC236}">
                <a16:creationId xmlns:a16="http://schemas.microsoft.com/office/drawing/2014/main" id="{EDBBFA11-C4B8-6EA8-CE20-6733FFB58FC3}"/>
              </a:ext>
            </a:extLst>
          </p:cNvPr>
          <p:cNvSpPr txBox="1"/>
          <p:nvPr/>
        </p:nvSpPr>
        <p:spPr>
          <a:xfrm>
            <a:off x="6985000" y="5168900"/>
            <a:ext cx="4508500" cy="153888"/>
          </a:xfrm>
          <a:prstGeom prst="rect">
            <a:avLst/>
          </a:prstGeom>
          <a:noFill/>
        </p:spPr>
        <p:txBody>
          <a:bodyPr vert="horz" lIns="0" tIns="0" rIns="0" bIns="0" rtlCol="0">
            <a:spAutoFit/>
          </a:bodyPr>
          <a:lstStyle/>
          <a:p>
            <a:r>
              <a:rPr lang="zh-CN" altLang="en-US" sz="1000" b="1">
                <a:solidFill>
                  <a:srgbClr val="2F9E75"/>
                </a:solidFill>
                <a:latin typeface="Microsoft YaHei" panose="020B0503020204020204" pitchFamily="34" charset="-122"/>
              </a:rPr>
              <a:t>从复杂图纸中建立清晰场景</a:t>
            </a:r>
          </a:p>
        </p:txBody>
      </p:sp>
    </p:spTree>
    <p:extLst>
      <p:ext uri="{BB962C8B-B14F-4D97-AF65-F5344CB8AC3E}">
        <p14:creationId xmlns:p14="http://schemas.microsoft.com/office/powerpoint/2010/main" val="34527610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BD4EF45-AAC9-8042-4AA8-87941B8F1D05}"/>
              </a:ext>
            </a:extLst>
          </p:cNvPr>
          <p:cNvSpPr txBox="1"/>
          <p:nvPr/>
        </p:nvSpPr>
        <p:spPr>
          <a:xfrm>
            <a:off x="533400" y="254000"/>
            <a:ext cx="8255000" cy="138499"/>
          </a:xfrm>
          <a:prstGeom prst="rect">
            <a:avLst/>
          </a:prstGeom>
          <a:noFill/>
        </p:spPr>
        <p:txBody>
          <a:bodyPr vert="horz" lIns="0" tIns="0" rIns="0" bIns="0" rtlCol="0">
            <a:spAutoFit/>
          </a:bodyPr>
          <a:lstStyle/>
          <a:p>
            <a:r>
              <a:rPr lang="zh-CN" altLang="en-US" sz="900" b="1">
                <a:solidFill>
                  <a:srgbClr val="2F9E75"/>
                </a:solidFill>
                <a:latin typeface="Aptos" panose="020B0004020202020204" pitchFamily="34" charset="0"/>
              </a:rPr>
              <a:t>解决方案</a:t>
            </a:r>
          </a:p>
        </p:txBody>
      </p:sp>
      <p:sp>
        <p:nvSpPr>
          <p:cNvPr id="3" name="文本框 2">
            <a:extLst>
              <a:ext uri="{FF2B5EF4-FFF2-40B4-BE49-F238E27FC236}">
                <a16:creationId xmlns:a16="http://schemas.microsoft.com/office/drawing/2014/main" id="{04E1DEB2-CA29-3B75-576E-6305C1519564}"/>
              </a:ext>
            </a:extLst>
          </p:cNvPr>
          <p:cNvSpPr txBox="1"/>
          <p:nvPr/>
        </p:nvSpPr>
        <p:spPr>
          <a:xfrm>
            <a:off x="533400" y="558800"/>
            <a:ext cx="9779000" cy="400110"/>
          </a:xfrm>
          <a:prstGeom prst="rect">
            <a:avLst/>
          </a:prstGeom>
          <a:noFill/>
        </p:spPr>
        <p:txBody>
          <a:bodyPr vert="horz" lIns="0" tIns="0" rIns="0" bIns="0" rtlCol="0">
            <a:spAutoFit/>
          </a:bodyPr>
          <a:lstStyle/>
          <a:p>
            <a:r>
              <a:rPr lang="zh-CN" altLang="en-US" sz="2600" b="1">
                <a:solidFill>
                  <a:srgbClr val="23343B"/>
                </a:solidFill>
                <a:latin typeface="Microsoft YaHei" panose="020B0503020204020204" pitchFamily="34" charset="-122"/>
              </a:rPr>
              <a:t>从静态图纸到可模拟的数字工艺视图</a:t>
            </a:r>
          </a:p>
        </p:txBody>
      </p:sp>
      <p:cxnSp>
        <p:nvCxnSpPr>
          <p:cNvPr id="4" name="直接连接符 3">
            <a:extLst>
              <a:ext uri="{FF2B5EF4-FFF2-40B4-BE49-F238E27FC236}">
                <a16:creationId xmlns:a16="http://schemas.microsoft.com/office/drawing/2014/main" id="{0EBCB965-0280-3F48-5906-FE2DD0EB8781}"/>
              </a:ext>
            </a:extLst>
          </p:cNvPr>
          <p:cNvCxnSpPr/>
          <p:nvPr/>
        </p:nvCxnSpPr>
        <p:spPr>
          <a:xfrm>
            <a:off x="533400" y="1231900"/>
            <a:ext cx="11125200" cy="0"/>
          </a:xfrm>
          <a:prstGeom prst="line">
            <a:avLst/>
          </a:prstGeom>
          <a:ln w="12700">
            <a:solidFill>
              <a:srgbClr val="E5EAE8"/>
            </a:solidFill>
          </a:ln>
        </p:spPr>
        <p:style>
          <a:lnRef idx="2">
            <a:schemeClr val="accent1"/>
          </a:lnRef>
          <a:fillRef idx="0">
            <a:schemeClr val="accent1"/>
          </a:fillRef>
          <a:effectRef idx="1">
            <a:schemeClr val="accent1"/>
          </a:effectRef>
          <a:fontRef idx="minor">
            <a:schemeClr val="tx1"/>
          </a:fontRef>
        </p:style>
      </p:cxnSp>
      <p:sp>
        <p:nvSpPr>
          <p:cNvPr id="5" name="文本框 4">
            <a:extLst>
              <a:ext uri="{FF2B5EF4-FFF2-40B4-BE49-F238E27FC236}">
                <a16:creationId xmlns:a16="http://schemas.microsoft.com/office/drawing/2014/main" id="{3FD1808C-6D78-0C9D-4DE4-5516989D8945}"/>
              </a:ext>
            </a:extLst>
          </p:cNvPr>
          <p:cNvSpPr txBox="1"/>
          <p:nvPr/>
        </p:nvSpPr>
        <p:spPr>
          <a:xfrm>
            <a:off x="11303000" y="254000"/>
            <a:ext cx="355600" cy="138499"/>
          </a:xfrm>
          <a:prstGeom prst="rect">
            <a:avLst/>
          </a:prstGeom>
          <a:noFill/>
        </p:spPr>
        <p:txBody>
          <a:bodyPr vert="horz" lIns="0" tIns="0" rIns="0" bIns="0" rtlCol="0">
            <a:spAutoFit/>
          </a:bodyPr>
          <a:lstStyle/>
          <a:p>
            <a:pPr algn="r"/>
            <a:r>
              <a:rPr lang="en-US" altLang="zh-CN" sz="900" b="1">
                <a:solidFill>
                  <a:srgbClr val="66757B"/>
                </a:solidFill>
                <a:latin typeface="Aptos" panose="020B0004020202020204" pitchFamily="34" charset="0"/>
              </a:rPr>
              <a:t>04</a:t>
            </a:r>
            <a:endParaRPr lang="zh-CN" altLang="en-US" sz="900" b="1">
              <a:solidFill>
                <a:srgbClr val="66757B"/>
              </a:solidFill>
              <a:latin typeface="Aptos" panose="020B0004020202020204" pitchFamily="34" charset="0"/>
            </a:endParaRPr>
          </a:p>
        </p:txBody>
      </p:sp>
      <p:sp>
        <p:nvSpPr>
          <p:cNvPr id="6" name="文本框 5">
            <a:extLst>
              <a:ext uri="{FF2B5EF4-FFF2-40B4-BE49-F238E27FC236}">
                <a16:creationId xmlns:a16="http://schemas.microsoft.com/office/drawing/2014/main" id="{BBA5B10A-DC2A-C374-0AE7-FBDDE5B59235}"/>
              </a:ext>
            </a:extLst>
          </p:cNvPr>
          <p:cNvSpPr txBox="1"/>
          <p:nvPr/>
        </p:nvSpPr>
        <p:spPr>
          <a:xfrm>
            <a:off x="533400" y="6578600"/>
            <a:ext cx="6350000" cy="107722"/>
          </a:xfrm>
          <a:prstGeom prst="rect">
            <a:avLst/>
          </a:prstGeom>
          <a:noFill/>
        </p:spPr>
        <p:txBody>
          <a:bodyPr vert="horz" lIns="0" tIns="0" rIns="0" bIns="0" rtlCol="0">
            <a:spAutoFit/>
          </a:bodyPr>
          <a:lstStyle/>
          <a:p>
            <a:r>
              <a:rPr lang="en-US" altLang="zh-CN" sz="700" b="1">
                <a:solidFill>
                  <a:srgbClr val="66757B"/>
                </a:solidFill>
                <a:latin typeface="Aptos" panose="020B0004020202020204" pitchFamily="34" charset="0"/>
              </a:rPr>
              <a:t>HIGHLIGHTED FLOW PATH SOFTWARE · </a:t>
            </a:r>
            <a:r>
              <a:rPr lang="zh-CN" altLang="en-US" sz="700" b="1">
                <a:solidFill>
                  <a:srgbClr val="66757B"/>
                </a:solidFill>
                <a:latin typeface="Aptos" panose="020B0004020202020204" pitchFamily="34" charset="0"/>
              </a:rPr>
              <a:t>客户演示</a:t>
            </a:r>
          </a:p>
        </p:txBody>
      </p:sp>
      <p:sp>
        <p:nvSpPr>
          <p:cNvPr id="7" name="矩形: 圆角 6">
            <a:extLst>
              <a:ext uri="{FF2B5EF4-FFF2-40B4-BE49-F238E27FC236}">
                <a16:creationId xmlns:a16="http://schemas.microsoft.com/office/drawing/2014/main" id="{72B45C09-F198-7FE5-59FE-4020DC244EF4}"/>
              </a:ext>
            </a:extLst>
          </p:cNvPr>
          <p:cNvSpPr/>
          <p:nvPr/>
        </p:nvSpPr>
        <p:spPr>
          <a:xfrm>
            <a:off x="660400" y="1968500"/>
            <a:ext cx="1905000" cy="863600"/>
          </a:xfrm>
          <a:prstGeom prst="roundRect">
            <a:avLst/>
          </a:prstGeom>
          <a:solidFill>
            <a:srgbClr val="FFFFFF"/>
          </a:solidFill>
          <a:ln w="9525">
            <a:solidFill>
              <a:srgbClr val="E5E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3CF90DDE-17F7-B09C-BC0D-5D20027275C5}"/>
              </a:ext>
            </a:extLst>
          </p:cNvPr>
          <p:cNvSpPr txBox="1"/>
          <p:nvPr/>
        </p:nvSpPr>
        <p:spPr>
          <a:xfrm>
            <a:off x="812800" y="2095500"/>
            <a:ext cx="355600" cy="123111"/>
          </a:xfrm>
          <a:prstGeom prst="rect">
            <a:avLst/>
          </a:prstGeom>
          <a:noFill/>
        </p:spPr>
        <p:txBody>
          <a:bodyPr vert="horz" lIns="0" tIns="0" rIns="0" bIns="0" rtlCol="0">
            <a:spAutoFit/>
          </a:bodyPr>
          <a:lstStyle/>
          <a:p>
            <a:r>
              <a:rPr lang="en-US" altLang="zh-CN" sz="800" b="1">
                <a:solidFill>
                  <a:srgbClr val="2F9E75"/>
                </a:solidFill>
                <a:latin typeface="Aptos" panose="020B0004020202020204" pitchFamily="34" charset="0"/>
              </a:rPr>
              <a:t>01</a:t>
            </a:r>
            <a:endParaRPr lang="zh-CN" altLang="en-US" sz="800" b="1">
              <a:solidFill>
                <a:srgbClr val="2F9E75"/>
              </a:solidFill>
              <a:latin typeface="Aptos" panose="020B0004020202020204" pitchFamily="34" charset="0"/>
            </a:endParaRPr>
          </a:p>
        </p:txBody>
      </p:sp>
      <p:sp>
        <p:nvSpPr>
          <p:cNvPr id="9" name="文本框 8">
            <a:extLst>
              <a:ext uri="{FF2B5EF4-FFF2-40B4-BE49-F238E27FC236}">
                <a16:creationId xmlns:a16="http://schemas.microsoft.com/office/drawing/2014/main" id="{FDE39642-6485-E12D-EE69-DB7124685F8A}"/>
              </a:ext>
            </a:extLst>
          </p:cNvPr>
          <p:cNvSpPr txBox="1"/>
          <p:nvPr/>
        </p:nvSpPr>
        <p:spPr>
          <a:xfrm>
            <a:off x="812800" y="2336800"/>
            <a:ext cx="1600200" cy="215444"/>
          </a:xfrm>
          <a:prstGeom prst="rect">
            <a:avLst/>
          </a:prstGeom>
          <a:noFill/>
        </p:spPr>
        <p:txBody>
          <a:bodyPr vert="horz" lIns="0" tIns="0" rIns="0" bIns="0" rtlCol="0">
            <a:spAutoFit/>
          </a:bodyPr>
          <a:lstStyle/>
          <a:p>
            <a:r>
              <a:rPr lang="zh-CN" altLang="en-US" sz="1400" b="1">
                <a:solidFill>
                  <a:srgbClr val="23343B"/>
                </a:solidFill>
                <a:latin typeface="Microsoft YaHei" panose="020B0503020204020204" pitchFamily="34" charset="-122"/>
              </a:rPr>
              <a:t>数字化 </a:t>
            </a:r>
            <a:r>
              <a:rPr lang="en-US" altLang="zh-CN" sz="1400" b="1">
                <a:solidFill>
                  <a:srgbClr val="23343B"/>
                </a:solidFill>
                <a:latin typeface="Microsoft YaHei" panose="020B0503020204020204" pitchFamily="34" charset="-122"/>
              </a:rPr>
              <a:t>P&amp;ID</a:t>
            </a:r>
            <a:endParaRPr lang="zh-CN" altLang="en-US" sz="1400" b="1">
              <a:solidFill>
                <a:srgbClr val="23343B"/>
              </a:solidFill>
              <a:latin typeface="Microsoft YaHei" panose="020B0503020204020204" pitchFamily="34" charset="-122"/>
            </a:endParaRPr>
          </a:p>
        </p:txBody>
      </p:sp>
      <p:cxnSp>
        <p:nvCxnSpPr>
          <p:cNvPr id="10" name="直接连接符 9">
            <a:extLst>
              <a:ext uri="{FF2B5EF4-FFF2-40B4-BE49-F238E27FC236}">
                <a16:creationId xmlns:a16="http://schemas.microsoft.com/office/drawing/2014/main" id="{340F17C6-56A7-1410-DA7C-05020E1373C5}"/>
              </a:ext>
            </a:extLst>
          </p:cNvPr>
          <p:cNvCxnSpPr/>
          <p:nvPr/>
        </p:nvCxnSpPr>
        <p:spPr>
          <a:xfrm>
            <a:off x="2565400" y="2400300"/>
            <a:ext cx="355600" cy="0"/>
          </a:xfrm>
          <a:prstGeom prst="line">
            <a:avLst/>
          </a:prstGeom>
          <a:ln w="25400">
            <a:solidFill>
              <a:srgbClr val="E89A3C"/>
            </a:solidFill>
          </a:ln>
        </p:spPr>
        <p:style>
          <a:lnRef idx="2">
            <a:schemeClr val="accent1"/>
          </a:lnRef>
          <a:fillRef idx="0">
            <a:schemeClr val="accent1"/>
          </a:fillRef>
          <a:effectRef idx="1">
            <a:schemeClr val="accent1"/>
          </a:effectRef>
          <a:fontRef idx="minor">
            <a:schemeClr val="tx1"/>
          </a:fontRef>
        </p:style>
      </p:cxnSp>
      <p:sp>
        <p:nvSpPr>
          <p:cNvPr id="11" name="矩形: 圆角 10">
            <a:extLst>
              <a:ext uri="{FF2B5EF4-FFF2-40B4-BE49-F238E27FC236}">
                <a16:creationId xmlns:a16="http://schemas.microsoft.com/office/drawing/2014/main" id="{7BCF4FD3-E786-6D7D-873B-BCD4A833E557}"/>
              </a:ext>
            </a:extLst>
          </p:cNvPr>
          <p:cNvSpPr/>
          <p:nvPr/>
        </p:nvSpPr>
        <p:spPr>
          <a:xfrm>
            <a:off x="2921000" y="1968500"/>
            <a:ext cx="1905000" cy="863600"/>
          </a:xfrm>
          <a:prstGeom prst="roundRect">
            <a:avLst/>
          </a:prstGeom>
          <a:solidFill>
            <a:srgbClr val="DFF3EB"/>
          </a:solidFill>
          <a:ln w="9525">
            <a:solidFill>
              <a:srgbClr val="2F9E7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6E78BE41-9179-5466-4C5D-0D12321C39E7}"/>
              </a:ext>
            </a:extLst>
          </p:cNvPr>
          <p:cNvSpPr txBox="1"/>
          <p:nvPr/>
        </p:nvSpPr>
        <p:spPr>
          <a:xfrm>
            <a:off x="3073400" y="2095500"/>
            <a:ext cx="355600" cy="123111"/>
          </a:xfrm>
          <a:prstGeom prst="rect">
            <a:avLst/>
          </a:prstGeom>
          <a:noFill/>
        </p:spPr>
        <p:txBody>
          <a:bodyPr vert="horz" lIns="0" tIns="0" rIns="0" bIns="0" rtlCol="0">
            <a:spAutoFit/>
          </a:bodyPr>
          <a:lstStyle/>
          <a:p>
            <a:r>
              <a:rPr lang="en-US" altLang="zh-CN" sz="800" b="1">
                <a:solidFill>
                  <a:srgbClr val="2F9E75"/>
                </a:solidFill>
                <a:latin typeface="Aptos" panose="020B0004020202020204" pitchFamily="34" charset="0"/>
              </a:rPr>
              <a:t>02</a:t>
            </a:r>
            <a:endParaRPr lang="zh-CN" altLang="en-US" sz="800" b="1">
              <a:solidFill>
                <a:srgbClr val="2F9E75"/>
              </a:solidFill>
              <a:latin typeface="Aptos" panose="020B0004020202020204" pitchFamily="34" charset="0"/>
            </a:endParaRPr>
          </a:p>
        </p:txBody>
      </p:sp>
      <p:sp>
        <p:nvSpPr>
          <p:cNvPr id="13" name="文本框 12">
            <a:extLst>
              <a:ext uri="{FF2B5EF4-FFF2-40B4-BE49-F238E27FC236}">
                <a16:creationId xmlns:a16="http://schemas.microsoft.com/office/drawing/2014/main" id="{3836036A-EE43-1833-F618-54BAECE72B45}"/>
              </a:ext>
            </a:extLst>
          </p:cNvPr>
          <p:cNvSpPr txBox="1"/>
          <p:nvPr/>
        </p:nvSpPr>
        <p:spPr>
          <a:xfrm>
            <a:off x="3073400" y="2336800"/>
            <a:ext cx="1600200" cy="215444"/>
          </a:xfrm>
          <a:prstGeom prst="rect">
            <a:avLst/>
          </a:prstGeom>
          <a:noFill/>
        </p:spPr>
        <p:txBody>
          <a:bodyPr vert="horz" lIns="0" tIns="0" rIns="0" bIns="0" rtlCol="0">
            <a:spAutoFit/>
          </a:bodyPr>
          <a:lstStyle/>
          <a:p>
            <a:r>
              <a:rPr lang="zh-CN" altLang="en-US" sz="1400" b="1">
                <a:solidFill>
                  <a:srgbClr val="23343B"/>
                </a:solidFill>
                <a:latin typeface="Microsoft YaHei" panose="020B0503020204020204" pitchFamily="34" charset="-122"/>
              </a:rPr>
              <a:t>流路分析</a:t>
            </a:r>
          </a:p>
        </p:txBody>
      </p:sp>
      <p:cxnSp>
        <p:nvCxnSpPr>
          <p:cNvPr id="14" name="直接连接符 13">
            <a:extLst>
              <a:ext uri="{FF2B5EF4-FFF2-40B4-BE49-F238E27FC236}">
                <a16:creationId xmlns:a16="http://schemas.microsoft.com/office/drawing/2014/main" id="{87E4D988-F000-AB82-16ED-F4C628787EB9}"/>
              </a:ext>
            </a:extLst>
          </p:cNvPr>
          <p:cNvCxnSpPr/>
          <p:nvPr/>
        </p:nvCxnSpPr>
        <p:spPr>
          <a:xfrm>
            <a:off x="4826000" y="2400300"/>
            <a:ext cx="355600" cy="0"/>
          </a:xfrm>
          <a:prstGeom prst="line">
            <a:avLst/>
          </a:prstGeom>
          <a:ln w="25400">
            <a:solidFill>
              <a:srgbClr val="E89A3C"/>
            </a:solidFill>
          </a:ln>
        </p:spPr>
        <p:style>
          <a:lnRef idx="2">
            <a:schemeClr val="accent1"/>
          </a:lnRef>
          <a:fillRef idx="0">
            <a:schemeClr val="accent1"/>
          </a:fillRef>
          <a:effectRef idx="1">
            <a:schemeClr val="accent1"/>
          </a:effectRef>
          <a:fontRef idx="minor">
            <a:schemeClr val="tx1"/>
          </a:fontRef>
        </p:style>
      </p:cxnSp>
      <p:sp>
        <p:nvSpPr>
          <p:cNvPr id="15" name="矩形: 圆角 14">
            <a:extLst>
              <a:ext uri="{FF2B5EF4-FFF2-40B4-BE49-F238E27FC236}">
                <a16:creationId xmlns:a16="http://schemas.microsoft.com/office/drawing/2014/main" id="{A02E0932-1BFD-2CC7-0716-D6BDF5441460}"/>
              </a:ext>
            </a:extLst>
          </p:cNvPr>
          <p:cNvSpPr/>
          <p:nvPr/>
        </p:nvSpPr>
        <p:spPr>
          <a:xfrm>
            <a:off x="5181600" y="1968500"/>
            <a:ext cx="1905000" cy="863600"/>
          </a:xfrm>
          <a:prstGeom prst="roundRect">
            <a:avLst/>
          </a:prstGeom>
          <a:solidFill>
            <a:srgbClr val="DFF3EB"/>
          </a:solidFill>
          <a:ln w="9525">
            <a:solidFill>
              <a:srgbClr val="2F9E7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BDFB6597-BD68-1790-B4D9-B08A3E6A1916}"/>
              </a:ext>
            </a:extLst>
          </p:cNvPr>
          <p:cNvSpPr txBox="1"/>
          <p:nvPr/>
        </p:nvSpPr>
        <p:spPr>
          <a:xfrm>
            <a:off x="5334000" y="2095500"/>
            <a:ext cx="355600" cy="123111"/>
          </a:xfrm>
          <a:prstGeom prst="rect">
            <a:avLst/>
          </a:prstGeom>
          <a:noFill/>
        </p:spPr>
        <p:txBody>
          <a:bodyPr vert="horz" lIns="0" tIns="0" rIns="0" bIns="0" rtlCol="0">
            <a:spAutoFit/>
          </a:bodyPr>
          <a:lstStyle/>
          <a:p>
            <a:r>
              <a:rPr lang="en-US" altLang="zh-CN" sz="800" b="1">
                <a:solidFill>
                  <a:srgbClr val="2F9E75"/>
                </a:solidFill>
                <a:latin typeface="Aptos" panose="020B0004020202020204" pitchFamily="34" charset="0"/>
              </a:rPr>
              <a:t>03</a:t>
            </a:r>
            <a:endParaRPr lang="zh-CN" altLang="en-US" sz="800" b="1">
              <a:solidFill>
                <a:srgbClr val="2F9E75"/>
              </a:solidFill>
              <a:latin typeface="Aptos" panose="020B0004020202020204" pitchFamily="34" charset="0"/>
            </a:endParaRPr>
          </a:p>
        </p:txBody>
      </p:sp>
      <p:sp>
        <p:nvSpPr>
          <p:cNvPr id="17" name="文本框 16">
            <a:extLst>
              <a:ext uri="{FF2B5EF4-FFF2-40B4-BE49-F238E27FC236}">
                <a16:creationId xmlns:a16="http://schemas.microsoft.com/office/drawing/2014/main" id="{1FF3264B-DA1B-2C38-4EF7-405EF278FB95}"/>
              </a:ext>
            </a:extLst>
          </p:cNvPr>
          <p:cNvSpPr txBox="1"/>
          <p:nvPr/>
        </p:nvSpPr>
        <p:spPr>
          <a:xfrm>
            <a:off x="5334000" y="2336800"/>
            <a:ext cx="1600200" cy="215444"/>
          </a:xfrm>
          <a:prstGeom prst="rect">
            <a:avLst/>
          </a:prstGeom>
          <a:noFill/>
        </p:spPr>
        <p:txBody>
          <a:bodyPr vert="horz" lIns="0" tIns="0" rIns="0" bIns="0" rtlCol="0">
            <a:spAutoFit/>
          </a:bodyPr>
          <a:lstStyle/>
          <a:p>
            <a:r>
              <a:rPr lang="en-US" altLang="zh-CN" sz="1400" b="1">
                <a:solidFill>
                  <a:srgbClr val="23343B"/>
                </a:solidFill>
                <a:latin typeface="Microsoft YaHei" panose="020B0503020204020204" pitchFamily="34" charset="-122"/>
              </a:rPr>
              <a:t>Phase </a:t>
            </a:r>
            <a:r>
              <a:rPr lang="zh-CN" altLang="en-US" sz="1400" b="1">
                <a:solidFill>
                  <a:srgbClr val="23343B"/>
                </a:solidFill>
                <a:latin typeface="Microsoft YaHei" panose="020B0503020204020204" pitchFamily="34" charset="-122"/>
              </a:rPr>
              <a:t>模拟</a:t>
            </a:r>
          </a:p>
        </p:txBody>
      </p:sp>
      <p:cxnSp>
        <p:nvCxnSpPr>
          <p:cNvPr id="18" name="直接连接符 17">
            <a:extLst>
              <a:ext uri="{FF2B5EF4-FFF2-40B4-BE49-F238E27FC236}">
                <a16:creationId xmlns:a16="http://schemas.microsoft.com/office/drawing/2014/main" id="{8E8ED119-4C7E-8027-0370-618EE821D4BF}"/>
              </a:ext>
            </a:extLst>
          </p:cNvPr>
          <p:cNvCxnSpPr/>
          <p:nvPr/>
        </p:nvCxnSpPr>
        <p:spPr>
          <a:xfrm>
            <a:off x="7086600" y="2400300"/>
            <a:ext cx="355600" cy="0"/>
          </a:xfrm>
          <a:prstGeom prst="line">
            <a:avLst/>
          </a:prstGeom>
          <a:ln w="25400">
            <a:solidFill>
              <a:srgbClr val="E89A3C"/>
            </a:solidFill>
          </a:ln>
        </p:spPr>
        <p:style>
          <a:lnRef idx="2">
            <a:schemeClr val="accent1"/>
          </a:lnRef>
          <a:fillRef idx="0">
            <a:schemeClr val="accent1"/>
          </a:fillRef>
          <a:effectRef idx="1">
            <a:schemeClr val="accent1"/>
          </a:effectRef>
          <a:fontRef idx="minor">
            <a:schemeClr val="tx1"/>
          </a:fontRef>
        </p:style>
      </p:cxnSp>
      <p:sp>
        <p:nvSpPr>
          <p:cNvPr id="19" name="矩形: 圆角 18">
            <a:extLst>
              <a:ext uri="{FF2B5EF4-FFF2-40B4-BE49-F238E27FC236}">
                <a16:creationId xmlns:a16="http://schemas.microsoft.com/office/drawing/2014/main" id="{F499FAA7-1F1E-B51E-7EA1-C8EA47BA6D44}"/>
              </a:ext>
            </a:extLst>
          </p:cNvPr>
          <p:cNvSpPr/>
          <p:nvPr/>
        </p:nvSpPr>
        <p:spPr>
          <a:xfrm>
            <a:off x="7442200" y="1968500"/>
            <a:ext cx="1905000" cy="863600"/>
          </a:xfrm>
          <a:prstGeom prst="roundRect">
            <a:avLst/>
          </a:prstGeom>
          <a:solidFill>
            <a:srgbClr val="FFFFFF"/>
          </a:solidFill>
          <a:ln w="9525">
            <a:solidFill>
              <a:srgbClr val="E5E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1463B917-C9F8-D2F3-D433-4ED451441855}"/>
              </a:ext>
            </a:extLst>
          </p:cNvPr>
          <p:cNvSpPr txBox="1"/>
          <p:nvPr/>
        </p:nvSpPr>
        <p:spPr>
          <a:xfrm>
            <a:off x="7594600" y="2095500"/>
            <a:ext cx="355600" cy="123111"/>
          </a:xfrm>
          <a:prstGeom prst="rect">
            <a:avLst/>
          </a:prstGeom>
          <a:noFill/>
        </p:spPr>
        <p:txBody>
          <a:bodyPr vert="horz" lIns="0" tIns="0" rIns="0" bIns="0" rtlCol="0">
            <a:spAutoFit/>
          </a:bodyPr>
          <a:lstStyle/>
          <a:p>
            <a:r>
              <a:rPr lang="en-US" altLang="zh-CN" sz="800" b="1">
                <a:solidFill>
                  <a:srgbClr val="2F9E75"/>
                </a:solidFill>
                <a:latin typeface="Aptos" panose="020B0004020202020204" pitchFamily="34" charset="0"/>
              </a:rPr>
              <a:t>04</a:t>
            </a:r>
            <a:endParaRPr lang="zh-CN" altLang="en-US" sz="800" b="1">
              <a:solidFill>
                <a:srgbClr val="2F9E75"/>
              </a:solidFill>
              <a:latin typeface="Aptos" panose="020B0004020202020204" pitchFamily="34" charset="0"/>
            </a:endParaRPr>
          </a:p>
        </p:txBody>
      </p:sp>
      <p:sp>
        <p:nvSpPr>
          <p:cNvPr id="21" name="文本框 20">
            <a:extLst>
              <a:ext uri="{FF2B5EF4-FFF2-40B4-BE49-F238E27FC236}">
                <a16:creationId xmlns:a16="http://schemas.microsoft.com/office/drawing/2014/main" id="{9B257112-D4E4-1609-EDFC-FEC1DF614DE9}"/>
              </a:ext>
            </a:extLst>
          </p:cNvPr>
          <p:cNvSpPr txBox="1"/>
          <p:nvPr/>
        </p:nvSpPr>
        <p:spPr>
          <a:xfrm>
            <a:off x="7594600" y="2336800"/>
            <a:ext cx="1600200" cy="215444"/>
          </a:xfrm>
          <a:prstGeom prst="rect">
            <a:avLst/>
          </a:prstGeom>
          <a:noFill/>
        </p:spPr>
        <p:txBody>
          <a:bodyPr vert="horz" lIns="0" tIns="0" rIns="0" bIns="0" rtlCol="0">
            <a:spAutoFit/>
          </a:bodyPr>
          <a:lstStyle/>
          <a:p>
            <a:r>
              <a:rPr lang="zh-CN" altLang="en-US" sz="1400" b="1">
                <a:solidFill>
                  <a:srgbClr val="23343B"/>
                </a:solidFill>
                <a:latin typeface="Microsoft YaHei" panose="020B0503020204020204" pitchFamily="34" charset="-122"/>
              </a:rPr>
              <a:t>设计审查</a:t>
            </a:r>
          </a:p>
        </p:txBody>
      </p:sp>
      <p:cxnSp>
        <p:nvCxnSpPr>
          <p:cNvPr id="22" name="直接连接符 21">
            <a:extLst>
              <a:ext uri="{FF2B5EF4-FFF2-40B4-BE49-F238E27FC236}">
                <a16:creationId xmlns:a16="http://schemas.microsoft.com/office/drawing/2014/main" id="{5A56F72A-751D-2140-6126-C6DAC0CEB9BE}"/>
              </a:ext>
            </a:extLst>
          </p:cNvPr>
          <p:cNvCxnSpPr/>
          <p:nvPr/>
        </p:nvCxnSpPr>
        <p:spPr>
          <a:xfrm>
            <a:off x="9347200" y="2400300"/>
            <a:ext cx="355600" cy="0"/>
          </a:xfrm>
          <a:prstGeom prst="line">
            <a:avLst/>
          </a:prstGeom>
          <a:ln w="25400">
            <a:solidFill>
              <a:srgbClr val="E89A3C"/>
            </a:solidFill>
          </a:ln>
        </p:spPr>
        <p:style>
          <a:lnRef idx="2">
            <a:schemeClr val="accent1"/>
          </a:lnRef>
          <a:fillRef idx="0">
            <a:schemeClr val="accent1"/>
          </a:fillRef>
          <a:effectRef idx="1">
            <a:schemeClr val="accent1"/>
          </a:effectRef>
          <a:fontRef idx="minor">
            <a:schemeClr val="tx1"/>
          </a:fontRef>
        </p:style>
      </p:cxnSp>
      <p:sp>
        <p:nvSpPr>
          <p:cNvPr id="23" name="矩形: 圆角 22">
            <a:extLst>
              <a:ext uri="{FF2B5EF4-FFF2-40B4-BE49-F238E27FC236}">
                <a16:creationId xmlns:a16="http://schemas.microsoft.com/office/drawing/2014/main" id="{25614F64-F44A-E9B8-06F9-69B58D3C052F}"/>
              </a:ext>
            </a:extLst>
          </p:cNvPr>
          <p:cNvSpPr/>
          <p:nvPr/>
        </p:nvSpPr>
        <p:spPr>
          <a:xfrm>
            <a:off x="9702800" y="1968500"/>
            <a:ext cx="1905000" cy="863600"/>
          </a:xfrm>
          <a:prstGeom prst="roundRect">
            <a:avLst/>
          </a:prstGeom>
          <a:solidFill>
            <a:srgbClr val="FFFFFF"/>
          </a:solidFill>
          <a:ln w="9525">
            <a:solidFill>
              <a:srgbClr val="E5E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F658DF89-0827-F983-8D34-F363EF934463}"/>
              </a:ext>
            </a:extLst>
          </p:cNvPr>
          <p:cNvSpPr txBox="1"/>
          <p:nvPr/>
        </p:nvSpPr>
        <p:spPr>
          <a:xfrm>
            <a:off x="9855200" y="2095500"/>
            <a:ext cx="355600" cy="123111"/>
          </a:xfrm>
          <a:prstGeom prst="rect">
            <a:avLst/>
          </a:prstGeom>
          <a:noFill/>
        </p:spPr>
        <p:txBody>
          <a:bodyPr vert="horz" lIns="0" tIns="0" rIns="0" bIns="0" rtlCol="0">
            <a:spAutoFit/>
          </a:bodyPr>
          <a:lstStyle/>
          <a:p>
            <a:r>
              <a:rPr lang="en-US" altLang="zh-CN" sz="800" b="1">
                <a:solidFill>
                  <a:srgbClr val="2F9E75"/>
                </a:solidFill>
                <a:latin typeface="Aptos" panose="020B0004020202020204" pitchFamily="34" charset="0"/>
              </a:rPr>
              <a:t>05</a:t>
            </a:r>
            <a:endParaRPr lang="zh-CN" altLang="en-US" sz="800" b="1">
              <a:solidFill>
                <a:srgbClr val="2F9E75"/>
              </a:solidFill>
              <a:latin typeface="Aptos" panose="020B0004020202020204" pitchFamily="34" charset="0"/>
            </a:endParaRPr>
          </a:p>
        </p:txBody>
      </p:sp>
      <p:sp>
        <p:nvSpPr>
          <p:cNvPr id="25" name="文本框 24">
            <a:extLst>
              <a:ext uri="{FF2B5EF4-FFF2-40B4-BE49-F238E27FC236}">
                <a16:creationId xmlns:a16="http://schemas.microsoft.com/office/drawing/2014/main" id="{3B55A5FE-98D0-9128-2B88-93631C90EB18}"/>
              </a:ext>
            </a:extLst>
          </p:cNvPr>
          <p:cNvSpPr txBox="1"/>
          <p:nvPr/>
        </p:nvSpPr>
        <p:spPr>
          <a:xfrm>
            <a:off x="9855200" y="2336800"/>
            <a:ext cx="1600200" cy="215444"/>
          </a:xfrm>
          <a:prstGeom prst="rect">
            <a:avLst/>
          </a:prstGeom>
          <a:noFill/>
        </p:spPr>
        <p:txBody>
          <a:bodyPr vert="horz" lIns="0" tIns="0" rIns="0" bIns="0" rtlCol="0">
            <a:spAutoFit/>
          </a:bodyPr>
          <a:lstStyle/>
          <a:p>
            <a:r>
              <a:rPr lang="zh-CN" altLang="en-US" sz="1400" b="1">
                <a:solidFill>
                  <a:srgbClr val="23343B"/>
                </a:solidFill>
                <a:latin typeface="Microsoft YaHei" panose="020B0503020204020204" pitchFamily="34" charset="-122"/>
              </a:rPr>
              <a:t>成果交付</a:t>
            </a:r>
          </a:p>
        </p:txBody>
      </p:sp>
      <p:sp>
        <p:nvSpPr>
          <p:cNvPr id="26" name="文本框 25">
            <a:extLst>
              <a:ext uri="{FF2B5EF4-FFF2-40B4-BE49-F238E27FC236}">
                <a16:creationId xmlns:a16="http://schemas.microsoft.com/office/drawing/2014/main" id="{2795BBC3-3F9F-E210-3500-2A7BCE41AA04}"/>
              </a:ext>
            </a:extLst>
          </p:cNvPr>
          <p:cNvSpPr txBox="1"/>
          <p:nvPr/>
        </p:nvSpPr>
        <p:spPr>
          <a:xfrm>
            <a:off x="1143000" y="3810000"/>
            <a:ext cx="9906000" cy="307777"/>
          </a:xfrm>
          <a:prstGeom prst="rect">
            <a:avLst/>
          </a:prstGeom>
          <a:noFill/>
        </p:spPr>
        <p:txBody>
          <a:bodyPr vert="horz" lIns="0" tIns="0" rIns="0" bIns="0" rtlCol="0">
            <a:spAutoFit/>
          </a:bodyPr>
          <a:lstStyle/>
          <a:p>
            <a:pPr algn="ctr"/>
            <a:r>
              <a:rPr lang="zh-CN" altLang="en-US" sz="2000" b="1">
                <a:solidFill>
                  <a:srgbClr val="23343B"/>
                </a:solidFill>
                <a:latin typeface="Microsoft YaHei" panose="020B0503020204020204" pitchFamily="34" charset="-122"/>
              </a:rPr>
              <a:t>核心工作发生在流路分析与 </a:t>
            </a:r>
            <a:r>
              <a:rPr lang="en-US" altLang="zh-CN" sz="2000" b="1">
                <a:solidFill>
                  <a:srgbClr val="23343B"/>
                </a:solidFill>
                <a:latin typeface="Microsoft YaHei" panose="020B0503020204020204" pitchFamily="34" charset="-122"/>
              </a:rPr>
              <a:t>Phase </a:t>
            </a:r>
            <a:r>
              <a:rPr lang="zh-CN" altLang="en-US" sz="2000" b="1">
                <a:solidFill>
                  <a:srgbClr val="23343B"/>
                </a:solidFill>
                <a:latin typeface="Microsoft YaHei" panose="020B0503020204020204" pitchFamily="34" charset="-122"/>
              </a:rPr>
              <a:t>模拟，报告是确认结果的交付形式。</a:t>
            </a:r>
          </a:p>
        </p:txBody>
      </p:sp>
      <p:cxnSp>
        <p:nvCxnSpPr>
          <p:cNvPr id="27" name="直接连接符 26">
            <a:extLst>
              <a:ext uri="{FF2B5EF4-FFF2-40B4-BE49-F238E27FC236}">
                <a16:creationId xmlns:a16="http://schemas.microsoft.com/office/drawing/2014/main" id="{3589CECF-1470-BE7A-0304-5C72E3559AAD}"/>
              </a:ext>
            </a:extLst>
          </p:cNvPr>
          <p:cNvCxnSpPr/>
          <p:nvPr/>
        </p:nvCxnSpPr>
        <p:spPr>
          <a:xfrm>
            <a:off x="2794000" y="5130800"/>
            <a:ext cx="6604000" cy="0"/>
          </a:xfrm>
          <a:prstGeom prst="line">
            <a:avLst/>
          </a:prstGeom>
          <a:ln w="50800">
            <a:solidFill>
              <a:srgbClr val="2F9E75"/>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663885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4A2003C-A02E-5D8C-E1CE-6A045CF79FD1}"/>
              </a:ext>
            </a:extLst>
          </p:cNvPr>
          <p:cNvSpPr txBox="1"/>
          <p:nvPr/>
        </p:nvSpPr>
        <p:spPr>
          <a:xfrm>
            <a:off x="533400" y="254000"/>
            <a:ext cx="8255000" cy="138499"/>
          </a:xfrm>
          <a:prstGeom prst="rect">
            <a:avLst/>
          </a:prstGeom>
          <a:noFill/>
        </p:spPr>
        <p:txBody>
          <a:bodyPr vert="horz" lIns="0" tIns="0" rIns="0" bIns="0" rtlCol="0">
            <a:spAutoFit/>
          </a:bodyPr>
          <a:lstStyle/>
          <a:p>
            <a:r>
              <a:rPr lang="zh-CN" altLang="en-US" sz="900" b="1">
                <a:solidFill>
                  <a:srgbClr val="2F9E75"/>
                </a:solidFill>
                <a:latin typeface="Aptos" panose="020B0004020202020204" pitchFamily="34" charset="0"/>
              </a:rPr>
              <a:t>核心能力</a:t>
            </a:r>
          </a:p>
        </p:txBody>
      </p:sp>
      <p:sp>
        <p:nvSpPr>
          <p:cNvPr id="3" name="文本框 2">
            <a:extLst>
              <a:ext uri="{FF2B5EF4-FFF2-40B4-BE49-F238E27FC236}">
                <a16:creationId xmlns:a16="http://schemas.microsoft.com/office/drawing/2014/main" id="{20DA11EF-6C4C-31AA-D54E-E11D58E7F45B}"/>
              </a:ext>
            </a:extLst>
          </p:cNvPr>
          <p:cNvSpPr txBox="1"/>
          <p:nvPr/>
        </p:nvSpPr>
        <p:spPr>
          <a:xfrm>
            <a:off x="533400" y="558800"/>
            <a:ext cx="9779000" cy="400110"/>
          </a:xfrm>
          <a:prstGeom prst="rect">
            <a:avLst/>
          </a:prstGeom>
          <a:noFill/>
        </p:spPr>
        <p:txBody>
          <a:bodyPr vert="horz" lIns="0" tIns="0" rIns="0" bIns="0" rtlCol="0">
            <a:spAutoFit/>
          </a:bodyPr>
          <a:lstStyle/>
          <a:p>
            <a:r>
              <a:rPr lang="zh-CN" altLang="en-US" sz="2600" b="1">
                <a:solidFill>
                  <a:srgbClr val="23343B"/>
                </a:solidFill>
                <a:latin typeface="Microsoft YaHei" panose="020B0503020204020204" pitchFamily="34" charset="-122"/>
              </a:rPr>
              <a:t>数字流路自动高亮模拟</a:t>
            </a:r>
          </a:p>
        </p:txBody>
      </p:sp>
      <p:cxnSp>
        <p:nvCxnSpPr>
          <p:cNvPr id="4" name="直接连接符 3">
            <a:extLst>
              <a:ext uri="{FF2B5EF4-FFF2-40B4-BE49-F238E27FC236}">
                <a16:creationId xmlns:a16="http://schemas.microsoft.com/office/drawing/2014/main" id="{F4D88AB0-6FCD-E006-3157-760B0CEB0677}"/>
              </a:ext>
            </a:extLst>
          </p:cNvPr>
          <p:cNvCxnSpPr/>
          <p:nvPr/>
        </p:nvCxnSpPr>
        <p:spPr>
          <a:xfrm>
            <a:off x="533400" y="1231900"/>
            <a:ext cx="11125200" cy="0"/>
          </a:xfrm>
          <a:prstGeom prst="line">
            <a:avLst/>
          </a:prstGeom>
          <a:ln w="12700">
            <a:solidFill>
              <a:srgbClr val="E5EAE8"/>
            </a:solidFill>
          </a:ln>
        </p:spPr>
        <p:style>
          <a:lnRef idx="2">
            <a:schemeClr val="accent1"/>
          </a:lnRef>
          <a:fillRef idx="0">
            <a:schemeClr val="accent1"/>
          </a:fillRef>
          <a:effectRef idx="1">
            <a:schemeClr val="accent1"/>
          </a:effectRef>
          <a:fontRef idx="minor">
            <a:schemeClr val="tx1"/>
          </a:fontRef>
        </p:style>
      </p:cxnSp>
      <p:sp>
        <p:nvSpPr>
          <p:cNvPr id="5" name="文本框 4">
            <a:extLst>
              <a:ext uri="{FF2B5EF4-FFF2-40B4-BE49-F238E27FC236}">
                <a16:creationId xmlns:a16="http://schemas.microsoft.com/office/drawing/2014/main" id="{6CA4DECD-B18B-C4F9-DCE3-91C6F6174D8D}"/>
              </a:ext>
            </a:extLst>
          </p:cNvPr>
          <p:cNvSpPr txBox="1"/>
          <p:nvPr/>
        </p:nvSpPr>
        <p:spPr>
          <a:xfrm>
            <a:off x="11303000" y="254000"/>
            <a:ext cx="355600" cy="138499"/>
          </a:xfrm>
          <a:prstGeom prst="rect">
            <a:avLst/>
          </a:prstGeom>
          <a:noFill/>
        </p:spPr>
        <p:txBody>
          <a:bodyPr vert="horz" lIns="0" tIns="0" rIns="0" bIns="0" rtlCol="0">
            <a:spAutoFit/>
          </a:bodyPr>
          <a:lstStyle/>
          <a:p>
            <a:pPr algn="r"/>
            <a:r>
              <a:rPr lang="en-US" altLang="zh-CN" sz="900" b="1">
                <a:solidFill>
                  <a:srgbClr val="66757B"/>
                </a:solidFill>
                <a:latin typeface="Aptos" panose="020B0004020202020204" pitchFamily="34" charset="0"/>
              </a:rPr>
              <a:t>05</a:t>
            </a:r>
            <a:endParaRPr lang="zh-CN" altLang="en-US" sz="900" b="1">
              <a:solidFill>
                <a:srgbClr val="66757B"/>
              </a:solidFill>
              <a:latin typeface="Aptos" panose="020B0004020202020204" pitchFamily="34" charset="0"/>
            </a:endParaRPr>
          </a:p>
        </p:txBody>
      </p:sp>
      <p:sp>
        <p:nvSpPr>
          <p:cNvPr id="6" name="文本框 5">
            <a:extLst>
              <a:ext uri="{FF2B5EF4-FFF2-40B4-BE49-F238E27FC236}">
                <a16:creationId xmlns:a16="http://schemas.microsoft.com/office/drawing/2014/main" id="{0864DF8F-EDBC-A752-D4CF-A590CE6558E0}"/>
              </a:ext>
            </a:extLst>
          </p:cNvPr>
          <p:cNvSpPr txBox="1"/>
          <p:nvPr/>
        </p:nvSpPr>
        <p:spPr>
          <a:xfrm>
            <a:off x="533400" y="6578600"/>
            <a:ext cx="6350000" cy="107722"/>
          </a:xfrm>
          <a:prstGeom prst="rect">
            <a:avLst/>
          </a:prstGeom>
          <a:noFill/>
        </p:spPr>
        <p:txBody>
          <a:bodyPr vert="horz" lIns="0" tIns="0" rIns="0" bIns="0" rtlCol="0">
            <a:spAutoFit/>
          </a:bodyPr>
          <a:lstStyle/>
          <a:p>
            <a:r>
              <a:rPr lang="en-US" altLang="zh-CN" sz="700" b="1">
                <a:solidFill>
                  <a:srgbClr val="66757B"/>
                </a:solidFill>
                <a:latin typeface="Aptos" panose="020B0004020202020204" pitchFamily="34" charset="0"/>
              </a:rPr>
              <a:t>HIGHLIGHTED FLOW PATH SOFTWARE · </a:t>
            </a:r>
            <a:r>
              <a:rPr lang="zh-CN" altLang="en-US" sz="700" b="1">
                <a:solidFill>
                  <a:srgbClr val="66757B"/>
                </a:solidFill>
                <a:latin typeface="Aptos" panose="020B0004020202020204" pitchFamily="34" charset="0"/>
              </a:rPr>
              <a:t>客户演示</a:t>
            </a:r>
          </a:p>
        </p:txBody>
      </p:sp>
      <p:sp>
        <p:nvSpPr>
          <p:cNvPr id="7" name="椭圆 6">
            <a:extLst>
              <a:ext uri="{FF2B5EF4-FFF2-40B4-BE49-F238E27FC236}">
                <a16:creationId xmlns:a16="http://schemas.microsoft.com/office/drawing/2014/main" id="{676B1A6E-A0C3-7C73-40F0-EC5C53574370}"/>
              </a:ext>
            </a:extLst>
          </p:cNvPr>
          <p:cNvSpPr/>
          <p:nvPr/>
        </p:nvSpPr>
        <p:spPr>
          <a:xfrm>
            <a:off x="685800" y="1803400"/>
            <a:ext cx="114300" cy="114300"/>
          </a:xfrm>
          <a:prstGeom prst="ellipse">
            <a:avLst/>
          </a:prstGeom>
          <a:solidFill>
            <a:srgbClr val="2F9E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B8195C80-C7C6-C41B-90A9-481C634D8D8B}"/>
              </a:ext>
            </a:extLst>
          </p:cNvPr>
          <p:cNvSpPr txBox="1"/>
          <p:nvPr/>
        </p:nvSpPr>
        <p:spPr>
          <a:xfrm>
            <a:off x="965200" y="1714500"/>
            <a:ext cx="5372100" cy="246221"/>
          </a:xfrm>
          <a:prstGeom prst="rect">
            <a:avLst/>
          </a:prstGeom>
          <a:noFill/>
        </p:spPr>
        <p:txBody>
          <a:bodyPr vert="horz" lIns="0" tIns="0" rIns="0" bIns="0" rtlCol="0">
            <a:spAutoFit/>
          </a:bodyPr>
          <a:lstStyle/>
          <a:p>
            <a:r>
              <a:rPr lang="zh-CN" altLang="en-US" sz="1600">
                <a:solidFill>
                  <a:srgbClr val="23343B"/>
                </a:solidFill>
                <a:latin typeface="Microsoft YaHei" panose="020B0503020204020204" pitchFamily="34" charset="-122"/>
              </a:rPr>
              <a:t>选择工艺回路或阶段场景，形成候选流路</a:t>
            </a:r>
          </a:p>
        </p:txBody>
      </p:sp>
      <p:sp>
        <p:nvSpPr>
          <p:cNvPr id="9" name="椭圆 8">
            <a:extLst>
              <a:ext uri="{FF2B5EF4-FFF2-40B4-BE49-F238E27FC236}">
                <a16:creationId xmlns:a16="http://schemas.microsoft.com/office/drawing/2014/main" id="{74D8A8E4-A7A6-5CC6-39D0-35D19B52536E}"/>
              </a:ext>
            </a:extLst>
          </p:cNvPr>
          <p:cNvSpPr/>
          <p:nvPr/>
        </p:nvSpPr>
        <p:spPr>
          <a:xfrm>
            <a:off x="685800" y="26924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A6AA2AB8-A9C5-A349-AD6A-B118E4496422}"/>
              </a:ext>
            </a:extLst>
          </p:cNvPr>
          <p:cNvSpPr txBox="1"/>
          <p:nvPr/>
        </p:nvSpPr>
        <p:spPr>
          <a:xfrm>
            <a:off x="965200" y="2603500"/>
            <a:ext cx="5372100" cy="246221"/>
          </a:xfrm>
          <a:prstGeom prst="rect">
            <a:avLst/>
          </a:prstGeom>
          <a:noFill/>
        </p:spPr>
        <p:txBody>
          <a:bodyPr vert="horz" lIns="0" tIns="0" rIns="0" bIns="0" rtlCol="0">
            <a:spAutoFit/>
          </a:bodyPr>
          <a:lstStyle/>
          <a:p>
            <a:r>
              <a:rPr lang="zh-CN" altLang="en-US" sz="1600">
                <a:solidFill>
                  <a:srgbClr val="23343B"/>
                </a:solidFill>
                <a:latin typeface="Microsoft YaHei" panose="020B0503020204020204" pitchFamily="34" charset="-122"/>
              </a:rPr>
              <a:t>同步突出管线、阀门、泵及关键设备</a:t>
            </a:r>
          </a:p>
        </p:txBody>
      </p:sp>
      <p:sp>
        <p:nvSpPr>
          <p:cNvPr id="11" name="椭圆 10">
            <a:extLst>
              <a:ext uri="{FF2B5EF4-FFF2-40B4-BE49-F238E27FC236}">
                <a16:creationId xmlns:a16="http://schemas.microsoft.com/office/drawing/2014/main" id="{EB2B3EC5-B7DE-B8BD-3565-408FC9E13A58}"/>
              </a:ext>
            </a:extLst>
          </p:cNvPr>
          <p:cNvSpPr/>
          <p:nvPr/>
        </p:nvSpPr>
        <p:spPr>
          <a:xfrm>
            <a:off x="685800" y="35814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9E1B3AE2-9156-6FD7-23EC-E4352D1996C1}"/>
              </a:ext>
            </a:extLst>
          </p:cNvPr>
          <p:cNvSpPr txBox="1"/>
          <p:nvPr/>
        </p:nvSpPr>
        <p:spPr>
          <a:xfrm>
            <a:off x="965200" y="3492500"/>
            <a:ext cx="5372100" cy="246221"/>
          </a:xfrm>
          <a:prstGeom prst="rect">
            <a:avLst/>
          </a:prstGeom>
          <a:noFill/>
        </p:spPr>
        <p:txBody>
          <a:bodyPr vert="horz" lIns="0" tIns="0" rIns="0" bIns="0" rtlCol="0">
            <a:spAutoFit/>
          </a:bodyPr>
          <a:lstStyle/>
          <a:p>
            <a:r>
              <a:rPr lang="zh-CN" altLang="en-US" sz="1600">
                <a:solidFill>
                  <a:srgbClr val="23343B"/>
                </a:solidFill>
                <a:latin typeface="Microsoft YaHei" panose="020B0503020204020204" pitchFamily="34" charset="-122"/>
              </a:rPr>
              <a:t>结合阀门开关与设备运行状态展示场景</a:t>
            </a:r>
          </a:p>
        </p:txBody>
      </p:sp>
      <p:sp>
        <p:nvSpPr>
          <p:cNvPr id="13" name="椭圆 12">
            <a:extLst>
              <a:ext uri="{FF2B5EF4-FFF2-40B4-BE49-F238E27FC236}">
                <a16:creationId xmlns:a16="http://schemas.microsoft.com/office/drawing/2014/main" id="{C812AD2A-B111-B79C-4E5B-9A478E938EB7}"/>
              </a:ext>
            </a:extLst>
          </p:cNvPr>
          <p:cNvSpPr/>
          <p:nvPr/>
        </p:nvSpPr>
        <p:spPr>
          <a:xfrm>
            <a:off x="685800" y="44704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7D66361F-9462-D57D-1D13-F3D1A55E4303}"/>
              </a:ext>
            </a:extLst>
          </p:cNvPr>
          <p:cNvSpPr txBox="1"/>
          <p:nvPr/>
        </p:nvSpPr>
        <p:spPr>
          <a:xfrm>
            <a:off x="965200" y="4381500"/>
            <a:ext cx="5372100" cy="246221"/>
          </a:xfrm>
          <a:prstGeom prst="rect">
            <a:avLst/>
          </a:prstGeom>
          <a:noFill/>
        </p:spPr>
        <p:txBody>
          <a:bodyPr vert="horz" lIns="0" tIns="0" rIns="0" bIns="0" rtlCol="0">
            <a:spAutoFit/>
          </a:bodyPr>
          <a:lstStyle/>
          <a:p>
            <a:r>
              <a:rPr lang="zh-CN" altLang="en-US" sz="1600">
                <a:solidFill>
                  <a:srgbClr val="23343B"/>
                </a:solidFill>
                <a:latin typeface="Microsoft YaHei" panose="020B0503020204020204" pitchFamily="34" charset="-122"/>
              </a:rPr>
              <a:t>工程师可复核、调整并保存最终结果</a:t>
            </a:r>
          </a:p>
        </p:txBody>
      </p:sp>
      <p:sp>
        <p:nvSpPr>
          <p:cNvPr id="15" name="矩形: 圆角 14">
            <a:extLst>
              <a:ext uri="{FF2B5EF4-FFF2-40B4-BE49-F238E27FC236}">
                <a16:creationId xmlns:a16="http://schemas.microsoft.com/office/drawing/2014/main" id="{B638382E-F511-CA88-50BF-131B8B812A60}"/>
              </a:ext>
            </a:extLst>
          </p:cNvPr>
          <p:cNvSpPr/>
          <p:nvPr/>
        </p:nvSpPr>
        <p:spPr>
          <a:xfrm>
            <a:off x="6921500" y="1778000"/>
            <a:ext cx="4635500" cy="3213100"/>
          </a:xfrm>
          <a:prstGeom prst="roundRect">
            <a:avLst/>
          </a:prstGeom>
          <a:solidFill>
            <a:srgbClr val="FFFFFF"/>
          </a:solidFill>
          <a:ln w="9525">
            <a:solidFill>
              <a:srgbClr val="E5E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a:extLst>
              <a:ext uri="{FF2B5EF4-FFF2-40B4-BE49-F238E27FC236}">
                <a16:creationId xmlns:a16="http://schemas.microsoft.com/office/drawing/2014/main" id="{FCFC1D1B-4554-050D-CD4F-1D2138EF370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0" y="1841500"/>
            <a:ext cx="4508500" cy="3086100"/>
          </a:xfrm>
          <a:prstGeom prst="rect">
            <a:avLst/>
          </a:prstGeom>
        </p:spPr>
      </p:pic>
      <p:sp>
        <p:nvSpPr>
          <p:cNvPr id="18" name="文本框 17">
            <a:extLst>
              <a:ext uri="{FF2B5EF4-FFF2-40B4-BE49-F238E27FC236}">
                <a16:creationId xmlns:a16="http://schemas.microsoft.com/office/drawing/2014/main" id="{CF0F0012-2CEA-B06D-D78E-0CB745433B1C}"/>
              </a:ext>
            </a:extLst>
          </p:cNvPr>
          <p:cNvSpPr txBox="1"/>
          <p:nvPr/>
        </p:nvSpPr>
        <p:spPr>
          <a:xfrm>
            <a:off x="6985000" y="5168900"/>
            <a:ext cx="4508500" cy="153888"/>
          </a:xfrm>
          <a:prstGeom prst="rect">
            <a:avLst/>
          </a:prstGeom>
          <a:noFill/>
        </p:spPr>
        <p:txBody>
          <a:bodyPr vert="horz" lIns="0" tIns="0" rIns="0" bIns="0" rtlCol="0">
            <a:spAutoFit/>
          </a:bodyPr>
          <a:lstStyle/>
          <a:p>
            <a:r>
              <a:rPr lang="zh-CN" altLang="en-US" sz="1000" b="1">
                <a:solidFill>
                  <a:srgbClr val="2F9E75"/>
                </a:solidFill>
                <a:latin typeface="Microsoft YaHei" panose="020B0503020204020204" pitchFamily="34" charset="-122"/>
              </a:rPr>
              <a:t>自动分析辅助工程判断</a:t>
            </a:r>
          </a:p>
        </p:txBody>
      </p:sp>
    </p:spTree>
    <p:extLst>
      <p:ext uri="{BB962C8B-B14F-4D97-AF65-F5344CB8AC3E}">
        <p14:creationId xmlns:p14="http://schemas.microsoft.com/office/powerpoint/2010/main" val="3577019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5546791-DD31-B5F1-9AF2-12DA03AA0D90}"/>
              </a:ext>
            </a:extLst>
          </p:cNvPr>
          <p:cNvSpPr txBox="1"/>
          <p:nvPr/>
        </p:nvSpPr>
        <p:spPr>
          <a:xfrm>
            <a:off x="533400" y="254000"/>
            <a:ext cx="8255000" cy="138499"/>
          </a:xfrm>
          <a:prstGeom prst="rect">
            <a:avLst/>
          </a:prstGeom>
          <a:noFill/>
        </p:spPr>
        <p:txBody>
          <a:bodyPr vert="horz" lIns="0" tIns="0" rIns="0" bIns="0" rtlCol="0">
            <a:spAutoFit/>
          </a:bodyPr>
          <a:lstStyle/>
          <a:p>
            <a:r>
              <a:rPr lang="zh-CN" altLang="en-US" sz="900" b="1">
                <a:solidFill>
                  <a:srgbClr val="2F9E75"/>
                </a:solidFill>
                <a:latin typeface="Aptos" panose="020B0004020202020204" pitchFamily="34" charset="0"/>
              </a:rPr>
              <a:t>核心能力</a:t>
            </a:r>
          </a:p>
        </p:txBody>
      </p:sp>
      <p:sp>
        <p:nvSpPr>
          <p:cNvPr id="3" name="文本框 2">
            <a:extLst>
              <a:ext uri="{FF2B5EF4-FFF2-40B4-BE49-F238E27FC236}">
                <a16:creationId xmlns:a16="http://schemas.microsoft.com/office/drawing/2014/main" id="{5162B9F6-CE6C-ACA5-862B-23E0D13B6C3C}"/>
              </a:ext>
            </a:extLst>
          </p:cNvPr>
          <p:cNvSpPr txBox="1"/>
          <p:nvPr/>
        </p:nvSpPr>
        <p:spPr>
          <a:xfrm>
            <a:off x="533400" y="558800"/>
            <a:ext cx="9779000" cy="400110"/>
          </a:xfrm>
          <a:prstGeom prst="rect">
            <a:avLst/>
          </a:prstGeom>
          <a:noFill/>
        </p:spPr>
        <p:txBody>
          <a:bodyPr vert="horz" lIns="0" tIns="0" rIns="0" bIns="0" rtlCol="0">
            <a:spAutoFit/>
          </a:bodyPr>
          <a:lstStyle/>
          <a:p>
            <a:r>
              <a:rPr lang="zh-CN" altLang="en-US" sz="2600" b="1">
                <a:solidFill>
                  <a:srgbClr val="23343B"/>
                </a:solidFill>
                <a:latin typeface="Microsoft YaHei" panose="020B0503020204020204" pitchFamily="34" charset="-122"/>
              </a:rPr>
              <a:t>同一张 </a:t>
            </a:r>
            <a:r>
              <a:rPr lang="en-US" altLang="zh-CN" sz="2600" b="1">
                <a:solidFill>
                  <a:srgbClr val="23343B"/>
                </a:solidFill>
                <a:latin typeface="Microsoft YaHei" panose="020B0503020204020204" pitchFamily="34" charset="-122"/>
              </a:rPr>
              <a:t>P&amp;ID</a:t>
            </a:r>
            <a:r>
              <a:rPr lang="zh-CN" altLang="en-US" sz="2600" b="1">
                <a:solidFill>
                  <a:srgbClr val="23343B"/>
                </a:solidFill>
                <a:latin typeface="Microsoft YaHei" panose="020B0503020204020204" pitchFamily="34" charset="-122"/>
              </a:rPr>
              <a:t>，快速切换不同 </a:t>
            </a:r>
            <a:r>
              <a:rPr lang="en-US" altLang="zh-CN" sz="2600" b="1">
                <a:solidFill>
                  <a:srgbClr val="23343B"/>
                </a:solidFill>
                <a:latin typeface="Microsoft YaHei" panose="020B0503020204020204" pitchFamily="34" charset="-122"/>
              </a:rPr>
              <a:t>Phase</a:t>
            </a:r>
            <a:endParaRPr lang="zh-CN" altLang="en-US" sz="2600" b="1">
              <a:solidFill>
                <a:srgbClr val="23343B"/>
              </a:solidFill>
              <a:latin typeface="Microsoft YaHei" panose="020B0503020204020204" pitchFamily="34" charset="-122"/>
            </a:endParaRPr>
          </a:p>
        </p:txBody>
      </p:sp>
      <p:cxnSp>
        <p:nvCxnSpPr>
          <p:cNvPr id="4" name="直接连接符 3">
            <a:extLst>
              <a:ext uri="{FF2B5EF4-FFF2-40B4-BE49-F238E27FC236}">
                <a16:creationId xmlns:a16="http://schemas.microsoft.com/office/drawing/2014/main" id="{0F8E12F5-3C87-3828-D0C8-B607C2AF2B77}"/>
              </a:ext>
            </a:extLst>
          </p:cNvPr>
          <p:cNvCxnSpPr/>
          <p:nvPr/>
        </p:nvCxnSpPr>
        <p:spPr>
          <a:xfrm>
            <a:off x="533400" y="1231900"/>
            <a:ext cx="11125200" cy="0"/>
          </a:xfrm>
          <a:prstGeom prst="line">
            <a:avLst/>
          </a:prstGeom>
          <a:ln w="12700">
            <a:solidFill>
              <a:srgbClr val="E5EAE8"/>
            </a:solidFill>
          </a:ln>
        </p:spPr>
        <p:style>
          <a:lnRef idx="2">
            <a:schemeClr val="accent1"/>
          </a:lnRef>
          <a:fillRef idx="0">
            <a:schemeClr val="accent1"/>
          </a:fillRef>
          <a:effectRef idx="1">
            <a:schemeClr val="accent1"/>
          </a:effectRef>
          <a:fontRef idx="minor">
            <a:schemeClr val="tx1"/>
          </a:fontRef>
        </p:style>
      </p:cxnSp>
      <p:sp>
        <p:nvSpPr>
          <p:cNvPr id="5" name="文本框 4">
            <a:extLst>
              <a:ext uri="{FF2B5EF4-FFF2-40B4-BE49-F238E27FC236}">
                <a16:creationId xmlns:a16="http://schemas.microsoft.com/office/drawing/2014/main" id="{5A974F89-14AE-F4F8-4F34-49A952446827}"/>
              </a:ext>
            </a:extLst>
          </p:cNvPr>
          <p:cNvSpPr txBox="1"/>
          <p:nvPr/>
        </p:nvSpPr>
        <p:spPr>
          <a:xfrm>
            <a:off x="11303000" y="254000"/>
            <a:ext cx="355600" cy="138499"/>
          </a:xfrm>
          <a:prstGeom prst="rect">
            <a:avLst/>
          </a:prstGeom>
          <a:noFill/>
        </p:spPr>
        <p:txBody>
          <a:bodyPr vert="horz" lIns="0" tIns="0" rIns="0" bIns="0" rtlCol="0">
            <a:spAutoFit/>
          </a:bodyPr>
          <a:lstStyle/>
          <a:p>
            <a:pPr algn="r"/>
            <a:r>
              <a:rPr lang="en-US" altLang="zh-CN" sz="900" b="1">
                <a:solidFill>
                  <a:srgbClr val="66757B"/>
                </a:solidFill>
                <a:latin typeface="Aptos" panose="020B0004020202020204" pitchFamily="34" charset="0"/>
              </a:rPr>
              <a:t>06</a:t>
            </a:r>
            <a:endParaRPr lang="zh-CN" altLang="en-US" sz="900" b="1">
              <a:solidFill>
                <a:srgbClr val="66757B"/>
              </a:solidFill>
              <a:latin typeface="Aptos" panose="020B0004020202020204" pitchFamily="34" charset="0"/>
            </a:endParaRPr>
          </a:p>
        </p:txBody>
      </p:sp>
      <p:sp>
        <p:nvSpPr>
          <p:cNvPr id="6" name="文本框 5">
            <a:extLst>
              <a:ext uri="{FF2B5EF4-FFF2-40B4-BE49-F238E27FC236}">
                <a16:creationId xmlns:a16="http://schemas.microsoft.com/office/drawing/2014/main" id="{AA0BB2E1-8B11-6FB2-F833-0A7351AD6FE8}"/>
              </a:ext>
            </a:extLst>
          </p:cNvPr>
          <p:cNvSpPr txBox="1"/>
          <p:nvPr/>
        </p:nvSpPr>
        <p:spPr>
          <a:xfrm>
            <a:off x="533400" y="6578600"/>
            <a:ext cx="6350000" cy="107722"/>
          </a:xfrm>
          <a:prstGeom prst="rect">
            <a:avLst/>
          </a:prstGeom>
          <a:noFill/>
        </p:spPr>
        <p:txBody>
          <a:bodyPr vert="horz" lIns="0" tIns="0" rIns="0" bIns="0" rtlCol="0">
            <a:spAutoFit/>
          </a:bodyPr>
          <a:lstStyle/>
          <a:p>
            <a:r>
              <a:rPr lang="en-US" altLang="zh-CN" sz="700" b="1">
                <a:solidFill>
                  <a:srgbClr val="66757B"/>
                </a:solidFill>
                <a:latin typeface="Aptos" panose="020B0004020202020204" pitchFamily="34" charset="0"/>
              </a:rPr>
              <a:t>HIGHLIGHTED FLOW PATH SOFTWARE · </a:t>
            </a:r>
            <a:r>
              <a:rPr lang="zh-CN" altLang="en-US" sz="700" b="1">
                <a:solidFill>
                  <a:srgbClr val="66757B"/>
                </a:solidFill>
                <a:latin typeface="Aptos" panose="020B0004020202020204" pitchFamily="34" charset="0"/>
              </a:rPr>
              <a:t>客户演示</a:t>
            </a:r>
          </a:p>
        </p:txBody>
      </p:sp>
      <p:sp>
        <p:nvSpPr>
          <p:cNvPr id="7" name="椭圆 6">
            <a:extLst>
              <a:ext uri="{FF2B5EF4-FFF2-40B4-BE49-F238E27FC236}">
                <a16:creationId xmlns:a16="http://schemas.microsoft.com/office/drawing/2014/main" id="{04343B4D-BD79-5FEF-558A-06282576CB9E}"/>
              </a:ext>
            </a:extLst>
          </p:cNvPr>
          <p:cNvSpPr/>
          <p:nvPr/>
        </p:nvSpPr>
        <p:spPr>
          <a:xfrm>
            <a:off x="685800" y="1803400"/>
            <a:ext cx="114300" cy="114300"/>
          </a:xfrm>
          <a:prstGeom prst="ellipse">
            <a:avLst/>
          </a:prstGeom>
          <a:solidFill>
            <a:srgbClr val="2F9E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5A5E497C-6D53-1A3B-8541-80C7E79CE1E1}"/>
              </a:ext>
            </a:extLst>
          </p:cNvPr>
          <p:cNvSpPr txBox="1"/>
          <p:nvPr/>
        </p:nvSpPr>
        <p:spPr>
          <a:xfrm>
            <a:off x="965200" y="1714500"/>
            <a:ext cx="5372100" cy="246221"/>
          </a:xfrm>
          <a:prstGeom prst="rect">
            <a:avLst/>
          </a:prstGeom>
          <a:noFill/>
        </p:spPr>
        <p:txBody>
          <a:bodyPr vert="horz" lIns="0" tIns="0" rIns="0" bIns="0" rtlCol="0">
            <a:spAutoFit/>
          </a:bodyPr>
          <a:lstStyle/>
          <a:p>
            <a:r>
              <a:rPr lang="zh-CN" altLang="en-US" sz="1600">
                <a:solidFill>
                  <a:srgbClr val="23343B"/>
                </a:solidFill>
                <a:latin typeface="Microsoft YaHei" panose="020B0503020204020204" pitchFamily="34" charset="-122"/>
              </a:rPr>
              <a:t>按</a:t>
            </a:r>
            <a:r>
              <a:rPr lang="en-US" altLang="zh-CN" sz="1600">
                <a:solidFill>
                  <a:srgbClr val="23343B"/>
                </a:solidFill>
                <a:latin typeface="Microsoft YaHei" panose="020B0503020204020204" pitchFamily="34" charset="-122"/>
              </a:rPr>
              <a:t>【</a:t>
            </a:r>
            <a:r>
              <a:rPr lang="zh-CN" altLang="en-US" sz="1600">
                <a:solidFill>
                  <a:srgbClr val="23343B"/>
                </a:solidFill>
                <a:latin typeface="Microsoft YaHei" panose="020B0503020204020204" pitchFamily="34" charset="-122"/>
              </a:rPr>
              <a:t>工艺 → 序列 → 阶段</a:t>
            </a:r>
            <a:r>
              <a:rPr lang="en-US" altLang="zh-CN" sz="1600">
                <a:solidFill>
                  <a:srgbClr val="23343B"/>
                </a:solidFill>
                <a:latin typeface="Microsoft YaHei" panose="020B0503020204020204" pitchFamily="34" charset="-122"/>
              </a:rPr>
              <a:t>】</a:t>
            </a:r>
            <a:r>
              <a:rPr lang="zh-CN" altLang="en-US" sz="1600">
                <a:solidFill>
                  <a:srgbClr val="23343B"/>
                </a:solidFill>
                <a:latin typeface="Microsoft YaHei" panose="020B0503020204020204" pitchFamily="34" charset="-122"/>
              </a:rPr>
              <a:t>组织 </a:t>
            </a:r>
            <a:r>
              <a:rPr lang="en-US" altLang="zh-CN" sz="1600">
                <a:solidFill>
                  <a:srgbClr val="23343B"/>
                </a:solidFill>
                <a:latin typeface="Microsoft YaHei" panose="020B0503020204020204" pitchFamily="34" charset="-122"/>
              </a:rPr>
              <a:t>CIP </a:t>
            </a:r>
            <a:r>
              <a:rPr lang="zh-CN" altLang="en-US" sz="1600">
                <a:solidFill>
                  <a:srgbClr val="23343B"/>
                </a:solidFill>
                <a:latin typeface="Microsoft YaHei" panose="020B0503020204020204" pitchFamily="34" charset="-122"/>
              </a:rPr>
              <a:t>作业</a:t>
            </a:r>
          </a:p>
        </p:txBody>
      </p:sp>
      <p:sp>
        <p:nvSpPr>
          <p:cNvPr id="9" name="椭圆 8">
            <a:extLst>
              <a:ext uri="{FF2B5EF4-FFF2-40B4-BE49-F238E27FC236}">
                <a16:creationId xmlns:a16="http://schemas.microsoft.com/office/drawing/2014/main" id="{3C7EA340-80CC-91FF-9938-4B90CC59141F}"/>
              </a:ext>
            </a:extLst>
          </p:cNvPr>
          <p:cNvSpPr/>
          <p:nvPr/>
        </p:nvSpPr>
        <p:spPr>
          <a:xfrm>
            <a:off x="685800" y="26924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E75ED5A1-DEF6-5E4C-2DF2-AB4283C86994}"/>
              </a:ext>
            </a:extLst>
          </p:cNvPr>
          <p:cNvSpPr txBox="1"/>
          <p:nvPr/>
        </p:nvSpPr>
        <p:spPr>
          <a:xfrm>
            <a:off x="965200" y="2603500"/>
            <a:ext cx="5372100" cy="246221"/>
          </a:xfrm>
          <a:prstGeom prst="rect">
            <a:avLst/>
          </a:prstGeom>
          <a:noFill/>
        </p:spPr>
        <p:txBody>
          <a:bodyPr vert="horz" lIns="0" tIns="0" rIns="0" bIns="0" rtlCol="0">
            <a:spAutoFit/>
          </a:bodyPr>
          <a:lstStyle/>
          <a:p>
            <a:r>
              <a:rPr lang="zh-CN" altLang="en-US" sz="1600">
                <a:solidFill>
                  <a:srgbClr val="23343B"/>
                </a:solidFill>
                <a:latin typeface="Microsoft YaHei" panose="020B0503020204020204" pitchFamily="34" charset="-122"/>
              </a:rPr>
              <a:t>每个 </a:t>
            </a:r>
            <a:r>
              <a:rPr lang="en-US" altLang="zh-CN" sz="1600">
                <a:solidFill>
                  <a:srgbClr val="23343B"/>
                </a:solidFill>
                <a:latin typeface="Microsoft YaHei" panose="020B0503020204020204" pitchFamily="34" charset="-122"/>
              </a:rPr>
              <a:t>Phase </a:t>
            </a:r>
            <a:r>
              <a:rPr lang="zh-CN" altLang="en-US" sz="1600">
                <a:solidFill>
                  <a:srgbClr val="23343B"/>
                </a:solidFill>
                <a:latin typeface="Microsoft YaHei" panose="020B0503020204020204" pitchFamily="34" charset="-122"/>
              </a:rPr>
              <a:t>保存流路高亮和设备状态</a:t>
            </a:r>
          </a:p>
        </p:txBody>
      </p:sp>
      <p:sp>
        <p:nvSpPr>
          <p:cNvPr id="11" name="椭圆 10">
            <a:extLst>
              <a:ext uri="{FF2B5EF4-FFF2-40B4-BE49-F238E27FC236}">
                <a16:creationId xmlns:a16="http://schemas.microsoft.com/office/drawing/2014/main" id="{876559BB-C971-EE25-3762-0453996BB56D}"/>
              </a:ext>
            </a:extLst>
          </p:cNvPr>
          <p:cNvSpPr/>
          <p:nvPr/>
        </p:nvSpPr>
        <p:spPr>
          <a:xfrm>
            <a:off x="685800" y="35814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36774F22-96D6-C5BD-0001-DC47C37BAC9F}"/>
              </a:ext>
            </a:extLst>
          </p:cNvPr>
          <p:cNvSpPr txBox="1"/>
          <p:nvPr/>
        </p:nvSpPr>
        <p:spPr>
          <a:xfrm>
            <a:off x="965200" y="3492500"/>
            <a:ext cx="5372100" cy="246221"/>
          </a:xfrm>
          <a:prstGeom prst="rect">
            <a:avLst/>
          </a:prstGeom>
          <a:noFill/>
        </p:spPr>
        <p:txBody>
          <a:bodyPr vert="horz" lIns="0" tIns="0" rIns="0" bIns="0" rtlCol="0">
            <a:spAutoFit/>
          </a:bodyPr>
          <a:lstStyle/>
          <a:p>
            <a:r>
              <a:rPr lang="zh-CN" altLang="en-US" sz="1600">
                <a:solidFill>
                  <a:srgbClr val="23343B"/>
                </a:solidFill>
                <a:latin typeface="Microsoft YaHei" panose="020B0503020204020204" pitchFamily="34" charset="-122"/>
              </a:rPr>
              <a:t>阶段切换后快速恢复完整设计场景</a:t>
            </a:r>
          </a:p>
        </p:txBody>
      </p:sp>
      <p:sp>
        <p:nvSpPr>
          <p:cNvPr id="13" name="椭圆 12">
            <a:extLst>
              <a:ext uri="{FF2B5EF4-FFF2-40B4-BE49-F238E27FC236}">
                <a16:creationId xmlns:a16="http://schemas.microsoft.com/office/drawing/2014/main" id="{3203ABBA-1F6D-B252-C8AB-A6F98C6002CC}"/>
              </a:ext>
            </a:extLst>
          </p:cNvPr>
          <p:cNvSpPr/>
          <p:nvPr/>
        </p:nvSpPr>
        <p:spPr>
          <a:xfrm>
            <a:off x="685800" y="44704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0B8CB101-901C-6B79-0FA7-875696F43DFD}"/>
              </a:ext>
            </a:extLst>
          </p:cNvPr>
          <p:cNvSpPr txBox="1"/>
          <p:nvPr/>
        </p:nvSpPr>
        <p:spPr>
          <a:xfrm>
            <a:off x="965200" y="4381500"/>
            <a:ext cx="5372100" cy="246221"/>
          </a:xfrm>
          <a:prstGeom prst="rect">
            <a:avLst/>
          </a:prstGeom>
          <a:noFill/>
        </p:spPr>
        <p:txBody>
          <a:bodyPr vert="horz" lIns="0" tIns="0" rIns="0" bIns="0" rtlCol="0">
            <a:spAutoFit/>
          </a:bodyPr>
          <a:lstStyle/>
          <a:p>
            <a:r>
              <a:rPr lang="zh-CN" altLang="en-US" sz="1600">
                <a:solidFill>
                  <a:srgbClr val="23343B"/>
                </a:solidFill>
                <a:latin typeface="Microsoft YaHei" panose="020B0503020204020204" pitchFamily="34" charset="-122"/>
              </a:rPr>
              <a:t>支持大量阶段的顺序管理与复用</a:t>
            </a:r>
          </a:p>
        </p:txBody>
      </p:sp>
      <p:sp>
        <p:nvSpPr>
          <p:cNvPr id="15" name="矩形: 圆角 14">
            <a:extLst>
              <a:ext uri="{FF2B5EF4-FFF2-40B4-BE49-F238E27FC236}">
                <a16:creationId xmlns:a16="http://schemas.microsoft.com/office/drawing/2014/main" id="{A491971F-E5B7-DA55-5907-523CED93999A}"/>
              </a:ext>
            </a:extLst>
          </p:cNvPr>
          <p:cNvSpPr/>
          <p:nvPr/>
        </p:nvSpPr>
        <p:spPr>
          <a:xfrm>
            <a:off x="6921500" y="1778000"/>
            <a:ext cx="4635500" cy="3213100"/>
          </a:xfrm>
          <a:prstGeom prst="roundRect">
            <a:avLst/>
          </a:prstGeom>
          <a:solidFill>
            <a:srgbClr val="FFFFFF"/>
          </a:solidFill>
          <a:ln w="9525">
            <a:solidFill>
              <a:srgbClr val="E5E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a:extLst>
              <a:ext uri="{FF2B5EF4-FFF2-40B4-BE49-F238E27FC236}">
                <a16:creationId xmlns:a16="http://schemas.microsoft.com/office/drawing/2014/main" id="{895440E4-F5E7-3E35-0CAF-412674FFB32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0" y="1841500"/>
            <a:ext cx="4508500" cy="3086100"/>
          </a:xfrm>
          <a:prstGeom prst="rect">
            <a:avLst/>
          </a:prstGeom>
        </p:spPr>
      </p:pic>
      <p:sp>
        <p:nvSpPr>
          <p:cNvPr id="18" name="文本框 17">
            <a:extLst>
              <a:ext uri="{FF2B5EF4-FFF2-40B4-BE49-F238E27FC236}">
                <a16:creationId xmlns:a16="http://schemas.microsoft.com/office/drawing/2014/main" id="{E57C7AC5-AAB1-439F-E9A9-DD152B2129BA}"/>
              </a:ext>
            </a:extLst>
          </p:cNvPr>
          <p:cNvSpPr txBox="1"/>
          <p:nvPr/>
        </p:nvSpPr>
        <p:spPr>
          <a:xfrm>
            <a:off x="6985000" y="5168900"/>
            <a:ext cx="4508500" cy="153888"/>
          </a:xfrm>
          <a:prstGeom prst="rect">
            <a:avLst/>
          </a:prstGeom>
          <a:noFill/>
        </p:spPr>
        <p:txBody>
          <a:bodyPr vert="horz" lIns="0" tIns="0" rIns="0" bIns="0" rtlCol="0">
            <a:spAutoFit/>
          </a:bodyPr>
          <a:lstStyle/>
          <a:p>
            <a:r>
              <a:rPr lang="zh-CN" altLang="en-US" sz="1000" b="1">
                <a:solidFill>
                  <a:srgbClr val="2F9E75"/>
                </a:solidFill>
                <a:latin typeface="Microsoft YaHei" panose="020B0503020204020204" pitchFamily="34" charset="-122"/>
              </a:rPr>
              <a:t>从复杂图纸中建立清晰场景</a:t>
            </a:r>
          </a:p>
        </p:txBody>
      </p:sp>
    </p:spTree>
    <p:extLst>
      <p:ext uri="{BB962C8B-B14F-4D97-AF65-F5344CB8AC3E}">
        <p14:creationId xmlns:p14="http://schemas.microsoft.com/office/powerpoint/2010/main" val="18749654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05749D8-66CE-DA75-CC4E-FBDFCAEEB606}"/>
              </a:ext>
            </a:extLst>
          </p:cNvPr>
          <p:cNvSpPr txBox="1"/>
          <p:nvPr/>
        </p:nvSpPr>
        <p:spPr>
          <a:xfrm>
            <a:off x="533400" y="254000"/>
            <a:ext cx="8255000" cy="138499"/>
          </a:xfrm>
          <a:prstGeom prst="rect">
            <a:avLst/>
          </a:prstGeom>
          <a:noFill/>
        </p:spPr>
        <p:txBody>
          <a:bodyPr vert="horz" lIns="0" tIns="0" rIns="0" bIns="0" rtlCol="0">
            <a:spAutoFit/>
          </a:bodyPr>
          <a:lstStyle/>
          <a:p>
            <a:r>
              <a:rPr lang="zh-CN" altLang="en-US" sz="900" b="1">
                <a:solidFill>
                  <a:srgbClr val="2F9E75"/>
                </a:solidFill>
                <a:latin typeface="Aptos" panose="020B0004020202020204" pitchFamily="34" charset="0"/>
              </a:rPr>
              <a:t>应用范围</a:t>
            </a:r>
          </a:p>
        </p:txBody>
      </p:sp>
      <p:sp>
        <p:nvSpPr>
          <p:cNvPr id="3" name="文本框 2">
            <a:extLst>
              <a:ext uri="{FF2B5EF4-FFF2-40B4-BE49-F238E27FC236}">
                <a16:creationId xmlns:a16="http://schemas.microsoft.com/office/drawing/2014/main" id="{94228406-78E1-319F-C364-DEE796F3E76D}"/>
              </a:ext>
            </a:extLst>
          </p:cNvPr>
          <p:cNvSpPr txBox="1"/>
          <p:nvPr/>
        </p:nvSpPr>
        <p:spPr>
          <a:xfrm>
            <a:off x="533400" y="558800"/>
            <a:ext cx="9779000" cy="400110"/>
          </a:xfrm>
          <a:prstGeom prst="rect">
            <a:avLst/>
          </a:prstGeom>
          <a:noFill/>
        </p:spPr>
        <p:txBody>
          <a:bodyPr vert="horz" lIns="0" tIns="0" rIns="0" bIns="0" rtlCol="0">
            <a:spAutoFit/>
          </a:bodyPr>
          <a:lstStyle/>
          <a:p>
            <a:r>
              <a:rPr lang="zh-CN" altLang="en-US" sz="2600" b="1">
                <a:solidFill>
                  <a:srgbClr val="23343B"/>
                </a:solidFill>
                <a:latin typeface="Microsoft YaHei" panose="020B0503020204020204" pitchFamily="34" charset="-122"/>
              </a:rPr>
              <a:t>从 </a:t>
            </a:r>
            <a:r>
              <a:rPr lang="en-US" altLang="zh-CN" sz="2600" b="1">
                <a:solidFill>
                  <a:srgbClr val="23343B"/>
                </a:solidFill>
                <a:latin typeface="Microsoft YaHei" panose="020B0503020204020204" pitchFamily="34" charset="-122"/>
              </a:rPr>
              <a:t>CIP/SIP </a:t>
            </a:r>
            <a:r>
              <a:rPr lang="zh-CN" altLang="en-US" sz="2600" b="1">
                <a:solidFill>
                  <a:srgbClr val="23343B"/>
                </a:solidFill>
                <a:latin typeface="Microsoft YaHei" panose="020B0503020204020204" pitchFamily="34" charset="-122"/>
              </a:rPr>
              <a:t>延伸至更多制药工艺场景</a:t>
            </a:r>
          </a:p>
        </p:txBody>
      </p:sp>
      <p:cxnSp>
        <p:nvCxnSpPr>
          <p:cNvPr id="4" name="直接连接符 3">
            <a:extLst>
              <a:ext uri="{FF2B5EF4-FFF2-40B4-BE49-F238E27FC236}">
                <a16:creationId xmlns:a16="http://schemas.microsoft.com/office/drawing/2014/main" id="{0A11E8E8-B2DA-8F7D-4E02-7E0796615103}"/>
              </a:ext>
            </a:extLst>
          </p:cNvPr>
          <p:cNvCxnSpPr/>
          <p:nvPr/>
        </p:nvCxnSpPr>
        <p:spPr>
          <a:xfrm>
            <a:off x="533400" y="1231900"/>
            <a:ext cx="11125200" cy="0"/>
          </a:xfrm>
          <a:prstGeom prst="line">
            <a:avLst/>
          </a:prstGeom>
          <a:ln w="12700">
            <a:solidFill>
              <a:srgbClr val="E5EAE8"/>
            </a:solidFill>
          </a:ln>
        </p:spPr>
        <p:style>
          <a:lnRef idx="2">
            <a:schemeClr val="accent1"/>
          </a:lnRef>
          <a:fillRef idx="0">
            <a:schemeClr val="accent1"/>
          </a:fillRef>
          <a:effectRef idx="1">
            <a:schemeClr val="accent1"/>
          </a:effectRef>
          <a:fontRef idx="minor">
            <a:schemeClr val="tx1"/>
          </a:fontRef>
        </p:style>
      </p:cxnSp>
      <p:sp>
        <p:nvSpPr>
          <p:cNvPr id="5" name="文本框 4">
            <a:extLst>
              <a:ext uri="{FF2B5EF4-FFF2-40B4-BE49-F238E27FC236}">
                <a16:creationId xmlns:a16="http://schemas.microsoft.com/office/drawing/2014/main" id="{77D8A253-3CA7-2C33-841D-B09C8717CD57}"/>
              </a:ext>
            </a:extLst>
          </p:cNvPr>
          <p:cNvSpPr txBox="1"/>
          <p:nvPr/>
        </p:nvSpPr>
        <p:spPr>
          <a:xfrm>
            <a:off x="11303000" y="254000"/>
            <a:ext cx="355600" cy="138499"/>
          </a:xfrm>
          <a:prstGeom prst="rect">
            <a:avLst/>
          </a:prstGeom>
          <a:noFill/>
        </p:spPr>
        <p:txBody>
          <a:bodyPr vert="horz" lIns="0" tIns="0" rIns="0" bIns="0" rtlCol="0">
            <a:spAutoFit/>
          </a:bodyPr>
          <a:lstStyle/>
          <a:p>
            <a:pPr algn="r"/>
            <a:r>
              <a:rPr lang="en-US" altLang="zh-CN" sz="900" b="1">
                <a:solidFill>
                  <a:srgbClr val="66757B"/>
                </a:solidFill>
                <a:latin typeface="Aptos" panose="020B0004020202020204" pitchFamily="34" charset="0"/>
              </a:rPr>
              <a:t>07</a:t>
            </a:r>
            <a:endParaRPr lang="zh-CN" altLang="en-US" sz="900" b="1">
              <a:solidFill>
                <a:srgbClr val="66757B"/>
              </a:solidFill>
              <a:latin typeface="Aptos" panose="020B0004020202020204" pitchFamily="34" charset="0"/>
            </a:endParaRPr>
          </a:p>
        </p:txBody>
      </p:sp>
      <p:sp>
        <p:nvSpPr>
          <p:cNvPr id="6" name="文本框 5">
            <a:extLst>
              <a:ext uri="{FF2B5EF4-FFF2-40B4-BE49-F238E27FC236}">
                <a16:creationId xmlns:a16="http://schemas.microsoft.com/office/drawing/2014/main" id="{F8F12CD5-DB5D-96F4-C69C-98FE798D3541}"/>
              </a:ext>
            </a:extLst>
          </p:cNvPr>
          <p:cNvSpPr txBox="1"/>
          <p:nvPr/>
        </p:nvSpPr>
        <p:spPr>
          <a:xfrm>
            <a:off x="533400" y="6578600"/>
            <a:ext cx="6350000" cy="107722"/>
          </a:xfrm>
          <a:prstGeom prst="rect">
            <a:avLst/>
          </a:prstGeom>
          <a:noFill/>
        </p:spPr>
        <p:txBody>
          <a:bodyPr vert="horz" lIns="0" tIns="0" rIns="0" bIns="0" rtlCol="0">
            <a:spAutoFit/>
          </a:bodyPr>
          <a:lstStyle/>
          <a:p>
            <a:r>
              <a:rPr lang="en-US" altLang="zh-CN" sz="700" b="1">
                <a:solidFill>
                  <a:srgbClr val="66757B"/>
                </a:solidFill>
                <a:latin typeface="Aptos" panose="020B0004020202020204" pitchFamily="34" charset="0"/>
              </a:rPr>
              <a:t>HIGHLIGHTED FLOW PATH SOFTWARE · </a:t>
            </a:r>
            <a:r>
              <a:rPr lang="zh-CN" altLang="en-US" sz="700" b="1">
                <a:solidFill>
                  <a:srgbClr val="66757B"/>
                </a:solidFill>
                <a:latin typeface="Aptos" panose="020B0004020202020204" pitchFamily="34" charset="0"/>
              </a:rPr>
              <a:t>客户演示</a:t>
            </a:r>
          </a:p>
        </p:txBody>
      </p:sp>
      <p:sp>
        <p:nvSpPr>
          <p:cNvPr id="7" name="椭圆 6">
            <a:extLst>
              <a:ext uri="{FF2B5EF4-FFF2-40B4-BE49-F238E27FC236}">
                <a16:creationId xmlns:a16="http://schemas.microsoft.com/office/drawing/2014/main" id="{CA14F6A2-8D7B-A9C2-62B1-206E4C380843}"/>
              </a:ext>
            </a:extLst>
          </p:cNvPr>
          <p:cNvSpPr/>
          <p:nvPr/>
        </p:nvSpPr>
        <p:spPr>
          <a:xfrm>
            <a:off x="787400" y="1968500"/>
            <a:ext cx="1168400" cy="1168400"/>
          </a:xfrm>
          <a:prstGeom prst="ellipse">
            <a:avLst/>
          </a:prstGeom>
          <a:solidFill>
            <a:srgbClr val="2F9E75"/>
          </a:solidFill>
          <a:ln>
            <a:solidFill>
              <a:srgbClr val="2F9E7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DBA11ACD-0384-7896-8B6C-2E885531DD11}"/>
              </a:ext>
            </a:extLst>
          </p:cNvPr>
          <p:cNvSpPr txBox="1"/>
          <p:nvPr/>
        </p:nvSpPr>
        <p:spPr>
          <a:xfrm>
            <a:off x="1181100" y="2298700"/>
            <a:ext cx="381000" cy="169277"/>
          </a:xfrm>
          <a:prstGeom prst="rect">
            <a:avLst/>
          </a:prstGeom>
          <a:noFill/>
        </p:spPr>
        <p:txBody>
          <a:bodyPr vert="horz" lIns="0" tIns="0" rIns="0" bIns="0" rtlCol="0">
            <a:spAutoFit/>
          </a:bodyPr>
          <a:lstStyle/>
          <a:p>
            <a:pPr algn="ctr"/>
            <a:r>
              <a:rPr lang="en-US" altLang="zh-CN" sz="1100" b="1">
                <a:solidFill>
                  <a:srgbClr val="FFFFFF"/>
                </a:solidFill>
                <a:latin typeface="Aptos" panose="020B0004020202020204" pitchFamily="34" charset="0"/>
              </a:rPr>
              <a:t>01</a:t>
            </a:r>
            <a:endParaRPr lang="zh-CN" altLang="en-US" sz="1100" b="1">
              <a:solidFill>
                <a:srgbClr val="FFFFFF"/>
              </a:solidFill>
              <a:latin typeface="Aptos" panose="020B0004020202020204" pitchFamily="34" charset="0"/>
            </a:endParaRPr>
          </a:p>
        </p:txBody>
      </p:sp>
      <p:sp>
        <p:nvSpPr>
          <p:cNvPr id="9" name="文本框 8">
            <a:extLst>
              <a:ext uri="{FF2B5EF4-FFF2-40B4-BE49-F238E27FC236}">
                <a16:creationId xmlns:a16="http://schemas.microsoft.com/office/drawing/2014/main" id="{581E7E93-538C-6FD3-942E-C52A088CFF32}"/>
              </a:ext>
            </a:extLst>
          </p:cNvPr>
          <p:cNvSpPr txBox="1"/>
          <p:nvPr/>
        </p:nvSpPr>
        <p:spPr>
          <a:xfrm>
            <a:off x="533400" y="3390900"/>
            <a:ext cx="1676400" cy="230832"/>
          </a:xfrm>
          <a:prstGeom prst="rect">
            <a:avLst/>
          </a:prstGeom>
          <a:noFill/>
        </p:spPr>
        <p:txBody>
          <a:bodyPr vert="horz" lIns="0" tIns="0" rIns="0" bIns="0" rtlCol="0">
            <a:spAutoFit/>
          </a:bodyPr>
          <a:lstStyle/>
          <a:p>
            <a:pPr algn="ctr"/>
            <a:r>
              <a:rPr lang="en-US" altLang="zh-CN" sz="1500" b="1">
                <a:solidFill>
                  <a:srgbClr val="23343B"/>
                </a:solidFill>
                <a:latin typeface="Microsoft YaHei" panose="020B0503020204020204" pitchFamily="34" charset="-122"/>
              </a:rPr>
              <a:t>CIP</a:t>
            </a:r>
            <a:endParaRPr lang="zh-CN" altLang="en-US" sz="1500" b="1">
              <a:solidFill>
                <a:srgbClr val="23343B"/>
              </a:solidFill>
              <a:latin typeface="Microsoft YaHei" panose="020B0503020204020204" pitchFamily="34" charset="-122"/>
            </a:endParaRPr>
          </a:p>
        </p:txBody>
      </p:sp>
      <p:sp>
        <p:nvSpPr>
          <p:cNvPr id="10" name="椭圆 9">
            <a:extLst>
              <a:ext uri="{FF2B5EF4-FFF2-40B4-BE49-F238E27FC236}">
                <a16:creationId xmlns:a16="http://schemas.microsoft.com/office/drawing/2014/main" id="{34C7F7B3-2116-A48B-56E6-65C6DF628AD1}"/>
              </a:ext>
            </a:extLst>
          </p:cNvPr>
          <p:cNvSpPr/>
          <p:nvPr/>
        </p:nvSpPr>
        <p:spPr>
          <a:xfrm>
            <a:off x="3022600" y="1968500"/>
            <a:ext cx="1168400" cy="1168400"/>
          </a:xfrm>
          <a:prstGeom prst="ellipse">
            <a:avLst/>
          </a:prstGeom>
          <a:solidFill>
            <a:srgbClr val="FFFFFF"/>
          </a:solidFill>
          <a:ln>
            <a:solidFill>
              <a:srgbClr val="E5E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2BB3BA4B-F7A4-B364-1F41-1EAE5B91354D}"/>
              </a:ext>
            </a:extLst>
          </p:cNvPr>
          <p:cNvSpPr txBox="1"/>
          <p:nvPr/>
        </p:nvSpPr>
        <p:spPr>
          <a:xfrm>
            <a:off x="3416300" y="2298700"/>
            <a:ext cx="381000" cy="169277"/>
          </a:xfrm>
          <a:prstGeom prst="rect">
            <a:avLst/>
          </a:prstGeom>
          <a:noFill/>
        </p:spPr>
        <p:txBody>
          <a:bodyPr vert="horz" lIns="0" tIns="0" rIns="0" bIns="0" rtlCol="0">
            <a:spAutoFit/>
          </a:bodyPr>
          <a:lstStyle/>
          <a:p>
            <a:pPr algn="ctr"/>
            <a:r>
              <a:rPr lang="en-US" altLang="zh-CN" sz="1100" b="1">
                <a:solidFill>
                  <a:srgbClr val="2F9E75"/>
                </a:solidFill>
                <a:latin typeface="Aptos" panose="020B0004020202020204" pitchFamily="34" charset="0"/>
              </a:rPr>
              <a:t>02</a:t>
            </a:r>
            <a:endParaRPr lang="zh-CN" altLang="en-US" sz="1100" b="1">
              <a:solidFill>
                <a:srgbClr val="2F9E75"/>
              </a:solidFill>
              <a:latin typeface="Aptos" panose="020B0004020202020204" pitchFamily="34" charset="0"/>
            </a:endParaRPr>
          </a:p>
        </p:txBody>
      </p:sp>
      <p:sp>
        <p:nvSpPr>
          <p:cNvPr id="12" name="文本框 11">
            <a:extLst>
              <a:ext uri="{FF2B5EF4-FFF2-40B4-BE49-F238E27FC236}">
                <a16:creationId xmlns:a16="http://schemas.microsoft.com/office/drawing/2014/main" id="{4ED45F3A-BB79-7050-4DF5-9CCC5AEA2B42}"/>
              </a:ext>
            </a:extLst>
          </p:cNvPr>
          <p:cNvSpPr txBox="1"/>
          <p:nvPr/>
        </p:nvSpPr>
        <p:spPr>
          <a:xfrm>
            <a:off x="2768600" y="3390900"/>
            <a:ext cx="1676400" cy="230832"/>
          </a:xfrm>
          <a:prstGeom prst="rect">
            <a:avLst/>
          </a:prstGeom>
          <a:noFill/>
        </p:spPr>
        <p:txBody>
          <a:bodyPr vert="horz" lIns="0" tIns="0" rIns="0" bIns="0" rtlCol="0">
            <a:spAutoFit/>
          </a:bodyPr>
          <a:lstStyle/>
          <a:p>
            <a:pPr algn="ctr"/>
            <a:r>
              <a:rPr lang="en-US" altLang="zh-CN" sz="1500" b="1">
                <a:solidFill>
                  <a:srgbClr val="23343B"/>
                </a:solidFill>
                <a:latin typeface="Microsoft YaHei" panose="020B0503020204020204" pitchFamily="34" charset="-122"/>
              </a:rPr>
              <a:t>SIP</a:t>
            </a:r>
            <a:endParaRPr lang="zh-CN" altLang="en-US" sz="1500" b="1">
              <a:solidFill>
                <a:srgbClr val="23343B"/>
              </a:solidFill>
              <a:latin typeface="Microsoft YaHei" panose="020B0503020204020204" pitchFamily="34" charset="-122"/>
            </a:endParaRPr>
          </a:p>
        </p:txBody>
      </p:sp>
      <p:sp>
        <p:nvSpPr>
          <p:cNvPr id="13" name="椭圆 12">
            <a:extLst>
              <a:ext uri="{FF2B5EF4-FFF2-40B4-BE49-F238E27FC236}">
                <a16:creationId xmlns:a16="http://schemas.microsoft.com/office/drawing/2014/main" id="{2D823079-D24C-B74E-AF1D-8E11C4081868}"/>
              </a:ext>
            </a:extLst>
          </p:cNvPr>
          <p:cNvSpPr/>
          <p:nvPr/>
        </p:nvSpPr>
        <p:spPr>
          <a:xfrm>
            <a:off x="5257800" y="1968500"/>
            <a:ext cx="1168400" cy="1168400"/>
          </a:xfrm>
          <a:prstGeom prst="ellipse">
            <a:avLst/>
          </a:prstGeom>
          <a:solidFill>
            <a:srgbClr val="FFFFFF"/>
          </a:solidFill>
          <a:ln>
            <a:solidFill>
              <a:srgbClr val="E5E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87D158E9-0827-9532-090C-36F802C8D117}"/>
              </a:ext>
            </a:extLst>
          </p:cNvPr>
          <p:cNvSpPr txBox="1"/>
          <p:nvPr/>
        </p:nvSpPr>
        <p:spPr>
          <a:xfrm>
            <a:off x="5651500" y="2298700"/>
            <a:ext cx="381000" cy="169277"/>
          </a:xfrm>
          <a:prstGeom prst="rect">
            <a:avLst/>
          </a:prstGeom>
          <a:noFill/>
        </p:spPr>
        <p:txBody>
          <a:bodyPr vert="horz" lIns="0" tIns="0" rIns="0" bIns="0" rtlCol="0">
            <a:spAutoFit/>
          </a:bodyPr>
          <a:lstStyle/>
          <a:p>
            <a:pPr algn="ctr"/>
            <a:r>
              <a:rPr lang="en-US" altLang="zh-CN" sz="1100" b="1">
                <a:solidFill>
                  <a:srgbClr val="2F9E75"/>
                </a:solidFill>
                <a:latin typeface="Aptos" panose="020B0004020202020204" pitchFamily="34" charset="0"/>
              </a:rPr>
              <a:t>03</a:t>
            </a:r>
            <a:endParaRPr lang="zh-CN" altLang="en-US" sz="1100" b="1">
              <a:solidFill>
                <a:srgbClr val="2F9E75"/>
              </a:solidFill>
              <a:latin typeface="Aptos" panose="020B0004020202020204" pitchFamily="34" charset="0"/>
            </a:endParaRPr>
          </a:p>
        </p:txBody>
      </p:sp>
      <p:sp>
        <p:nvSpPr>
          <p:cNvPr id="15" name="文本框 14">
            <a:extLst>
              <a:ext uri="{FF2B5EF4-FFF2-40B4-BE49-F238E27FC236}">
                <a16:creationId xmlns:a16="http://schemas.microsoft.com/office/drawing/2014/main" id="{4BF6632E-0DD9-4388-3013-A3506F468158}"/>
              </a:ext>
            </a:extLst>
          </p:cNvPr>
          <p:cNvSpPr txBox="1"/>
          <p:nvPr/>
        </p:nvSpPr>
        <p:spPr>
          <a:xfrm>
            <a:off x="5003800" y="3390900"/>
            <a:ext cx="1676400" cy="230832"/>
          </a:xfrm>
          <a:prstGeom prst="rect">
            <a:avLst/>
          </a:prstGeom>
          <a:noFill/>
        </p:spPr>
        <p:txBody>
          <a:bodyPr vert="horz" lIns="0" tIns="0" rIns="0" bIns="0" rtlCol="0">
            <a:spAutoFit/>
          </a:bodyPr>
          <a:lstStyle/>
          <a:p>
            <a:pPr algn="ctr"/>
            <a:r>
              <a:rPr lang="zh-CN" altLang="en-US" sz="1500" b="1">
                <a:solidFill>
                  <a:srgbClr val="23343B"/>
                </a:solidFill>
                <a:latin typeface="Microsoft YaHei" panose="020B0503020204020204" pitchFamily="34" charset="-122"/>
              </a:rPr>
              <a:t>配液系统</a:t>
            </a:r>
          </a:p>
        </p:txBody>
      </p:sp>
      <p:sp>
        <p:nvSpPr>
          <p:cNvPr id="16" name="椭圆 15">
            <a:extLst>
              <a:ext uri="{FF2B5EF4-FFF2-40B4-BE49-F238E27FC236}">
                <a16:creationId xmlns:a16="http://schemas.microsoft.com/office/drawing/2014/main" id="{F01D1791-DFD7-2985-2A00-7AC0E877A8FB}"/>
              </a:ext>
            </a:extLst>
          </p:cNvPr>
          <p:cNvSpPr/>
          <p:nvPr/>
        </p:nvSpPr>
        <p:spPr>
          <a:xfrm>
            <a:off x="7493000" y="1968500"/>
            <a:ext cx="1168400" cy="1168400"/>
          </a:xfrm>
          <a:prstGeom prst="ellipse">
            <a:avLst/>
          </a:prstGeom>
          <a:solidFill>
            <a:srgbClr val="FFFFFF"/>
          </a:solidFill>
          <a:ln>
            <a:solidFill>
              <a:srgbClr val="E5E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600CE3C6-2638-309A-8AC5-0AA065079075}"/>
              </a:ext>
            </a:extLst>
          </p:cNvPr>
          <p:cNvSpPr txBox="1"/>
          <p:nvPr/>
        </p:nvSpPr>
        <p:spPr>
          <a:xfrm>
            <a:off x="7886700" y="2298700"/>
            <a:ext cx="381000" cy="169277"/>
          </a:xfrm>
          <a:prstGeom prst="rect">
            <a:avLst/>
          </a:prstGeom>
          <a:noFill/>
        </p:spPr>
        <p:txBody>
          <a:bodyPr vert="horz" lIns="0" tIns="0" rIns="0" bIns="0" rtlCol="0">
            <a:spAutoFit/>
          </a:bodyPr>
          <a:lstStyle/>
          <a:p>
            <a:pPr algn="ctr"/>
            <a:r>
              <a:rPr lang="en-US" altLang="zh-CN" sz="1100" b="1">
                <a:solidFill>
                  <a:srgbClr val="2F9E75"/>
                </a:solidFill>
                <a:latin typeface="Aptos" panose="020B0004020202020204" pitchFamily="34" charset="0"/>
              </a:rPr>
              <a:t>04</a:t>
            </a:r>
            <a:endParaRPr lang="zh-CN" altLang="en-US" sz="1100" b="1">
              <a:solidFill>
                <a:srgbClr val="2F9E75"/>
              </a:solidFill>
              <a:latin typeface="Aptos" panose="020B0004020202020204" pitchFamily="34" charset="0"/>
            </a:endParaRPr>
          </a:p>
        </p:txBody>
      </p:sp>
      <p:sp>
        <p:nvSpPr>
          <p:cNvPr id="18" name="文本框 17">
            <a:extLst>
              <a:ext uri="{FF2B5EF4-FFF2-40B4-BE49-F238E27FC236}">
                <a16:creationId xmlns:a16="http://schemas.microsoft.com/office/drawing/2014/main" id="{9C9C1292-219C-B05C-C4C0-C2F47D4DCB82}"/>
              </a:ext>
            </a:extLst>
          </p:cNvPr>
          <p:cNvSpPr txBox="1"/>
          <p:nvPr/>
        </p:nvSpPr>
        <p:spPr>
          <a:xfrm>
            <a:off x="7239000" y="3390900"/>
            <a:ext cx="1676400" cy="230832"/>
          </a:xfrm>
          <a:prstGeom prst="rect">
            <a:avLst/>
          </a:prstGeom>
          <a:noFill/>
        </p:spPr>
        <p:txBody>
          <a:bodyPr vert="horz" lIns="0" tIns="0" rIns="0" bIns="0" rtlCol="0">
            <a:spAutoFit/>
          </a:bodyPr>
          <a:lstStyle/>
          <a:p>
            <a:pPr algn="ctr"/>
            <a:r>
              <a:rPr lang="zh-CN" altLang="en-US" sz="1500" b="1">
                <a:solidFill>
                  <a:srgbClr val="23343B"/>
                </a:solidFill>
                <a:latin typeface="Microsoft YaHei" panose="020B0503020204020204" pitchFamily="34" charset="-122"/>
              </a:rPr>
              <a:t>生物反应器</a:t>
            </a:r>
          </a:p>
        </p:txBody>
      </p:sp>
      <p:sp>
        <p:nvSpPr>
          <p:cNvPr id="19" name="椭圆 18">
            <a:extLst>
              <a:ext uri="{FF2B5EF4-FFF2-40B4-BE49-F238E27FC236}">
                <a16:creationId xmlns:a16="http://schemas.microsoft.com/office/drawing/2014/main" id="{6D643E09-24D2-87C1-43CA-74F0970979BE}"/>
              </a:ext>
            </a:extLst>
          </p:cNvPr>
          <p:cNvSpPr/>
          <p:nvPr/>
        </p:nvSpPr>
        <p:spPr>
          <a:xfrm>
            <a:off x="9728200" y="1968500"/>
            <a:ext cx="1168400" cy="1168400"/>
          </a:xfrm>
          <a:prstGeom prst="ellipse">
            <a:avLst/>
          </a:prstGeom>
          <a:solidFill>
            <a:srgbClr val="FFFFFF"/>
          </a:solidFill>
          <a:ln>
            <a:solidFill>
              <a:srgbClr val="E5E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D0F35192-4AC8-7282-8743-266373590644}"/>
              </a:ext>
            </a:extLst>
          </p:cNvPr>
          <p:cNvSpPr txBox="1"/>
          <p:nvPr/>
        </p:nvSpPr>
        <p:spPr>
          <a:xfrm>
            <a:off x="10121900" y="2298700"/>
            <a:ext cx="381000" cy="169277"/>
          </a:xfrm>
          <a:prstGeom prst="rect">
            <a:avLst/>
          </a:prstGeom>
          <a:noFill/>
        </p:spPr>
        <p:txBody>
          <a:bodyPr vert="horz" lIns="0" tIns="0" rIns="0" bIns="0" rtlCol="0">
            <a:spAutoFit/>
          </a:bodyPr>
          <a:lstStyle/>
          <a:p>
            <a:pPr algn="ctr"/>
            <a:r>
              <a:rPr lang="en-US" altLang="zh-CN" sz="1100" b="1">
                <a:solidFill>
                  <a:srgbClr val="2F9E75"/>
                </a:solidFill>
                <a:latin typeface="Aptos" panose="020B0004020202020204" pitchFamily="34" charset="0"/>
              </a:rPr>
              <a:t>05</a:t>
            </a:r>
            <a:endParaRPr lang="zh-CN" altLang="en-US" sz="1100" b="1">
              <a:solidFill>
                <a:srgbClr val="2F9E75"/>
              </a:solidFill>
              <a:latin typeface="Aptos" panose="020B0004020202020204" pitchFamily="34" charset="0"/>
            </a:endParaRPr>
          </a:p>
        </p:txBody>
      </p:sp>
      <p:sp>
        <p:nvSpPr>
          <p:cNvPr id="21" name="文本框 20">
            <a:extLst>
              <a:ext uri="{FF2B5EF4-FFF2-40B4-BE49-F238E27FC236}">
                <a16:creationId xmlns:a16="http://schemas.microsoft.com/office/drawing/2014/main" id="{2B261E42-0573-4788-5451-274F69E1B971}"/>
              </a:ext>
            </a:extLst>
          </p:cNvPr>
          <p:cNvSpPr txBox="1"/>
          <p:nvPr/>
        </p:nvSpPr>
        <p:spPr>
          <a:xfrm>
            <a:off x="9474200" y="3390900"/>
            <a:ext cx="1676400" cy="230832"/>
          </a:xfrm>
          <a:prstGeom prst="rect">
            <a:avLst/>
          </a:prstGeom>
          <a:noFill/>
        </p:spPr>
        <p:txBody>
          <a:bodyPr vert="horz" lIns="0" tIns="0" rIns="0" bIns="0" rtlCol="0">
            <a:spAutoFit/>
          </a:bodyPr>
          <a:lstStyle/>
          <a:p>
            <a:pPr algn="ctr"/>
            <a:r>
              <a:rPr lang="zh-CN" altLang="en-US" sz="1500" b="1">
                <a:solidFill>
                  <a:srgbClr val="23343B"/>
                </a:solidFill>
                <a:latin typeface="Microsoft YaHei" panose="020B0503020204020204" pitchFamily="34" charset="-122"/>
              </a:rPr>
              <a:t>公用工程</a:t>
            </a:r>
          </a:p>
        </p:txBody>
      </p:sp>
      <p:sp>
        <p:nvSpPr>
          <p:cNvPr id="22" name="文本框 21">
            <a:extLst>
              <a:ext uri="{FF2B5EF4-FFF2-40B4-BE49-F238E27FC236}">
                <a16:creationId xmlns:a16="http://schemas.microsoft.com/office/drawing/2014/main" id="{2016D2BC-25A2-5AAB-BA96-212C8CB476BF}"/>
              </a:ext>
            </a:extLst>
          </p:cNvPr>
          <p:cNvSpPr txBox="1"/>
          <p:nvPr/>
        </p:nvSpPr>
        <p:spPr>
          <a:xfrm>
            <a:off x="1524000" y="4635500"/>
            <a:ext cx="9144000" cy="276999"/>
          </a:xfrm>
          <a:prstGeom prst="rect">
            <a:avLst/>
          </a:prstGeom>
          <a:noFill/>
        </p:spPr>
        <p:txBody>
          <a:bodyPr vert="horz" lIns="0" tIns="0" rIns="0" bIns="0" rtlCol="0">
            <a:spAutoFit/>
          </a:bodyPr>
          <a:lstStyle/>
          <a:p>
            <a:pPr algn="ctr"/>
            <a:r>
              <a:rPr lang="zh-CN" altLang="en-US">
                <a:solidFill>
                  <a:srgbClr val="66757B"/>
                </a:solidFill>
                <a:latin typeface="Microsoft YaHei" panose="020B0503020204020204" pitchFamily="34" charset="-122"/>
              </a:rPr>
              <a:t>围绕 </a:t>
            </a:r>
            <a:r>
              <a:rPr lang="en-US" altLang="zh-CN">
                <a:solidFill>
                  <a:srgbClr val="66757B"/>
                </a:solidFill>
                <a:latin typeface="Microsoft YaHei" panose="020B0503020204020204" pitchFamily="34" charset="-122"/>
              </a:rPr>
              <a:t>P&amp;ID </a:t>
            </a:r>
            <a:r>
              <a:rPr lang="zh-CN" altLang="en-US">
                <a:solidFill>
                  <a:srgbClr val="66757B"/>
                </a:solidFill>
                <a:latin typeface="Microsoft YaHei" panose="020B0503020204020204" pitchFamily="34" charset="-122"/>
              </a:rPr>
              <a:t>的介质路径与设备状态，形成可复用的行业能力。</a:t>
            </a:r>
          </a:p>
        </p:txBody>
      </p:sp>
    </p:spTree>
    <p:extLst>
      <p:ext uri="{BB962C8B-B14F-4D97-AF65-F5344CB8AC3E}">
        <p14:creationId xmlns:p14="http://schemas.microsoft.com/office/powerpoint/2010/main" val="3466710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319B37A-686D-15D4-D3D6-1C8F8467CE10}"/>
              </a:ext>
            </a:extLst>
          </p:cNvPr>
          <p:cNvSpPr txBox="1"/>
          <p:nvPr/>
        </p:nvSpPr>
        <p:spPr>
          <a:xfrm>
            <a:off x="533400" y="254000"/>
            <a:ext cx="8255000" cy="138499"/>
          </a:xfrm>
          <a:prstGeom prst="rect">
            <a:avLst/>
          </a:prstGeom>
          <a:noFill/>
        </p:spPr>
        <p:txBody>
          <a:bodyPr vert="horz" lIns="0" tIns="0" rIns="0" bIns="0" rtlCol="0">
            <a:spAutoFit/>
          </a:bodyPr>
          <a:lstStyle/>
          <a:p>
            <a:r>
              <a:rPr lang="zh-CN" altLang="en-US" sz="900" b="1">
                <a:solidFill>
                  <a:srgbClr val="2F9E75"/>
                </a:solidFill>
                <a:latin typeface="Aptos" panose="020B0004020202020204" pitchFamily="34" charset="0"/>
              </a:rPr>
              <a:t>业务价值</a:t>
            </a:r>
          </a:p>
        </p:txBody>
      </p:sp>
      <p:sp>
        <p:nvSpPr>
          <p:cNvPr id="3" name="文本框 2">
            <a:extLst>
              <a:ext uri="{FF2B5EF4-FFF2-40B4-BE49-F238E27FC236}">
                <a16:creationId xmlns:a16="http://schemas.microsoft.com/office/drawing/2014/main" id="{11178D52-D35B-3419-E5FB-23FE37A5BE63}"/>
              </a:ext>
            </a:extLst>
          </p:cNvPr>
          <p:cNvSpPr txBox="1"/>
          <p:nvPr/>
        </p:nvSpPr>
        <p:spPr>
          <a:xfrm>
            <a:off x="533400" y="558800"/>
            <a:ext cx="9779000" cy="400110"/>
          </a:xfrm>
          <a:prstGeom prst="rect">
            <a:avLst/>
          </a:prstGeom>
          <a:noFill/>
        </p:spPr>
        <p:txBody>
          <a:bodyPr vert="horz" lIns="0" tIns="0" rIns="0" bIns="0" rtlCol="0">
            <a:spAutoFit/>
          </a:bodyPr>
          <a:lstStyle/>
          <a:p>
            <a:r>
              <a:rPr lang="zh-CN" altLang="en-US" sz="2600" b="1">
                <a:solidFill>
                  <a:srgbClr val="23343B"/>
                </a:solidFill>
                <a:latin typeface="Microsoft YaHei" panose="020B0503020204020204" pitchFamily="34" charset="-122"/>
              </a:rPr>
              <a:t>让设计审查建立在同一份可视化结果上</a:t>
            </a:r>
          </a:p>
        </p:txBody>
      </p:sp>
      <p:cxnSp>
        <p:nvCxnSpPr>
          <p:cNvPr id="4" name="直接连接符 3">
            <a:extLst>
              <a:ext uri="{FF2B5EF4-FFF2-40B4-BE49-F238E27FC236}">
                <a16:creationId xmlns:a16="http://schemas.microsoft.com/office/drawing/2014/main" id="{68E72AEA-DDF7-ED5E-220A-E3AC91DBE42D}"/>
              </a:ext>
            </a:extLst>
          </p:cNvPr>
          <p:cNvCxnSpPr/>
          <p:nvPr/>
        </p:nvCxnSpPr>
        <p:spPr>
          <a:xfrm>
            <a:off x="533400" y="1231900"/>
            <a:ext cx="11125200" cy="0"/>
          </a:xfrm>
          <a:prstGeom prst="line">
            <a:avLst/>
          </a:prstGeom>
          <a:ln w="12700">
            <a:solidFill>
              <a:srgbClr val="E5EAE8"/>
            </a:solidFill>
          </a:ln>
        </p:spPr>
        <p:style>
          <a:lnRef idx="2">
            <a:schemeClr val="accent1"/>
          </a:lnRef>
          <a:fillRef idx="0">
            <a:schemeClr val="accent1"/>
          </a:fillRef>
          <a:effectRef idx="1">
            <a:schemeClr val="accent1"/>
          </a:effectRef>
          <a:fontRef idx="minor">
            <a:schemeClr val="tx1"/>
          </a:fontRef>
        </p:style>
      </p:cxnSp>
      <p:sp>
        <p:nvSpPr>
          <p:cNvPr id="5" name="文本框 4">
            <a:extLst>
              <a:ext uri="{FF2B5EF4-FFF2-40B4-BE49-F238E27FC236}">
                <a16:creationId xmlns:a16="http://schemas.microsoft.com/office/drawing/2014/main" id="{D1999DCE-7BC7-6BB4-C37A-F83ACD54ECD7}"/>
              </a:ext>
            </a:extLst>
          </p:cNvPr>
          <p:cNvSpPr txBox="1"/>
          <p:nvPr/>
        </p:nvSpPr>
        <p:spPr>
          <a:xfrm>
            <a:off x="11303000" y="254000"/>
            <a:ext cx="355600" cy="138499"/>
          </a:xfrm>
          <a:prstGeom prst="rect">
            <a:avLst/>
          </a:prstGeom>
          <a:noFill/>
        </p:spPr>
        <p:txBody>
          <a:bodyPr vert="horz" lIns="0" tIns="0" rIns="0" bIns="0" rtlCol="0">
            <a:spAutoFit/>
          </a:bodyPr>
          <a:lstStyle/>
          <a:p>
            <a:pPr algn="r"/>
            <a:r>
              <a:rPr lang="en-US" altLang="zh-CN" sz="900" b="1">
                <a:solidFill>
                  <a:srgbClr val="66757B"/>
                </a:solidFill>
                <a:latin typeface="Aptos" panose="020B0004020202020204" pitchFamily="34" charset="0"/>
              </a:rPr>
              <a:t>08</a:t>
            </a:r>
            <a:endParaRPr lang="zh-CN" altLang="en-US" sz="900" b="1">
              <a:solidFill>
                <a:srgbClr val="66757B"/>
              </a:solidFill>
              <a:latin typeface="Aptos" panose="020B0004020202020204" pitchFamily="34" charset="0"/>
            </a:endParaRPr>
          </a:p>
        </p:txBody>
      </p:sp>
      <p:sp>
        <p:nvSpPr>
          <p:cNvPr id="6" name="文本框 5">
            <a:extLst>
              <a:ext uri="{FF2B5EF4-FFF2-40B4-BE49-F238E27FC236}">
                <a16:creationId xmlns:a16="http://schemas.microsoft.com/office/drawing/2014/main" id="{0795991E-4B5A-9020-2D68-EA76EC620739}"/>
              </a:ext>
            </a:extLst>
          </p:cNvPr>
          <p:cNvSpPr txBox="1"/>
          <p:nvPr/>
        </p:nvSpPr>
        <p:spPr>
          <a:xfrm>
            <a:off x="533400" y="6578600"/>
            <a:ext cx="6350000" cy="107722"/>
          </a:xfrm>
          <a:prstGeom prst="rect">
            <a:avLst/>
          </a:prstGeom>
          <a:noFill/>
        </p:spPr>
        <p:txBody>
          <a:bodyPr vert="horz" lIns="0" tIns="0" rIns="0" bIns="0" rtlCol="0">
            <a:spAutoFit/>
          </a:bodyPr>
          <a:lstStyle/>
          <a:p>
            <a:r>
              <a:rPr lang="en-US" altLang="zh-CN" sz="700" b="1">
                <a:solidFill>
                  <a:srgbClr val="66757B"/>
                </a:solidFill>
                <a:latin typeface="Aptos" panose="020B0004020202020204" pitchFamily="34" charset="0"/>
              </a:rPr>
              <a:t>HIGHLIGHTED FLOW PATH SOFTWARE · </a:t>
            </a:r>
            <a:r>
              <a:rPr lang="zh-CN" altLang="en-US" sz="700" b="1">
                <a:solidFill>
                  <a:srgbClr val="66757B"/>
                </a:solidFill>
                <a:latin typeface="Aptos" panose="020B0004020202020204" pitchFamily="34" charset="0"/>
              </a:rPr>
              <a:t>客户演示</a:t>
            </a:r>
          </a:p>
        </p:txBody>
      </p:sp>
      <p:sp>
        <p:nvSpPr>
          <p:cNvPr id="7" name="椭圆 6">
            <a:extLst>
              <a:ext uri="{FF2B5EF4-FFF2-40B4-BE49-F238E27FC236}">
                <a16:creationId xmlns:a16="http://schemas.microsoft.com/office/drawing/2014/main" id="{E1EBE6E7-6E00-0A01-CCB1-3B00BEC4E077}"/>
              </a:ext>
            </a:extLst>
          </p:cNvPr>
          <p:cNvSpPr/>
          <p:nvPr/>
        </p:nvSpPr>
        <p:spPr>
          <a:xfrm>
            <a:off x="685800" y="1803400"/>
            <a:ext cx="114300" cy="114300"/>
          </a:xfrm>
          <a:prstGeom prst="ellipse">
            <a:avLst/>
          </a:prstGeom>
          <a:solidFill>
            <a:srgbClr val="2F9E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81D86038-C0D3-B06B-2730-41CC2B9F4544}"/>
              </a:ext>
            </a:extLst>
          </p:cNvPr>
          <p:cNvSpPr txBox="1"/>
          <p:nvPr/>
        </p:nvSpPr>
        <p:spPr>
          <a:xfrm>
            <a:off x="965200" y="1714500"/>
            <a:ext cx="5372100" cy="246221"/>
          </a:xfrm>
          <a:prstGeom prst="rect">
            <a:avLst/>
          </a:prstGeom>
          <a:noFill/>
        </p:spPr>
        <p:txBody>
          <a:bodyPr vert="horz" lIns="0" tIns="0" rIns="0" bIns="0" rtlCol="0">
            <a:spAutoFit/>
          </a:bodyPr>
          <a:lstStyle/>
          <a:p>
            <a:r>
              <a:rPr lang="zh-CN" altLang="en-US" sz="1600">
                <a:solidFill>
                  <a:srgbClr val="23343B"/>
                </a:solidFill>
                <a:latin typeface="Microsoft YaHei" panose="020B0503020204020204" pitchFamily="34" charset="-122"/>
              </a:rPr>
              <a:t>直观确认介质是否到达预期目标</a:t>
            </a:r>
          </a:p>
        </p:txBody>
      </p:sp>
      <p:sp>
        <p:nvSpPr>
          <p:cNvPr id="9" name="椭圆 8">
            <a:extLst>
              <a:ext uri="{FF2B5EF4-FFF2-40B4-BE49-F238E27FC236}">
                <a16:creationId xmlns:a16="http://schemas.microsoft.com/office/drawing/2014/main" id="{32183D6B-1F24-A127-6834-BF50C5F679D6}"/>
              </a:ext>
            </a:extLst>
          </p:cNvPr>
          <p:cNvSpPr/>
          <p:nvPr/>
        </p:nvSpPr>
        <p:spPr>
          <a:xfrm>
            <a:off x="685800" y="26924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D99FD4E4-4950-59B3-8005-A4CD7CD26279}"/>
              </a:ext>
            </a:extLst>
          </p:cNvPr>
          <p:cNvSpPr txBox="1"/>
          <p:nvPr/>
        </p:nvSpPr>
        <p:spPr>
          <a:xfrm>
            <a:off x="965200" y="2603500"/>
            <a:ext cx="5372100" cy="246221"/>
          </a:xfrm>
          <a:prstGeom prst="rect">
            <a:avLst/>
          </a:prstGeom>
          <a:noFill/>
        </p:spPr>
        <p:txBody>
          <a:bodyPr vert="horz" lIns="0" tIns="0" rIns="0" bIns="0" rtlCol="0">
            <a:spAutoFit/>
          </a:bodyPr>
          <a:lstStyle/>
          <a:p>
            <a:r>
              <a:rPr lang="zh-CN" altLang="en-US" sz="1600">
                <a:solidFill>
                  <a:srgbClr val="23343B"/>
                </a:solidFill>
                <a:latin typeface="Microsoft YaHei" panose="020B0503020204020204" pitchFamily="34" charset="-122"/>
              </a:rPr>
              <a:t>辅助检查支路、阀门和远程连接遗漏</a:t>
            </a:r>
          </a:p>
        </p:txBody>
      </p:sp>
      <p:sp>
        <p:nvSpPr>
          <p:cNvPr id="11" name="椭圆 10">
            <a:extLst>
              <a:ext uri="{FF2B5EF4-FFF2-40B4-BE49-F238E27FC236}">
                <a16:creationId xmlns:a16="http://schemas.microsoft.com/office/drawing/2014/main" id="{E83C15CC-1E5B-A809-D3F3-FFE9DADB1B41}"/>
              </a:ext>
            </a:extLst>
          </p:cNvPr>
          <p:cNvSpPr/>
          <p:nvPr/>
        </p:nvSpPr>
        <p:spPr>
          <a:xfrm>
            <a:off x="685800" y="35814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E4BB6C1-32B4-3661-F375-6ED99982403E}"/>
              </a:ext>
            </a:extLst>
          </p:cNvPr>
          <p:cNvSpPr txBox="1"/>
          <p:nvPr/>
        </p:nvSpPr>
        <p:spPr>
          <a:xfrm>
            <a:off x="965200" y="3492500"/>
            <a:ext cx="5372100" cy="246221"/>
          </a:xfrm>
          <a:prstGeom prst="rect">
            <a:avLst/>
          </a:prstGeom>
          <a:noFill/>
        </p:spPr>
        <p:txBody>
          <a:bodyPr vert="horz" lIns="0" tIns="0" rIns="0" bIns="0" rtlCol="0">
            <a:spAutoFit/>
          </a:bodyPr>
          <a:lstStyle/>
          <a:p>
            <a:r>
              <a:rPr lang="zh-CN" altLang="en-US" sz="1600">
                <a:solidFill>
                  <a:srgbClr val="23343B"/>
                </a:solidFill>
                <a:latin typeface="Microsoft YaHei" panose="020B0503020204020204" pitchFamily="34" charset="-122"/>
              </a:rPr>
              <a:t>快速比较不同 </a:t>
            </a:r>
            <a:r>
              <a:rPr lang="en-US" altLang="zh-CN" sz="1600">
                <a:solidFill>
                  <a:srgbClr val="23343B"/>
                </a:solidFill>
                <a:latin typeface="Microsoft YaHei" panose="020B0503020204020204" pitchFamily="34" charset="-122"/>
              </a:rPr>
              <a:t>Phase </a:t>
            </a:r>
            <a:r>
              <a:rPr lang="zh-CN" altLang="en-US" sz="1600">
                <a:solidFill>
                  <a:srgbClr val="23343B"/>
                </a:solidFill>
                <a:latin typeface="Microsoft YaHei" panose="020B0503020204020204" pitchFamily="34" charset="-122"/>
              </a:rPr>
              <a:t>的路径与设备状态</a:t>
            </a:r>
          </a:p>
        </p:txBody>
      </p:sp>
      <p:sp>
        <p:nvSpPr>
          <p:cNvPr id="13" name="椭圆 12">
            <a:extLst>
              <a:ext uri="{FF2B5EF4-FFF2-40B4-BE49-F238E27FC236}">
                <a16:creationId xmlns:a16="http://schemas.microsoft.com/office/drawing/2014/main" id="{08F7046E-75D9-EB56-7CF4-BE0FA06CEC9F}"/>
              </a:ext>
            </a:extLst>
          </p:cNvPr>
          <p:cNvSpPr/>
          <p:nvPr/>
        </p:nvSpPr>
        <p:spPr>
          <a:xfrm>
            <a:off x="685800" y="44704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B199A656-8E4A-125E-4BE5-7FED2182C379}"/>
              </a:ext>
            </a:extLst>
          </p:cNvPr>
          <p:cNvSpPr txBox="1"/>
          <p:nvPr/>
        </p:nvSpPr>
        <p:spPr>
          <a:xfrm>
            <a:off x="965200" y="4381500"/>
            <a:ext cx="5372100" cy="246221"/>
          </a:xfrm>
          <a:prstGeom prst="rect">
            <a:avLst/>
          </a:prstGeom>
          <a:noFill/>
        </p:spPr>
        <p:txBody>
          <a:bodyPr vert="horz" lIns="0" tIns="0" rIns="0" bIns="0" rtlCol="0">
            <a:spAutoFit/>
          </a:bodyPr>
          <a:lstStyle/>
          <a:p>
            <a:r>
              <a:rPr lang="zh-CN" altLang="en-US" sz="1600">
                <a:solidFill>
                  <a:srgbClr val="23343B"/>
                </a:solidFill>
                <a:latin typeface="Microsoft YaHei" panose="020B0503020204020204" pitchFamily="34" charset="-122"/>
              </a:rPr>
              <a:t>支持工艺、机械、自动化与验证团队协同</a:t>
            </a:r>
          </a:p>
        </p:txBody>
      </p:sp>
      <p:sp>
        <p:nvSpPr>
          <p:cNvPr id="15" name="矩形: 圆角 14">
            <a:extLst>
              <a:ext uri="{FF2B5EF4-FFF2-40B4-BE49-F238E27FC236}">
                <a16:creationId xmlns:a16="http://schemas.microsoft.com/office/drawing/2014/main" id="{37188064-FDE2-4092-5689-5653ADE734CD}"/>
              </a:ext>
            </a:extLst>
          </p:cNvPr>
          <p:cNvSpPr/>
          <p:nvPr/>
        </p:nvSpPr>
        <p:spPr>
          <a:xfrm>
            <a:off x="6921500" y="1778000"/>
            <a:ext cx="4635500" cy="3213100"/>
          </a:xfrm>
          <a:prstGeom prst="roundRect">
            <a:avLst/>
          </a:prstGeom>
          <a:solidFill>
            <a:srgbClr val="FFFFFF"/>
          </a:solidFill>
          <a:ln w="9525">
            <a:solidFill>
              <a:srgbClr val="E5E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a:extLst>
              <a:ext uri="{FF2B5EF4-FFF2-40B4-BE49-F238E27FC236}">
                <a16:creationId xmlns:a16="http://schemas.microsoft.com/office/drawing/2014/main" id="{1A43F6CF-691C-C822-060C-D3C5501ADD5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0" y="1841500"/>
            <a:ext cx="4508500" cy="3086100"/>
          </a:xfrm>
          <a:prstGeom prst="rect">
            <a:avLst/>
          </a:prstGeom>
        </p:spPr>
      </p:pic>
      <p:sp>
        <p:nvSpPr>
          <p:cNvPr id="18" name="文本框 17">
            <a:extLst>
              <a:ext uri="{FF2B5EF4-FFF2-40B4-BE49-F238E27FC236}">
                <a16:creationId xmlns:a16="http://schemas.microsoft.com/office/drawing/2014/main" id="{5B6BC2E4-AA75-30DE-4D79-5F8EE2AEF649}"/>
              </a:ext>
            </a:extLst>
          </p:cNvPr>
          <p:cNvSpPr txBox="1"/>
          <p:nvPr/>
        </p:nvSpPr>
        <p:spPr>
          <a:xfrm>
            <a:off x="6985000" y="5168900"/>
            <a:ext cx="4508500" cy="153888"/>
          </a:xfrm>
          <a:prstGeom prst="rect">
            <a:avLst/>
          </a:prstGeom>
          <a:noFill/>
        </p:spPr>
        <p:txBody>
          <a:bodyPr vert="horz" lIns="0" tIns="0" rIns="0" bIns="0" rtlCol="0">
            <a:spAutoFit/>
          </a:bodyPr>
          <a:lstStyle/>
          <a:p>
            <a:r>
              <a:rPr lang="zh-CN" altLang="en-US" sz="1000" b="1">
                <a:solidFill>
                  <a:srgbClr val="2F9E75"/>
                </a:solidFill>
                <a:latin typeface="Microsoft YaHei" panose="020B0503020204020204" pitchFamily="34" charset="-122"/>
              </a:rPr>
              <a:t>从复杂图纸中建立清晰场景</a:t>
            </a:r>
          </a:p>
        </p:txBody>
      </p:sp>
    </p:spTree>
    <p:extLst>
      <p:ext uri="{BB962C8B-B14F-4D97-AF65-F5344CB8AC3E}">
        <p14:creationId xmlns:p14="http://schemas.microsoft.com/office/powerpoint/2010/main" val="20866641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4CAA235-8038-BFA0-835B-71B7F7721B95}"/>
              </a:ext>
            </a:extLst>
          </p:cNvPr>
          <p:cNvSpPr txBox="1"/>
          <p:nvPr/>
        </p:nvSpPr>
        <p:spPr>
          <a:xfrm>
            <a:off x="533400" y="254000"/>
            <a:ext cx="8255000" cy="138499"/>
          </a:xfrm>
          <a:prstGeom prst="rect">
            <a:avLst/>
          </a:prstGeom>
          <a:noFill/>
        </p:spPr>
        <p:txBody>
          <a:bodyPr vert="horz" lIns="0" tIns="0" rIns="0" bIns="0" rtlCol="0">
            <a:spAutoFit/>
          </a:bodyPr>
          <a:lstStyle/>
          <a:p>
            <a:r>
              <a:rPr lang="zh-CN" altLang="en-US" sz="900" b="1">
                <a:solidFill>
                  <a:srgbClr val="2F9E75"/>
                </a:solidFill>
                <a:latin typeface="Aptos" panose="020B0004020202020204" pitchFamily="34" charset="0"/>
              </a:rPr>
              <a:t>成果交付</a:t>
            </a:r>
          </a:p>
        </p:txBody>
      </p:sp>
      <p:sp>
        <p:nvSpPr>
          <p:cNvPr id="3" name="文本框 2">
            <a:extLst>
              <a:ext uri="{FF2B5EF4-FFF2-40B4-BE49-F238E27FC236}">
                <a16:creationId xmlns:a16="http://schemas.microsoft.com/office/drawing/2014/main" id="{0DA33E94-7E38-6076-1F79-AF61F976E317}"/>
              </a:ext>
            </a:extLst>
          </p:cNvPr>
          <p:cNvSpPr txBox="1"/>
          <p:nvPr/>
        </p:nvSpPr>
        <p:spPr>
          <a:xfrm>
            <a:off x="533400" y="558800"/>
            <a:ext cx="9779000" cy="400110"/>
          </a:xfrm>
          <a:prstGeom prst="rect">
            <a:avLst/>
          </a:prstGeom>
          <a:noFill/>
        </p:spPr>
        <p:txBody>
          <a:bodyPr vert="horz" lIns="0" tIns="0" rIns="0" bIns="0" rtlCol="0">
            <a:spAutoFit/>
          </a:bodyPr>
          <a:lstStyle/>
          <a:p>
            <a:r>
              <a:rPr lang="zh-CN" altLang="en-US" sz="2600" b="1">
                <a:solidFill>
                  <a:srgbClr val="23343B"/>
                </a:solidFill>
                <a:latin typeface="Microsoft YaHei" panose="020B0503020204020204" pitchFamily="34" charset="-122"/>
              </a:rPr>
              <a:t>设计结果可直接形成标准化报告</a:t>
            </a:r>
          </a:p>
        </p:txBody>
      </p:sp>
      <p:cxnSp>
        <p:nvCxnSpPr>
          <p:cNvPr id="4" name="直接连接符 3">
            <a:extLst>
              <a:ext uri="{FF2B5EF4-FFF2-40B4-BE49-F238E27FC236}">
                <a16:creationId xmlns:a16="http://schemas.microsoft.com/office/drawing/2014/main" id="{85713383-C5B4-DB6D-AC27-0780732FA796}"/>
              </a:ext>
            </a:extLst>
          </p:cNvPr>
          <p:cNvCxnSpPr/>
          <p:nvPr/>
        </p:nvCxnSpPr>
        <p:spPr>
          <a:xfrm>
            <a:off x="533400" y="1231900"/>
            <a:ext cx="11125200" cy="0"/>
          </a:xfrm>
          <a:prstGeom prst="line">
            <a:avLst/>
          </a:prstGeom>
          <a:ln w="12700">
            <a:solidFill>
              <a:srgbClr val="E5EAE8"/>
            </a:solidFill>
          </a:ln>
        </p:spPr>
        <p:style>
          <a:lnRef idx="2">
            <a:schemeClr val="accent1"/>
          </a:lnRef>
          <a:fillRef idx="0">
            <a:schemeClr val="accent1"/>
          </a:fillRef>
          <a:effectRef idx="1">
            <a:schemeClr val="accent1"/>
          </a:effectRef>
          <a:fontRef idx="minor">
            <a:schemeClr val="tx1"/>
          </a:fontRef>
        </p:style>
      </p:cxnSp>
      <p:sp>
        <p:nvSpPr>
          <p:cNvPr id="5" name="文本框 4">
            <a:extLst>
              <a:ext uri="{FF2B5EF4-FFF2-40B4-BE49-F238E27FC236}">
                <a16:creationId xmlns:a16="http://schemas.microsoft.com/office/drawing/2014/main" id="{14C56D52-6CAF-E14F-CC24-4C7925955D9C}"/>
              </a:ext>
            </a:extLst>
          </p:cNvPr>
          <p:cNvSpPr txBox="1"/>
          <p:nvPr/>
        </p:nvSpPr>
        <p:spPr>
          <a:xfrm>
            <a:off x="11303000" y="254000"/>
            <a:ext cx="355600" cy="138499"/>
          </a:xfrm>
          <a:prstGeom prst="rect">
            <a:avLst/>
          </a:prstGeom>
          <a:noFill/>
        </p:spPr>
        <p:txBody>
          <a:bodyPr vert="horz" lIns="0" tIns="0" rIns="0" bIns="0" rtlCol="0">
            <a:spAutoFit/>
          </a:bodyPr>
          <a:lstStyle/>
          <a:p>
            <a:pPr algn="r"/>
            <a:r>
              <a:rPr lang="en-US" altLang="zh-CN" sz="900" b="1">
                <a:solidFill>
                  <a:srgbClr val="66757B"/>
                </a:solidFill>
                <a:latin typeface="Aptos" panose="020B0004020202020204" pitchFamily="34" charset="0"/>
              </a:rPr>
              <a:t>09</a:t>
            </a:r>
            <a:endParaRPr lang="zh-CN" altLang="en-US" sz="900" b="1">
              <a:solidFill>
                <a:srgbClr val="66757B"/>
              </a:solidFill>
              <a:latin typeface="Aptos" panose="020B0004020202020204" pitchFamily="34" charset="0"/>
            </a:endParaRPr>
          </a:p>
        </p:txBody>
      </p:sp>
      <p:sp>
        <p:nvSpPr>
          <p:cNvPr id="6" name="文本框 5">
            <a:extLst>
              <a:ext uri="{FF2B5EF4-FFF2-40B4-BE49-F238E27FC236}">
                <a16:creationId xmlns:a16="http://schemas.microsoft.com/office/drawing/2014/main" id="{C124CDEE-5672-C30E-4285-5D3ACDC31CB6}"/>
              </a:ext>
            </a:extLst>
          </p:cNvPr>
          <p:cNvSpPr txBox="1"/>
          <p:nvPr/>
        </p:nvSpPr>
        <p:spPr>
          <a:xfrm>
            <a:off x="533400" y="6578600"/>
            <a:ext cx="6350000" cy="107722"/>
          </a:xfrm>
          <a:prstGeom prst="rect">
            <a:avLst/>
          </a:prstGeom>
          <a:noFill/>
        </p:spPr>
        <p:txBody>
          <a:bodyPr vert="horz" lIns="0" tIns="0" rIns="0" bIns="0" rtlCol="0">
            <a:spAutoFit/>
          </a:bodyPr>
          <a:lstStyle/>
          <a:p>
            <a:r>
              <a:rPr lang="en-US" altLang="zh-CN" sz="700" b="1">
                <a:solidFill>
                  <a:srgbClr val="66757B"/>
                </a:solidFill>
                <a:latin typeface="Aptos" panose="020B0004020202020204" pitchFamily="34" charset="0"/>
              </a:rPr>
              <a:t>HIGHLIGHTED FLOW PATH SOFTWARE · </a:t>
            </a:r>
            <a:r>
              <a:rPr lang="zh-CN" altLang="en-US" sz="700" b="1">
                <a:solidFill>
                  <a:srgbClr val="66757B"/>
                </a:solidFill>
                <a:latin typeface="Aptos" panose="020B0004020202020204" pitchFamily="34" charset="0"/>
              </a:rPr>
              <a:t>客户演示</a:t>
            </a:r>
          </a:p>
        </p:txBody>
      </p:sp>
      <p:sp>
        <p:nvSpPr>
          <p:cNvPr id="7" name="椭圆 6">
            <a:extLst>
              <a:ext uri="{FF2B5EF4-FFF2-40B4-BE49-F238E27FC236}">
                <a16:creationId xmlns:a16="http://schemas.microsoft.com/office/drawing/2014/main" id="{C11DAA52-5C0D-CCDE-1BAB-251E9324D8B4}"/>
              </a:ext>
            </a:extLst>
          </p:cNvPr>
          <p:cNvSpPr/>
          <p:nvPr/>
        </p:nvSpPr>
        <p:spPr>
          <a:xfrm>
            <a:off x="685800" y="1803400"/>
            <a:ext cx="114300" cy="114300"/>
          </a:xfrm>
          <a:prstGeom prst="ellipse">
            <a:avLst/>
          </a:prstGeom>
          <a:solidFill>
            <a:srgbClr val="2F9E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8AAD2343-4E22-9DC3-7F7C-6901E7B008E5}"/>
              </a:ext>
            </a:extLst>
          </p:cNvPr>
          <p:cNvSpPr txBox="1"/>
          <p:nvPr/>
        </p:nvSpPr>
        <p:spPr>
          <a:xfrm>
            <a:off x="965200" y="1714500"/>
            <a:ext cx="5372100" cy="246221"/>
          </a:xfrm>
          <a:prstGeom prst="rect">
            <a:avLst/>
          </a:prstGeom>
          <a:noFill/>
        </p:spPr>
        <p:txBody>
          <a:bodyPr vert="horz" lIns="0" tIns="0" rIns="0" bIns="0" rtlCol="0">
            <a:spAutoFit/>
          </a:bodyPr>
          <a:lstStyle/>
          <a:p>
            <a:r>
              <a:rPr lang="zh-CN" altLang="en-US" sz="1600">
                <a:solidFill>
                  <a:srgbClr val="23343B"/>
                </a:solidFill>
                <a:latin typeface="Microsoft YaHei" panose="020B0503020204020204" pitchFamily="34" charset="-122"/>
              </a:rPr>
              <a:t>按 </a:t>
            </a:r>
            <a:r>
              <a:rPr lang="en-US" altLang="zh-CN" sz="1600">
                <a:solidFill>
                  <a:srgbClr val="23343B"/>
                </a:solidFill>
                <a:latin typeface="Microsoft YaHei" panose="020B0503020204020204" pitchFamily="34" charset="-122"/>
              </a:rPr>
              <a:t>Sequence </a:t>
            </a:r>
            <a:r>
              <a:rPr lang="zh-CN" altLang="en-US" sz="1600">
                <a:solidFill>
                  <a:srgbClr val="23343B"/>
                </a:solidFill>
                <a:latin typeface="Microsoft YaHei" panose="020B0503020204020204" pitchFamily="34" charset="-122"/>
              </a:rPr>
              <a:t>和 </a:t>
            </a:r>
            <a:r>
              <a:rPr lang="en-US" altLang="zh-CN" sz="1600">
                <a:solidFill>
                  <a:srgbClr val="23343B"/>
                </a:solidFill>
                <a:latin typeface="Microsoft YaHei" panose="020B0503020204020204" pitchFamily="34" charset="-122"/>
              </a:rPr>
              <a:t>Phase </a:t>
            </a:r>
            <a:r>
              <a:rPr lang="zh-CN" altLang="en-US" sz="1600">
                <a:solidFill>
                  <a:srgbClr val="23343B"/>
                </a:solidFill>
                <a:latin typeface="Microsoft YaHei" panose="020B0503020204020204" pitchFamily="34" charset="-122"/>
              </a:rPr>
              <a:t>顺序自动组织页面</a:t>
            </a:r>
          </a:p>
        </p:txBody>
      </p:sp>
      <p:sp>
        <p:nvSpPr>
          <p:cNvPr id="9" name="椭圆 8">
            <a:extLst>
              <a:ext uri="{FF2B5EF4-FFF2-40B4-BE49-F238E27FC236}">
                <a16:creationId xmlns:a16="http://schemas.microsoft.com/office/drawing/2014/main" id="{A2650A4F-8AB4-D215-6EC9-54A30D789AB4}"/>
              </a:ext>
            </a:extLst>
          </p:cNvPr>
          <p:cNvSpPr/>
          <p:nvPr/>
        </p:nvSpPr>
        <p:spPr>
          <a:xfrm>
            <a:off x="685800" y="26924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838F9C42-CDDA-7173-57DD-DF5EA868E273}"/>
              </a:ext>
            </a:extLst>
          </p:cNvPr>
          <p:cNvSpPr txBox="1"/>
          <p:nvPr/>
        </p:nvSpPr>
        <p:spPr>
          <a:xfrm>
            <a:off x="965200" y="2603500"/>
            <a:ext cx="5372100" cy="246221"/>
          </a:xfrm>
          <a:prstGeom prst="rect">
            <a:avLst/>
          </a:prstGeom>
          <a:noFill/>
        </p:spPr>
        <p:txBody>
          <a:bodyPr vert="horz" lIns="0" tIns="0" rIns="0" bIns="0" rtlCol="0">
            <a:spAutoFit/>
          </a:bodyPr>
          <a:lstStyle/>
          <a:p>
            <a:r>
              <a:rPr lang="zh-CN" altLang="en-US" sz="1600">
                <a:solidFill>
                  <a:srgbClr val="23343B"/>
                </a:solidFill>
                <a:latin typeface="Microsoft YaHei" panose="020B0503020204020204" pitchFamily="34" charset="-122"/>
              </a:rPr>
              <a:t>支持排除、恢复及原位置换指定页面</a:t>
            </a:r>
          </a:p>
        </p:txBody>
      </p:sp>
      <p:sp>
        <p:nvSpPr>
          <p:cNvPr id="11" name="椭圆 10">
            <a:extLst>
              <a:ext uri="{FF2B5EF4-FFF2-40B4-BE49-F238E27FC236}">
                <a16:creationId xmlns:a16="http://schemas.microsoft.com/office/drawing/2014/main" id="{EAFF856B-2B64-B86E-616E-44F7DA4E32C1}"/>
              </a:ext>
            </a:extLst>
          </p:cNvPr>
          <p:cNvSpPr/>
          <p:nvPr/>
        </p:nvSpPr>
        <p:spPr>
          <a:xfrm>
            <a:off x="685800" y="35814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92809D6-9A4E-43AB-16E3-F0974F2467C7}"/>
              </a:ext>
            </a:extLst>
          </p:cNvPr>
          <p:cNvSpPr txBox="1"/>
          <p:nvPr/>
        </p:nvSpPr>
        <p:spPr>
          <a:xfrm>
            <a:off x="965200" y="3492500"/>
            <a:ext cx="5372100" cy="246221"/>
          </a:xfrm>
          <a:prstGeom prst="rect">
            <a:avLst/>
          </a:prstGeom>
          <a:noFill/>
        </p:spPr>
        <p:txBody>
          <a:bodyPr vert="horz" lIns="0" tIns="0" rIns="0" bIns="0" rtlCol="0">
            <a:spAutoFit/>
          </a:bodyPr>
          <a:lstStyle/>
          <a:p>
            <a:r>
              <a:rPr lang="zh-CN" altLang="en-US" sz="1600">
                <a:solidFill>
                  <a:srgbClr val="23343B"/>
                </a:solidFill>
                <a:latin typeface="Microsoft YaHei" panose="020B0503020204020204" pitchFamily="34" charset="-122"/>
              </a:rPr>
              <a:t>生成一份完整 </a:t>
            </a:r>
            <a:r>
              <a:rPr lang="en-US" altLang="zh-CN" sz="1600">
                <a:solidFill>
                  <a:srgbClr val="23343B"/>
                </a:solidFill>
                <a:latin typeface="Microsoft YaHei" panose="020B0503020204020204" pitchFamily="34" charset="-122"/>
              </a:rPr>
              <a:t>PDF</a:t>
            </a:r>
            <a:r>
              <a:rPr lang="zh-CN" altLang="en-US" sz="1600">
                <a:solidFill>
                  <a:srgbClr val="23343B"/>
                </a:solidFill>
                <a:latin typeface="Microsoft YaHei" panose="020B0503020204020204" pitchFamily="34" charset="-122"/>
              </a:rPr>
              <a:t>，或按 </a:t>
            </a:r>
            <a:r>
              <a:rPr lang="en-US" altLang="zh-CN" sz="1600">
                <a:solidFill>
                  <a:srgbClr val="23343B"/>
                </a:solidFill>
                <a:latin typeface="Microsoft YaHei" panose="020B0503020204020204" pitchFamily="34" charset="-122"/>
              </a:rPr>
              <a:t>Sequence </a:t>
            </a:r>
            <a:r>
              <a:rPr lang="zh-CN" altLang="en-US" sz="1600">
                <a:solidFill>
                  <a:srgbClr val="23343B"/>
                </a:solidFill>
                <a:latin typeface="Microsoft YaHei" panose="020B0503020204020204" pitchFamily="34" charset="-122"/>
              </a:rPr>
              <a:t>打包输出</a:t>
            </a:r>
          </a:p>
        </p:txBody>
      </p:sp>
      <p:sp>
        <p:nvSpPr>
          <p:cNvPr id="13" name="椭圆 12">
            <a:extLst>
              <a:ext uri="{FF2B5EF4-FFF2-40B4-BE49-F238E27FC236}">
                <a16:creationId xmlns:a16="http://schemas.microsoft.com/office/drawing/2014/main" id="{809E2A94-1688-087F-9995-64D4EBADB982}"/>
              </a:ext>
            </a:extLst>
          </p:cNvPr>
          <p:cNvSpPr/>
          <p:nvPr/>
        </p:nvSpPr>
        <p:spPr>
          <a:xfrm>
            <a:off x="685800" y="44704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DE512D03-E078-673F-0061-45C1DE6D420B}"/>
              </a:ext>
            </a:extLst>
          </p:cNvPr>
          <p:cNvSpPr txBox="1"/>
          <p:nvPr/>
        </p:nvSpPr>
        <p:spPr>
          <a:xfrm>
            <a:off x="965200" y="4381500"/>
            <a:ext cx="5372100" cy="246221"/>
          </a:xfrm>
          <a:prstGeom prst="rect">
            <a:avLst/>
          </a:prstGeom>
          <a:noFill/>
        </p:spPr>
        <p:txBody>
          <a:bodyPr vert="horz" lIns="0" tIns="0" rIns="0" bIns="0" rtlCol="0">
            <a:spAutoFit/>
          </a:bodyPr>
          <a:lstStyle/>
          <a:p>
            <a:r>
              <a:rPr lang="zh-CN" altLang="en-US" sz="1600">
                <a:solidFill>
                  <a:srgbClr val="23343B"/>
                </a:solidFill>
                <a:latin typeface="Microsoft YaHei" panose="020B0503020204020204" pitchFamily="34" charset="-122"/>
              </a:rPr>
              <a:t>提供导出检查、进度、取消和失败重试</a:t>
            </a:r>
          </a:p>
        </p:txBody>
      </p:sp>
      <p:sp>
        <p:nvSpPr>
          <p:cNvPr id="15" name="矩形: 圆角 14">
            <a:extLst>
              <a:ext uri="{FF2B5EF4-FFF2-40B4-BE49-F238E27FC236}">
                <a16:creationId xmlns:a16="http://schemas.microsoft.com/office/drawing/2014/main" id="{61979587-7DFB-108C-5585-59BF3D4E2913}"/>
              </a:ext>
            </a:extLst>
          </p:cNvPr>
          <p:cNvSpPr/>
          <p:nvPr/>
        </p:nvSpPr>
        <p:spPr>
          <a:xfrm>
            <a:off x="6921500" y="1778000"/>
            <a:ext cx="4635500" cy="3213100"/>
          </a:xfrm>
          <a:prstGeom prst="roundRect">
            <a:avLst/>
          </a:prstGeom>
          <a:solidFill>
            <a:srgbClr val="FFFFFF"/>
          </a:solidFill>
          <a:ln w="9525">
            <a:solidFill>
              <a:srgbClr val="E5E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a:extLst>
              <a:ext uri="{FF2B5EF4-FFF2-40B4-BE49-F238E27FC236}">
                <a16:creationId xmlns:a16="http://schemas.microsoft.com/office/drawing/2014/main" id="{B587864D-AB1E-E8EA-FE7F-C27F68BF562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0" y="1841500"/>
            <a:ext cx="4508500" cy="3086100"/>
          </a:xfrm>
          <a:prstGeom prst="rect">
            <a:avLst/>
          </a:prstGeom>
        </p:spPr>
      </p:pic>
      <p:sp>
        <p:nvSpPr>
          <p:cNvPr id="18" name="文本框 17">
            <a:extLst>
              <a:ext uri="{FF2B5EF4-FFF2-40B4-BE49-F238E27FC236}">
                <a16:creationId xmlns:a16="http://schemas.microsoft.com/office/drawing/2014/main" id="{3DE1C2B5-B799-A4A0-FE0D-FD4BA2A01B40}"/>
              </a:ext>
            </a:extLst>
          </p:cNvPr>
          <p:cNvSpPr txBox="1"/>
          <p:nvPr/>
        </p:nvSpPr>
        <p:spPr>
          <a:xfrm>
            <a:off x="6985000" y="5168900"/>
            <a:ext cx="4508500" cy="153888"/>
          </a:xfrm>
          <a:prstGeom prst="rect">
            <a:avLst/>
          </a:prstGeom>
          <a:noFill/>
        </p:spPr>
        <p:txBody>
          <a:bodyPr vert="horz" lIns="0" tIns="0" rIns="0" bIns="0" rtlCol="0">
            <a:spAutoFit/>
          </a:bodyPr>
          <a:lstStyle/>
          <a:p>
            <a:r>
              <a:rPr lang="zh-CN" altLang="en-US" sz="1000" b="1">
                <a:solidFill>
                  <a:srgbClr val="2F9E75"/>
                </a:solidFill>
                <a:latin typeface="Microsoft YaHei" panose="020B0503020204020204" pitchFamily="34" charset="-122"/>
              </a:rPr>
              <a:t>从复杂图纸中建立清晰场景</a:t>
            </a:r>
          </a:p>
        </p:txBody>
      </p:sp>
    </p:spTree>
    <p:extLst>
      <p:ext uri="{BB962C8B-B14F-4D97-AF65-F5344CB8AC3E}">
        <p14:creationId xmlns:p14="http://schemas.microsoft.com/office/powerpoint/2010/main" val="810896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6F9C6D6-D2F7-78C0-CDE6-A5F8D4C19F9D}"/>
              </a:ext>
            </a:extLst>
          </p:cNvPr>
          <p:cNvSpPr txBox="1"/>
          <p:nvPr/>
        </p:nvSpPr>
        <p:spPr>
          <a:xfrm>
            <a:off x="533400" y="254000"/>
            <a:ext cx="8255000" cy="138499"/>
          </a:xfrm>
          <a:prstGeom prst="rect">
            <a:avLst/>
          </a:prstGeom>
          <a:noFill/>
        </p:spPr>
        <p:txBody>
          <a:bodyPr vert="horz" lIns="0" tIns="0" rIns="0" bIns="0" rtlCol="0">
            <a:spAutoFit/>
          </a:bodyPr>
          <a:lstStyle/>
          <a:p>
            <a:r>
              <a:rPr lang="zh-CN" altLang="en-US" sz="900" b="1">
                <a:solidFill>
                  <a:srgbClr val="2F9E75"/>
                </a:solidFill>
                <a:latin typeface="Aptos" panose="020B0004020202020204" pitchFamily="34" charset="0"/>
              </a:rPr>
              <a:t>项目状态</a:t>
            </a:r>
          </a:p>
        </p:txBody>
      </p:sp>
      <p:sp>
        <p:nvSpPr>
          <p:cNvPr id="3" name="文本框 2">
            <a:extLst>
              <a:ext uri="{FF2B5EF4-FFF2-40B4-BE49-F238E27FC236}">
                <a16:creationId xmlns:a16="http://schemas.microsoft.com/office/drawing/2014/main" id="{9C48CEA9-979E-A288-6384-8E9124CAD976}"/>
              </a:ext>
            </a:extLst>
          </p:cNvPr>
          <p:cNvSpPr txBox="1"/>
          <p:nvPr/>
        </p:nvSpPr>
        <p:spPr>
          <a:xfrm>
            <a:off x="533400" y="558800"/>
            <a:ext cx="9779000" cy="400110"/>
          </a:xfrm>
          <a:prstGeom prst="rect">
            <a:avLst/>
          </a:prstGeom>
          <a:noFill/>
        </p:spPr>
        <p:txBody>
          <a:bodyPr vert="horz" lIns="0" tIns="0" rIns="0" bIns="0" rtlCol="0">
            <a:spAutoFit/>
          </a:bodyPr>
          <a:lstStyle/>
          <a:p>
            <a:r>
              <a:rPr lang="zh-CN" altLang="en-US" sz="2600" b="1">
                <a:solidFill>
                  <a:srgbClr val="23343B"/>
                </a:solidFill>
                <a:latin typeface="Microsoft YaHei" panose="020B0503020204020204" pitchFamily="34" charset="-122"/>
              </a:rPr>
              <a:t>当前 </a:t>
            </a:r>
            <a:r>
              <a:rPr lang="en-US" altLang="zh-CN" sz="2600" b="1">
                <a:solidFill>
                  <a:srgbClr val="23343B"/>
                </a:solidFill>
                <a:latin typeface="Microsoft YaHei" panose="020B0503020204020204" pitchFamily="34" charset="-122"/>
              </a:rPr>
              <a:t>Demo</a:t>
            </a:r>
            <a:r>
              <a:rPr lang="zh-CN" altLang="en-US" sz="2600" b="1">
                <a:solidFill>
                  <a:srgbClr val="23343B"/>
                </a:solidFill>
                <a:latin typeface="Microsoft YaHei" panose="020B0503020204020204" pitchFamily="34" charset="-122"/>
              </a:rPr>
              <a:t>、客户验证与后续扩展</a:t>
            </a:r>
          </a:p>
        </p:txBody>
      </p:sp>
      <p:cxnSp>
        <p:nvCxnSpPr>
          <p:cNvPr id="4" name="直接连接符 3">
            <a:extLst>
              <a:ext uri="{FF2B5EF4-FFF2-40B4-BE49-F238E27FC236}">
                <a16:creationId xmlns:a16="http://schemas.microsoft.com/office/drawing/2014/main" id="{8003E582-C434-7799-1184-29A5DC54E56B}"/>
              </a:ext>
            </a:extLst>
          </p:cNvPr>
          <p:cNvCxnSpPr/>
          <p:nvPr/>
        </p:nvCxnSpPr>
        <p:spPr>
          <a:xfrm>
            <a:off x="533400" y="1231900"/>
            <a:ext cx="11125200" cy="0"/>
          </a:xfrm>
          <a:prstGeom prst="line">
            <a:avLst/>
          </a:prstGeom>
          <a:ln w="12700">
            <a:solidFill>
              <a:srgbClr val="E5EAE8"/>
            </a:solidFill>
          </a:ln>
        </p:spPr>
        <p:style>
          <a:lnRef idx="2">
            <a:schemeClr val="accent1"/>
          </a:lnRef>
          <a:fillRef idx="0">
            <a:schemeClr val="accent1"/>
          </a:fillRef>
          <a:effectRef idx="1">
            <a:schemeClr val="accent1"/>
          </a:effectRef>
          <a:fontRef idx="minor">
            <a:schemeClr val="tx1"/>
          </a:fontRef>
        </p:style>
      </p:cxnSp>
      <p:sp>
        <p:nvSpPr>
          <p:cNvPr id="5" name="文本框 4">
            <a:extLst>
              <a:ext uri="{FF2B5EF4-FFF2-40B4-BE49-F238E27FC236}">
                <a16:creationId xmlns:a16="http://schemas.microsoft.com/office/drawing/2014/main" id="{386F69EB-93C1-FE17-67FC-D648541C4832}"/>
              </a:ext>
            </a:extLst>
          </p:cNvPr>
          <p:cNvSpPr txBox="1"/>
          <p:nvPr/>
        </p:nvSpPr>
        <p:spPr>
          <a:xfrm>
            <a:off x="11303000" y="254000"/>
            <a:ext cx="355600" cy="138499"/>
          </a:xfrm>
          <a:prstGeom prst="rect">
            <a:avLst/>
          </a:prstGeom>
          <a:noFill/>
        </p:spPr>
        <p:txBody>
          <a:bodyPr vert="horz" lIns="0" tIns="0" rIns="0" bIns="0" rtlCol="0">
            <a:spAutoFit/>
          </a:bodyPr>
          <a:lstStyle/>
          <a:p>
            <a:pPr algn="r"/>
            <a:r>
              <a:rPr lang="en-US" altLang="zh-CN" sz="900" b="1">
                <a:solidFill>
                  <a:srgbClr val="66757B"/>
                </a:solidFill>
                <a:latin typeface="Aptos" panose="020B0004020202020204" pitchFamily="34" charset="0"/>
              </a:rPr>
              <a:t>10</a:t>
            </a:r>
            <a:endParaRPr lang="zh-CN" altLang="en-US" sz="900" b="1">
              <a:solidFill>
                <a:srgbClr val="66757B"/>
              </a:solidFill>
              <a:latin typeface="Aptos" panose="020B0004020202020204" pitchFamily="34" charset="0"/>
            </a:endParaRPr>
          </a:p>
        </p:txBody>
      </p:sp>
      <p:sp>
        <p:nvSpPr>
          <p:cNvPr id="6" name="文本框 5">
            <a:extLst>
              <a:ext uri="{FF2B5EF4-FFF2-40B4-BE49-F238E27FC236}">
                <a16:creationId xmlns:a16="http://schemas.microsoft.com/office/drawing/2014/main" id="{D919D5DC-FC5E-244E-A323-6E4402152FAA}"/>
              </a:ext>
            </a:extLst>
          </p:cNvPr>
          <p:cNvSpPr txBox="1"/>
          <p:nvPr/>
        </p:nvSpPr>
        <p:spPr>
          <a:xfrm>
            <a:off x="533400" y="6578600"/>
            <a:ext cx="6350000" cy="107722"/>
          </a:xfrm>
          <a:prstGeom prst="rect">
            <a:avLst/>
          </a:prstGeom>
          <a:noFill/>
        </p:spPr>
        <p:txBody>
          <a:bodyPr vert="horz" lIns="0" tIns="0" rIns="0" bIns="0" rtlCol="0">
            <a:spAutoFit/>
          </a:bodyPr>
          <a:lstStyle/>
          <a:p>
            <a:r>
              <a:rPr lang="en-US" altLang="zh-CN" sz="700" b="1">
                <a:solidFill>
                  <a:srgbClr val="66757B"/>
                </a:solidFill>
                <a:latin typeface="Aptos" panose="020B0004020202020204" pitchFamily="34" charset="0"/>
              </a:rPr>
              <a:t>HIGHLIGHTED FLOW PATH SOFTWARE · </a:t>
            </a:r>
            <a:r>
              <a:rPr lang="zh-CN" altLang="en-US" sz="700" b="1">
                <a:solidFill>
                  <a:srgbClr val="66757B"/>
                </a:solidFill>
                <a:latin typeface="Aptos" panose="020B0004020202020204" pitchFamily="34" charset="0"/>
              </a:rPr>
              <a:t>客户演示</a:t>
            </a:r>
          </a:p>
        </p:txBody>
      </p:sp>
      <p:sp>
        <p:nvSpPr>
          <p:cNvPr id="7" name="矩形: 圆角 6">
            <a:extLst>
              <a:ext uri="{FF2B5EF4-FFF2-40B4-BE49-F238E27FC236}">
                <a16:creationId xmlns:a16="http://schemas.microsoft.com/office/drawing/2014/main" id="{B4AF8753-2290-B679-87E4-22C92671FD3E}"/>
              </a:ext>
            </a:extLst>
          </p:cNvPr>
          <p:cNvSpPr/>
          <p:nvPr/>
        </p:nvSpPr>
        <p:spPr>
          <a:xfrm>
            <a:off x="609600" y="1714500"/>
            <a:ext cx="3403600" cy="3746500"/>
          </a:xfrm>
          <a:prstGeom prst="roundRect">
            <a:avLst/>
          </a:prstGeom>
          <a:solidFill>
            <a:srgbClr val="FFFFFF"/>
          </a:solidFill>
          <a:ln w="9525">
            <a:solidFill>
              <a:srgbClr val="E5E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69BC9442-6843-B154-4BF7-14CA9353F816}"/>
              </a:ext>
            </a:extLst>
          </p:cNvPr>
          <p:cNvSpPr/>
          <p:nvPr/>
        </p:nvSpPr>
        <p:spPr>
          <a:xfrm>
            <a:off x="609600" y="1714500"/>
            <a:ext cx="3403600" cy="114300"/>
          </a:xfrm>
          <a:prstGeom prst="rect">
            <a:avLst/>
          </a:prstGeom>
          <a:solidFill>
            <a:srgbClr val="2F9E75"/>
          </a:solidFill>
          <a:ln w="9525">
            <a:solidFill>
              <a:srgbClr val="2F9E7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4C52ADE8-6B8D-810C-6DCE-0BBD344ED6F2}"/>
              </a:ext>
            </a:extLst>
          </p:cNvPr>
          <p:cNvSpPr txBox="1"/>
          <p:nvPr/>
        </p:nvSpPr>
        <p:spPr>
          <a:xfrm>
            <a:off x="863600" y="2095500"/>
            <a:ext cx="2921000" cy="184666"/>
          </a:xfrm>
          <a:prstGeom prst="rect">
            <a:avLst/>
          </a:prstGeom>
          <a:noFill/>
        </p:spPr>
        <p:txBody>
          <a:bodyPr vert="horz" lIns="0" tIns="0" rIns="0" bIns="0" rtlCol="0">
            <a:spAutoFit/>
          </a:bodyPr>
          <a:lstStyle/>
          <a:p>
            <a:r>
              <a:rPr lang="zh-CN" altLang="en-US" sz="1200" b="1">
                <a:solidFill>
                  <a:srgbClr val="2F9E75"/>
                </a:solidFill>
                <a:latin typeface="Microsoft YaHei" panose="020B0503020204020204" pitchFamily="34" charset="-122"/>
              </a:rPr>
              <a:t>当前 </a:t>
            </a:r>
            <a:r>
              <a:rPr lang="en-US" altLang="zh-CN" sz="1200" b="1">
                <a:solidFill>
                  <a:srgbClr val="2F9E75"/>
                </a:solidFill>
                <a:latin typeface="Microsoft YaHei" panose="020B0503020204020204" pitchFamily="34" charset="-122"/>
              </a:rPr>
              <a:t>Demo </a:t>
            </a:r>
            <a:r>
              <a:rPr lang="zh-CN" altLang="en-US" sz="1200" b="1">
                <a:solidFill>
                  <a:srgbClr val="2F9E75"/>
                </a:solidFill>
                <a:latin typeface="Microsoft YaHei" panose="020B0503020204020204" pitchFamily="34" charset="-122"/>
              </a:rPr>
              <a:t>已实现</a:t>
            </a:r>
          </a:p>
        </p:txBody>
      </p:sp>
      <p:sp>
        <p:nvSpPr>
          <p:cNvPr id="10" name="椭圆 9">
            <a:extLst>
              <a:ext uri="{FF2B5EF4-FFF2-40B4-BE49-F238E27FC236}">
                <a16:creationId xmlns:a16="http://schemas.microsoft.com/office/drawing/2014/main" id="{DCA4856D-6120-2AD4-7AD2-B387D95AE9E4}"/>
              </a:ext>
            </a:extLst>
          </p:cNvPr>
          <p:cNvSpPr/>
          <p:nvPr/>
        </p:nvSpPr>
        <p:spPr>
          <a:xfrm>
            <a:off x="863600" y="2946400"/>
            <a:ext cx="114300" cy="114300"/>
          </a:xfrm>
          <a:prstGeom prst="ellipse">
            <a:avLst/>
          </a:prstGeom>
          <a:solidFill>
            <a:srgbClr val="2F9E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9252B344-067C-9408-9FAD-0D77F5BECAF9}"/>
              </a:ext>
            </a:extLst>
          </p:cNvPr>
          <p:cNvSpPr txBox="1"/>
          <p:nvPr/>
        </p:nvSpPr>
        <p:spPr>
          <a:xfrm>
            <a:off x="1143000" y="2857500"/>
            <a:ext cx="2578100" cy="215444"/>
          </a:xfrm>
          <a:prstGeom prst="rect">
            <a:avLst/>
          </a:prstGeom>
          <a:noFill/>
        </p:spPr>
        <p:txBody>
          <a:bodyPr vert="horz" lIns="0" tIns="0" rIns="0" bIns="0" rtlCol="0">
            <a:spAutoFit/>
          </a:bodyPr>
          <a:lstStyle/>
          <a:p>
            <a:r>
              <a:rPr lang="en-US" altLang="zh-CN" sz="1400">
                <a:solidFill>
                  <a:srgbClr val="23343B"/>
                </a:solidFill>
                <a:latin typeface="Microsoft YaHei" panose="020B0503020204020204" pitchFamily="34" charset="-122"/>
              </a:rPr>
              <a:t>Phase </a:t>
            </a:r>
            <a:r>
              <a:rPr lang="zh-CN" altLang="en-US" sz="1400">
                <a:solidFill>
                  <a:srgbClr val="23343B"/>
                </a:solidFill>
                <a:latin typeface="Microsoft YaHei" panose="020B0503020204020204" pitchFamily="34" charset="-122"/>
              </a:rPr>
              <a:t>管理与状态切换</a:t>
            </a:r>
          </a:p>
        </p:txBody>
      </p:sp>
      <p:sp>
        <p:nvSpPr>
          <p:cNvPr id="12" name="椭圆 11">
            <a:extLst>
              <a:ext uri="{FF2B5EF4-FFF2-40B4-BE49-F238E27FC236}">
                <a16:creationId xmlns:a16="http://schemas.microsoft.com/office/drawing/2014/main" id="{61502556-74D9-0E70-1393-5A808241EBF2}"/>
              </a:ext>
            </a:extLst>
          </p:cNvPr>
          <p:cNvSpPr/>
          <p:nvPr/>
        </p:nvSpPr>
        <p:spPr>
          <a:xfrm>
            <a:off x="863600" y="36830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9AD92848-921E-D940-4567-FEBF339CA7BA}"/>
              </a:ext>
            </a:extLst>
          </p:cNvPr>
          <p:cNvSpPr txBox="1"/>
          <p:nvPr/>
        </p:nvSpPr>
        <p:spPr>
          <a:xfrm>
            <a:off x="1143000" y="3594100"/>
            <a:ext cx="2578100" cy="215444"/>
          </a:xfrm>
          <a:prstGeom prst="rect">
            <a:avLst/>
          </a:prstGeom>
          <a:noFill/>
        </p:spPr>
        <p:txBody>
          <a:bodyPr vert="horz" lIns="0" tIns="0" rIns="0" bIns="0" rtlCol="0">
            <a:spAutoFit/>
          </a:bodyPr>
          <a:lstStyle/>
          <a:p>
            <a:r>
              <a:rPr lang="zh-CN" altLang="en-US" sz="1400">
                <a:solidFill>
                  <a:srgbClr val="23343B"/>
                </a:solidFill>
                <a:latin typeface="Microsoft YaHei" panose="020B0503020204020204" pitchFamily="34" charset="-122"/>
              </a:rPr>
              <a:t>流路与设备状态保存</a:t>
            </a:r>
          </a:p>
        </p:txBody>
      </p:sp>
      <p:sp>
        <p:nvSpPr>
          <p:cNvPr id="14" name="椭圆 13">
            <a:extLst>
              <a:ext uri="{FF2B5EF4-FFF2-40B4-BE49-F238E27FC236}">
                <a16:creationId xmlns:a16="http://schemas.microsoft.com/office/drawing/2014/main" id="{6DC93C0E-EB9C-F67B-4935-0F923EC24D30}"/>
              </a:ext>
            </a:extLst>
          </p:cNvPr>
          <p:cNvSpPr/>
          <p:nvPr/>
        </p:nvSpPr>
        <p:spPr>
          <a:xfrm>
            <a:off x="863600" y="44196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2A29E12E-3993-D71D-703F-0B2639A76EE8}"/>
              </a:ext>
            </a:extLst>
          </p:cNvPr>
          <p:cNvSpPr txBox="1"/>
          <p:nvPr/>
        </p:nvSpPr>
        <p:spPr>
          <a:xfrm>
            <a:off x="1143000" y="4330700"/>
            <a:ext cx="2578100" cy="215444"/>
          </a:xfrm>
          <a:prstGeom prst="rect">
            <a:avLst/>
          </a:prstGeom>
          <a:noFill/>
        </p:spPr>
        <p:txBody>
          <a:bodyPr vert="horz" lIns="0" tIns="0" rIns="0" bIns="0" rtlCol="0">
            <a:spAutoFit/>
          </a:bodyPr>
          <a:lstStyle/>
          <a:p>
            <a:r>
              <a:rPr lang="zh-CN" altLang="en-US" sz="1400">
                <a:solidFill>
                  <a:srgbClr val="23343B"/>
                </a:solidFill>
                <a:latin typeface="Microsoft YaHei" panose="020B0503020204020204" pitchFamily="34" charset="-122"/>
              </a:rPr>
              <a:t>报告编辑与两种输出</a:t>
            </a:r>
          </a:p>
        </p:txBody>
      </p:sp>
      <p:sp>
        <p:nvSpPr>
          <p:cNvPr id="16" name="矩形: 圆角 15">
            <a:extLst>
              <a:ext uri="{FF2B5EF4-FFF2-40B4-BE49-F238E27FC236}">
                <a16:creationId xmlns:a16="http://schemas.microsoft.com/office/drawing/2014/main" id="{8D2CB61B-143E-8292-D323-DE638774E6C2}"/>
              </a:ext>
            </a:extLst>
          </p:cNvPr>
          <p:cNvSpPr/>
          <p:nvPr/>
        </p:nvSpPr>
        <p:spPr>
          <a:xfrm>
            <a:off x="4419600" y="1714500"/>
            <a:ext cx="3403600" cy="3746500"/>
          </a:xfrm>
          <a:prstGeom prst="roundRect">
            <a:avLst/>
          </a:prstGeom>
          <a:solidFill>
            <a:srgbClr val="FFFFFF"/>
          </a:solidFill>
          <a:ln w="9525">
            <a:solidFill>
              <a:srgbClr val="E5E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4F415985-A588-083C-881D-329781E24E83}"/>
              </a:ext>
            </a:extLst>
          </p:cNvPr>
          <p:cNvSpPr/>
          <p:nvPr/>
        </p:nvSpPr>
        <p:spPr>
          <a:xfrm>
            <a:off x="4419600" y="1714500"/>
            <a:ext cx="3403600" cy="114300"/>
          </a:xfrm>
          <a:prstGeom prst="rect">
            <a:avLst/>
          </a:prstGeom>
          <a:solidFill>
            <a:srgbClr val="E89A3C"/>
          </a:solidFill>
          <a:ln w="9525">
            <a:solidFill>
              <a:srgbClr val="E89A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28D3A11A-95D2-B0CA-1946-44B2146433C9}"/>
              </a:ext>
            </a:extLst>
          </p:cNvPr>
          <p:cNvSpPr txBox="1"/>
          <p:nvPr/>
        </p:nvSpPr>
        <p:spPr>
          <a:xfrm>
            <a:off x="4673600" y="2095500"/>
            <a:ext cx="2921000" cy="184666"/>
          </a:xfrm>
          <a:prstGeom prst="rect">
            <a:avLst/>
          </a:prstGeom>
          <a:noFill/>
        </p:spPr>
        <p:txBody>
          <a:bodyPr vert="horz" lIns="0" tIns="0" rIns="0" bIns="0" rtlCol="0">
            <a:spAutoFit/>
          </a:bodyPr>
          <a:lstStyle/>
          <a:p>
            <a:r>
              <a:rPr lang="zh-CN" altLang="en-US" sz="1200" b="1">
                <a:solidFill>
                  <a:srgbClr val="E89A3C"/>
                </a:solidFill>
                <a:latin typeface="Microsoft YaHei" panose="020B0503020204020204" pitchFamily="34" charset="-122"/>
              </a:rPr>
              <a:t>需客户数据验证</a:t>
            </a:r>
          </a:p>
        </p:txBody>
      </p:sp>
      <p:sp>
        <p:nvSpPr>
          <p:cNvPr id="19" name="椭圆 18">
            <a:extLst>
              <a:ext uri="{FF2B5EF4-FFF2-40B4-BE49-F238E27FC236}">
                <a16:creationId xmlns:a16="http://schemas.microsoft.com/office/drawing/2014/main" id="{854565B4-68D7-2FDE-F56F-159432A6C3CC}"/>
              </a:ext>
            </a:extLst>
          </p:cNvPr>
          <p:cNvSpPr/>
          <p:nvPr/>
        </p:nvSpPr>
        <p:spPr>
          <a:xfrm>
            <a:off x="4673600" y="2946400"/>
            <a:ext cx="114300" cy="114300"/>
          </a:xfrm>
          <a:prstGeom prst="ellipse">
            <a:avLst/>
          </a:prstGeom>
          <a:solidFill>
            <a:srgbClr val="2F9E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FDBA6413-974E-F92F-BCE6-D6A8962EBC2D}"/>
              </a:ext>
            </a:extLst>
          </p:cNvPr>
          <p:cNvSpPr txBox="1"/>
          <p:nvPr/>
        </p:nvSpPr>
        <p:spPr>
          <a:xfrm>
            <a:off x="4953000" y="2857500"/>
            <a:ext cx="2578100" cy="215444"/>
          </a:xfrm>
          <a:prstGeom prst="rect">
            <a:avLst/>
          </a:prstGeom>
          <a:noFill/>
        </p:spPr>
        <p:txBody>
          <a:bodyPr vert="horz" lIns="0" tIns="0" rIns="0" bIns="0" rtlCol="0">
            <a:spAutoFit/>
          </a:bodyPr>
          <a:lstStyle/>
          <a:p>
            <a:r>
              <a:rPr lang="zh-CN" altLang="en-US" sz="1400">
                <a:solidFill>
                  <a:srgbClr val="23343B"/>
                </a:solidFill>
                <a:latin typeface="Microsoft YaHei" panose="020B0503020204020204" pitchFamily="34" charset="-122"/>
              </a:rPr>
              <a:t>复杂连接识别完整性</a:t>
            </a:r>
          </a:p>
        </p:txBody>
      </p:sp>
      <p:sp>
        <p:nvSpPr>
          <p:cNvPr id="21" name="椭圆 20">
            <a:extLst>
              <a:ext uri="{FF2B5EF4-FFF2-40B4-BE49-F238E27FC236}">
                <a16:creationId xmlns:a16="http://schemas.microsoft.com/office/drawing/2014/main" id="{A8E050F6-895A-09E8-CE51-05BC29451915}"/>
              </a:ext>
            </a:extLst>
          </p:cNvPr>
          <p:cNvSpPr/>
          <p:nvPr/>
        </p:nvSpPr>
        <p:spPr>
          <a:xfrm>
            <a:off x="4673600" y="36830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86EE36F3-0E14-171A-E204-9A29B90854F0}"/>
              </a:ext>
            </a:extLst>
          </p:cNvPr>
          <p:cNvSpPr txBox="1"/>
          <p:nvPr/>
        </p:nvSpPr>
        <p:spPr>
          <a:xfrm>
            <a:off x="4953000" y="3594100"/>
            <a:ext cx="2578100" cy="215444"/>
          </a:xfrm>
          <a:prstGeom prst="rect">
            <a:avLst/>
          </a:prstGeom>
          <a:noFill/>
        </p:spPr>
        <p:txBody>
          <a:bodyPr vert="horz" lIns="0" tIns="0" rIns="0" bIns="0" rtlCol="0">
            <a:spAutoFit/>
          </a:bodyPr>
          <a:lstStyle/>
          <a:p>
            <a:r>
              <a:rPr lang="zh-CN" altLang="en-US" sz="1400">
                <a:solidFill>
                  <a:srgbClr val="23343B"/>
                </a:solidFill>
                <a:latin typeface="Microsoft YaHei" panose="020B0503020204020204" pitchFamily="34" charset="-122"/>
              </a:rPr>
              <a:t>远程连接与业务规则</a:t>
            </a:r>
          </a:p>
        </p:txBody>
      </p:sp>
      <p:sp>
        <p:nvSpPr>
          <p:cNvPr id="23" name="椭圆 22">
            <a:extLst>
              <a:ext uri="{FF2B5EF4-FFF2-40B4-BE49-F238E27FC236}">
                <a16:creationId xmlns:a16="http://schemas.microsoft.com/office/drawing/2014/main" id="{4EC2C9B3-96A1-5373-7F6D-121A3A85E87B}"/>
              </a:ext>
            </a:extLst>
          </p:cNvPr>
          <p:cNvSpPr/>
          <p:nvPr/>
        </p:nvSpPr>
        <p:spPr>
          <a:xfrm>
            <a:off x="4673600" y="44196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7838853D-A4B0-B7A3-BC5E-79E36345CCC5}"/>
              </a:ext>
            </a:extLst>
          </p:cNvPr>
          <p:cNvSpPr txBox="1"/>
          <p:nvPr/>
        </p:nvSpPr>
        <p:spPr>
          <a:xfrm>
            <a:off x="4953000" y="4330700"/>
            <a:ext cx="2578100" cy="215444"/>
          </a:xfrm>
          <a:prstGeom prst="rect">
            <a:avLst/>
          </a:prstGeom>
          <a:noFill/>
        </p:spPr>
        <p:txBody>
          <a:bodyPr vert="horz" lIns="0" tIns="0" rIns="0" bIns="0" rtlCol="0">
            <a:spAutoFit/>
          </a:bodyPr>
          <a:lstStyle/>
          <a:p>
            <a:r>
              <a:rPr lang="zh-CN" altLang="en-US" sz="1400">
                <a:solidFill>
                  <a:srgbClr val="23343B"/>
                </a:solidFill>
                <a:latin typeface="Microsoft YaHei" panose="020B0503020204020204" pitchFamily="34" charset="-122"/>
              </a:rPr>
              <a:t>大规模性能与准确性</a:t>
            </a:r>
          </a:p>
        </p:txBody>
      </p:sp>
      <p:sp>
        <p:nvSpPr>
          <p:cNvPr id="25" name="矩形: 圆角 24">
            <a:extLst>
              <a:ext uri="{FF2B5EF4-FFF2-40B4-BE49-F238E27FC236}">
                <a16:creationId xmlns:a16="http://schemas.microsoft.com/office/drawing/2014/main" id="{51E12EFF-853F-E425-111F-89B8345EF85C}"/>
              </a:ext>
            </a:extLst>
          </p:cNvPr>
          <p:cNvSpPr/>
          <p:nvPr/>
        </p:nvSpPr>
        <p:spPr>
          <a:xfrm>
            <a:off x="8229600" y="1714500"/>
            <a:ext cx="3403600" cy="3746500"/>
          </a:xfrm>
          <a:prstGeom prst="roundRect">
            <a:avLst/>
          </a:prstGeom>
          <a:solidFill>
            <a:srgbClr val="FFFFFF"/>
          </a:solidFill>
          <a:ln w="9525">
            <a:solidFill>
              <a:srgbClr val="E5E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210E7923-A001-1B91-6DCF-F912DC26EEAB}"/>
              </a:ext>
            </a:extLst>
          </p:cNvPr>
          <p:cNvSpPr/>
          <p:nvPr/>
        </p:nvSpPr>
        <p:spPr>
          <a:xfrm>
            <a:off x="8229600" y="1714500"/>
            <a:ext cx="3403600" cy="114300"/>
          </a:xfrm>
          <a:prstGeom prst="rect">
            <a:avLst/>
          </a:prstGeom>
          <a:solidFill>
            <a:srgbClr val="66757B"/>
          </a:solidFill>
          <a:ln w="9525">
            <a:solidFill>
              <a:srgbClr val="66757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259010C9-2551-665C-02BD-7F5B3D847B2C}"/>
              </a:ext>
            </a:extLst>
          </p:cNvPr>
          <p:cNvSpPr txBox="1"/>
          <p:nvPr/>
        </p:nvSpPr>
        <p:spPr>
          <a:xfrm>
            <a:off x="8483600" y="2095500"/>
            <a:ext cx="2921000" cy="184666"/>
          </a:xfrm>
          <a:prstGeom prst="rect">
            <a:avLst/>
          </a:prstGeom>
          <a:noFill/>
        </p:spPr>
        <p:txBody>
          <a:bodyPr vert="horz" lIns="0" tIns="0" rIns="0" bIns="0" rtlCol="0">
            <a:spAutoFit/>
          </a:bodyPr>
          <a:lstStyle/>
          <a:p>
            <a:r>
              <a:rPr lang="zh-CN" altLang="en-US" sz="1200" b="1">
                <a:solidFill>
                  <a:srgbClr val="66757B"/>
                </a:solidFill>
                <a:latin typeface="Microsoft YaHei" panose="020B0503020204020204" pitchFamily="34" charset="-122"/>
              </a:rPr>
              <a:t>后续可扩展</a:t>
            </a:r>
          </a:p>
        </p:txBody>
      </p:sp>
      <p:sp>
        <p:nvSpPr>
          <p:cNvPr id="28" name="椭圆 27">
            <a:extLst>
              <a:ext uri="{FF2B5EF4-FFF2-40B4-BE49-F238E27FC236}">
                <a16:creationId xmlns:a16="http://schemas.microsoft.com/office/drawing/2014/main" id="{B784EBC1-2D46-3EE0-F9CD-37D438E16DCC}"/>
              </a:ext>
            </a:extLst>
          </p:cNvPr>
          <p:cNvSpPr/>
          <p:nvPr/>
        </p:nvSpPr>
        <p:spPr>
          <a:xfrm>
            <a:off x="8483600" y="2946400"/>
            <a:ext cx="114300" cy="114300"/>
          </a:xfrm>
          <a:prstGeom prst="ellipse">
            <a:avLst/>
          </a:prstGeom>
          <a:solidFill>
            <a:srgbClr val="2F9E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2D31A6E4-5FC1-0330-38C2-6885A2DEDBF5}"/>
              </a:ext>
            </a:extLst>
          </p:cNvPr>
          <p:cNvSpPr txBox="1"/>
          <p:nvPr/>
        </p:nvSpPr>
        <p:spPr>
          <a:xfrm>
            <a:off x="8763000" y="2857500"/>
            <a:ext cx="2578100" cy="215444"/>
          </a:xfrm>
          <a:prstGeom prst="rect">
            <a:avLst/>
          </a:prstGeom>
          <a:noFill/>
        </p:spPr>
        <p:txBody>
          <a:bodyPr vert="horz" lIns="0" tIns="0" rIns="0" bIns="0" rtlCol="0">
            <a:spAutoFit/>
          </a:bodyPr>
          <a:lstStyle/>
          <a:p>
            <a:r>
              <a:rPr lang="zh-CN" altLang="en-US" sz="1400">
                <a:solidFill>
                  <a:srgbClr val="23343B"/>
                </a:solidFill>
                <a:latin typeface="Microsoft YaHei" panose="020B0503020204020204" pitchFamily="34" charset="-122"/>
              </a:rPr>
              <a:t>更完整的自动寻路</a:t>
            </a:r>
          </a:p>
        </p:txBody>
      </p:sp>
      <p:sp>
        <p:nvSpPr>
          <p:cNvPr id="30" name="椭圆 29">
            <a:extLst>
              <a:ext uri="{FF2B5EF4-FFF2-40B4-BE49-F238E27FC236}">
                <a16:creationId xmlns:a16="http://schemas.microsoft.com/office/drawing/2014/main" id="{EBD07AD3-7402-54F0-7EFB-D99CFFD218C7}"/>
              </a:ext>
            </a:extLst>
          </p:cNvPr>
          <p:cNvSpPr/>
          <p:nvPr/>
        </p:nvSpPr>
        <p:spPr>
          <a:xfrm>
            <a:off x="8483600" y="36830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BAC0892F-FD60-7FE7-46AA-07B2206C3E61}"/>
              </a:ext>
            </a:extLst>
          </p:cNvPr>
          <p:cNvSpPr txBox="1"/>
          <p:nvPr/>
        </p:nvSpPr>
        <p:spPr>
          <a:xfrm>
            <a:off x="8763000" y="3594100"/>
            <a:ext cx="2578100" cy="215444"/>
          </a:xfrm>
          <a:prstGeom prst="rect">
            <a:avLst/>
          </a:prstGeom>
          <a:noFill/>
        </p:spPr>
        <p:txBody>
          <a:bodyPr vert="horz" lIns="0" tIns="0" rIns="0" bIns="0" rtlCol="0">
            <a:spAutoFit/>
          </a:bodyPr>
          <a:lstStyle/>
          <a:p>
            <a:r>
              <a:rPr lang="zh-CN" altLang="en-US" sz="1400">
                <a:solidFill>
                  <a:srgbClr val="23343B"/>
                </a:solidFill>
                <a:latin typeface="Microsoft YaHei" panose="020B0503020204020204" pitchFamily="34" charset="-122"/>
              </a:rPr>
              <a:t>版本与审计追踪</a:t>
            </a:r>
          </a:p>
        </p:txBody>
      </p:sp>
      <p:sp>
        <p:nvSpPr>
          <p:cNvPr id="32" name="椭圆 31">
            <a:extLst>
              <a:ext uri="{FF2B5EF4-FFF2-40B4-BE49-F238E27FC236}">
                <a16:creationId xmlns:a16="http://schemas.microsoft.com/office/drawing/2014/main" id="{91B76C1C-7F73-C8EE-108A-725E994F70C0}"/>
              </a:ext>
            </a:extLst>
          </p:cNvPr>
          <p:cNvSpPr/>
          <p:nvPr/>
        </p:nvSpPr>
        <p:spPr>
          <a:xfrm>
            <a:off x="8483600" y="4419600"/>
            <a:ext cx="114300" cy="114300"/>
          </a:xfrm>
          <a:prstGeom prst="ellipse">
            <a:avLst/>
          </a:prstGeom>
          <a:solidFill>
            <a:srgbClr val="E89A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a:extLst>
              <a:ext uri="{FF2B5EF4-FFF2-40B4-BE49-F238E27FC236}">
                <a16:creationId xmlns:a16="http://schemas.microsoft.com/office/drawing/2014/main" id="{5EBE8C8A-3AE4-6991-F396-D421180CC8E9}"/>
              </a:ext>
            </a:extLst>
          </p:cNvPr>
          <p:cNvSpPr txBox="1"/>
          <p:nvPr/>
        </p:nvSpPr>
        <p:spPr>
          <a:xfrm>
            <a:off x="8763000" y="4330700"/>
            <a:ext cx="2578100" cy="215444"/>
          </a:xfrm>
          <a:prstGeom prst="rect">
            <a:avLst/>
          </a:prstGeom>
          <a:noFill/>
        </p:spPr>
        <p:txBody>
          <a:bodyPr vert="horz" lIns="0" tIns="0" rIns="0" bIns="0" rtlCol="0">
            <a:spAutoFit/>
          </a:bodyPr>
          <a:lstStyle/>
          <a:p>
            <a:r>
              <a:rPr lang="zh-CN" altLang="en-US" sz="1400">
                <a:solidFill>
                  <a:srgbClr val="23343B"/>
                </a:solidFill>
                <a:latin typeface="Microsoft YaHei" panose="020B0503020204020204" pitchFamily="34" charset="-122"/>
              </a:rPr>
              <a:t>电子签名与合规验证</a:t>
            </a:r>
          </a:p>
        </p:txBody>
      </p:sp>
    </p:spTree>
    <p:extLst>
      <p:ext uri="{BB962C8B-B14F-4D97-AF65-F5344CB8AC3E}">
        <p14:creationId xmlns:p14="http://schemas.microsoft.com/office/powerpoint/2010/main" val="17838351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211D395-F35E-9081-36B4-C892DBAD8432}"/>
              </a:ext>
            </a:extLst>
          </p:cNvPr>
          <p:cNvSpPr txBox="1"/>
          <p:nvPr/>
        </p:nvSpPr>
        <p:spPr>
          <a:xfrm>
            <a:off x="533400" y="254000"/>
            <a:ext cx="8255000" cy="138499"/>
          </a:xfrm>
          <a:prstGeom prst="rect">
            <a:avLst/>
          </a:prstGeom>
          <a:noFill/>
        </p:spPr>
        <p:txBody>
          <a:bodyPr vert="horz" lIns="0" tIns="0" rIns="0" bIns="0" rtlCol="0">
            <a:spAutoFit/>
          </a:bodyPr>
          <a:lstStyle/>
          <a:p>
            <a:r>
              <a:rPr lang="zh-CN" altLang="en-US" sz="900" b="1">
                <a:solidFill>
                  <a:srgbClr val="2F9E75"/>
                </a:solidFill>
                <a:latin typeface="Aptos" panose="020B0004020202020204" pitchFamily="34" charset="0"/>
              </a:rPr>
              <a:t>价值总结</a:t>
            </a:r>
          </a:p>
        </p:txBody>
      </p:sp>
      <p:sp>
        <p:nvSpPr>
          <p:cNvPr id="3" name="文本框 2">
            <a:extLst>
              <a:ext uri="{FF2B5EF4-FFF2-40B4-BE49-F238E27FC236}">
                <a16:creationId xmlns:a16="http://schemas.microsoft.com/office/drawing/2014/main" id="{FCD7E17D-795F-15ED-7C0F-3B1138B457B0}"/>
              </a:ext>
            </a:extLst>
          </p:cNvPr>
          <p:cNvSpPr txBox="1"/>
          <p:nvPr/>
        </p:nvSpPr>
        <p:spPr>
          <a:xfrm>
            <a:off x="533400" y="558800"/>
            <a:ext cx="9779000" cy="400110"/>
          </a:xfrm>
          <a:prstGeom prst="rect">
            <a:avLst/>
          </a:prstGeom>
          <a:noFill/>
        </p:spPr>
        <p:txBody>
          <a:bodyPr vert="horz" lIns="0" tIns="0" rIns="0" bIns="0" rtlCol="0">
            <a:spAutoFit/>
          </a:bodyPr>
          <a:lstStyle/>
          <a:p>
            <a:r>
              <a:rPr lang="zh-CN" altLang="en-US" sz="2600" b="1">
                <a:solidFill>
                  <a:srgbClr val="23343B"/>
                </a:solidFill>
                <a:latin typeface="Microsoft YaHei" panose="020B0503020204020204" pitchFamily="34" charset="-122"/>
              </a:rPr>
              <a:t>一条贯穿设计、模拟、审查与交付的数字链路</a:t>
            </a:r>
          </a:p>
        </p:txBody>
      </p:sp>
      <p:cxnSp>
        <p:nvCxnSpPr>
          <p:cNvPr id="4" name="直接连接符 3">
            <a:extLst>
              <a:ext uri="{FF2B5EF4-FFF2-40B4-BE49-F238E27FC236}">
                <a16:creationId xmlns:a16="http://schemas.microsoft.com/office/drawing/2014/main" id="{E6FE5C3C-C2B9-3EA7-5C62-5BF4DFEDCD68}"/>
              </a:ext>
            </a:extLst>
          </p:cNvPr>
          <p:cNvCxnSpPr/>
          <p:nvPr/>
        </p:nvCxnSpPr>
        <p:spPr>
          <a:xfrm>
            <a:off x="533400" y="1231900"/>
            <a:ext cx="11125200" cy="0"/>
          </a:xfrm>
          <a:prstGeom prst="line">
            <a:avLst/>
          </a:prstGeom>
          <a:ln w="12700">
            <a:solidFill>
              <a:srgbClr val="E5EAE8"/>
            </a:solidFill>
          </a:ln>
        </p:spPr>
        <p:style>
          <a:lnRef idx="2">
            <a:schemeClr val="accent1"/>
          </a:lnRef>
          <a:fillRef idx="0">
            <a:schemeClr val="accent1"/>
          </a:fillRef>
          <a:effectRef idx="1">
            <a:schemeClr val="accent1"/>
          </a:effectRef>
          <a:fontRef idx="minor">
            <a:schemeClr val="tx1"/>
          </a:fontRef>
        </p:style>
      </p:cxnSp>
      <p:sp>
        <p:nvSpPr>
          <p:cNvPr id="5" name="文本框 4">
            <a:extLst>
              <a:ext uri="{FF2B5EF4-FFF2-40B4-BE49-F238E27FC236}">
                <a16:creationId xmlns:a16="http://schemas.microsoft.com/office/drawing/2014/main" id="{986D871C-5EC4-0179-3A85-CA8ECF9DB3E4}"/>
              </a:ext>
            </a:extLst>
          </p:cNvPr>
          <p:cNvSpPr txBox="1"/>
          <p:nvPr/>
        </p:nvSpPr>
        <p:spPr>
          <a:xfrm>
            <a:off x="11303000" y="254000"/>
            <a:ext cx="355600" cy="138499"/>
          </a:xfrm>
          <a:prstGeom prst="rect">
            <a:avLst/>
          </a:prstGeom>
          <a:noFill/>
        </p:spPr>
        <p:txBody>
          <a:bodyPr vert="horz" lIns="0" tIns="0" rIns="0" bIns="0" rtlCol="0">
            <a:spAutoFit/>
          </a:bodyPr>
          <a:lstStyle/>
          <a:p>
            <a:pPr algn="r"/>
            <a:r>
              <a:rPr lang="en-US" altLang="zh-CN" sz="900" b="1">
                <a:solidFill>
                  <a:srgbClr val="66757B"/>
                </a:solidFill>
                <a:latin typeface="Aptos" panose="020B0004020202020204" pitchFamily="34" charset="0"/>
              </a:rPr>
              <a:t>11</a:t>
            </a:r>
            <a:endParaRPr lang="zh-CN" altLang="en-US" sz="900" b="1">
              <a:solidFill>
                <a:srgbClr val="66757B"/>
              </a:solidFill>
              <a:latin typeface="Aptos" panose="020B0004020202020204" pitchFamily="34" charset="0"/>
            </a:endParaRPr>
          </a:p>
        </p:txBody>
      </p:sp>
      <p:sp>
        <p:nvSpPr>
          <p:cNvPr id="6" name="文本框 5">
            <a:extLst>
              <a:ext uri="{FF2B5EF4-FFF2-40B4-BE49-F238E27FC236}">
                <a16:creationId xmlns:a16="http://schemas.microsoft.com/office/drawing/2014/main" id="{0A1C8737-E4C3-3380-DB50-945266B0E8FF}"/>
              </a:ext>
            </a:extLst>
          </p:cNvPr>
          <p:cNvSpPr txBox="1"/>
          <p:nvPr/>
        </p:nvSpPr>
        <p:spPr>
          <a:xfrm>
            <a:off x="533400" y="6578600"/>
            <a:ext cx="6350000" cy="107722"/>
          </a:xfrm>
          <a:prstGeom prst="rect">
            <a:avLst/>
          </a:prstGeom>
          <a:noFill/>
        </p:spPr>
        <p:txBody>
          <a:bodyPr vert="horz" lIns="0" tIns="0" rIns="0" bIns="0" rtlCol="0">
            <a:spAutoFit/>
          </a:bodyPr>
          <a:lstStyle/>
          <a:p>
            <a:r>
              <a:rPr lang="en-US" altLang="zh-CN" sz="700" b="1">
                <a:solidFill>
                  <a:srgbClr val="66757B"/>
                </a:solidFill>
                <a:latin typeface="Aptos" panose="020B0004020202020204" pitchFamily="34" charset="0"/>
              </a:rPr>
              <a:t>HIGHLIGHTED FLOW PATH SOFTWARE · </a:t>
            </a:r>
            <a:r>
              <a:rPr lang="zh-CN" altLang="en-US" sz="700" b="1">
                <a:solidFill>
                  <a:srgbClr val="66757B"/>
                </a:solidFill>
                <a:latin typeface="Aptos" panose="020B0004020202020204" pitchFamily="34" charset="0"/>
              </a:rPr>
              <a:t>客户演示</a:t>
            </a:r>
          </a:p>
        </p:txBody>
      </p:sp>
      <p:sp>
        <p:nvSpPr>
          <p:cNvPr id="7" name="文本框 6">
            <a:extLst>
              <a:ext uri="{FF2B5EF4-FFF2-40B4-BE49-F238E27FC236}">
                <a16:creationId xmlns:a16="http://schemas.microsoft.com/office/drawing/2014/main" id="{D7855A72-8AF6-A23C-A9BB-D32C8EC995F5}"/>
              </a:ext>
            </a:extLst>
          </p:cNvPr>
          <p:cNvSpPr txBox="1"/>
          <p:nvPr/>
        </p:nvSpPr>
        <p:spPr>
          <a:xfrm>
            <a:off x="889000" y="1905000"/>
            <a:ext cx="889000" cy="461665"/>
          </a:xfrm>
          <a:prstGeom prst="rect">
            <a:avLst/>
          </a:prstGeom>
          <a:noFill/>
        </p:spPr>
        <p:txBody>
          <a:bodyPr vert="horz" lIns="0" tIns="0" rIns="0" bIns="0" rtlCol="0">
            <a:spAutoFit/>
          </a:bodyPr>
          <a:lstStyle/>
          <a:p>
            <a:r>
              <a:rPr lang="en-US" altLang="zh-CN" sz="3000" b="1">
                <a:solidFill>
                  <a:srgbClr val="2F9E75"/>
                </a:solidFill>
                <a:latin typeface="Aptos" panose="020B0004020202020204" pitchFamily="34" charset="0"/>
              </a:rPr>
              <a:t>01</a:t>
            </a:r>
            <a:endParaRPr lang="zh-CN" altLang="en-US" sz="3000" b="1">
              <a:solidFill>
                <a:srgbClr val="2F9E75"/>
              </a:solidFill>
              <a:latin typeface="Aptos" panose="020B0004020202020204" pitchFamily="34" charset="0"/>
            </a:endParaRPr>
          </a:p>
        </p:txBody>
      </p:sp>
      <p:sp>
        <p:nvSpPr>
          <p:cNvPr id="8" name="文本框 7">
            <a:extLst>
              <a:ext uri="{FF2B5EF4-FFF2-40B4-BE49-F238E27FC236}">
                <a16:creationId xmlns:a16="http://schemas.microsoft.com/office/drawing/2014/main" id="{C8654B40-A020-6801-B4F4-DA28AD285DD7}"/>
              </a:ext>
            </a:extLst>
          </p:cNvPr>
          <p:cNvSpPr txBox="1"/>
          <p:nvPr/>
        </p:nvSpPr>
        <p:spPr>
          <a:xfrm>
            <a:off x="1778000" y="2006600"/>
            <a:ext cx="2794000" cy="246221"/>
          </a:xfrm>
          <a:prstGeom prst="rect">
            <a:avLst/>
          </a:prstGeom>
          <a:noFill/>
        </p:spPr>
        <p:txBody>
          <a:bodyPr vert="horz" lIns="0" tIns="0" rIns="0" bIns="0" rtlCol="0">
            <a:spAutoFit/>
          </a:bodyPr>
          <a:lstStyle/>
          <a:p>
            <a:r>
              <a:rPr lang="zh-CN" altLang="en-US" sz="1600" b="1">
                <a:solidFill>
                  <a:srgbClr val="23343B"/>
                </a:solidFill>
                <a:latin typeface="Microsoft YaHei" panose="020B0503020204020204" pitchFamily="34" charset="-122"/>
              </a:rPr>
              <a:t>数字化 </a:t>
            </a:r>
            <a:r>
              <a:rPr lang="en-US" altLang="zh-CN" sz="1600" b="1">
                <a:solidFill>
                  <a:srgbClr val="23343B"/>
                </a:solidFill>
                <a:latin typeface="Microsoft YaHei" panose="020B0503020204020204" pitchFamily="34" charset="-122"/>
              </a:rPr>
              <a:t>P&amp;ID</a:t>
            </a:r>
            <a:endParaRPr lang="zh-CN" altLang="en-US" sz="1600" b="1">
              <a:solidFill>
                <a:srgbClr val="23343B"/>
              </a:solidFill>
              <a:latin typeface="Microsoft YaHei" panose="020B0503020204020204" pitchFamily="34" charset="-122"/>
            </a:endParaRPr>
          </a:p>
        </p:txBody>
      </p:sp>
      <p:cxnSp>
        <p:nvCxnSpPr>
          <p:cNvPr id="9" name="直接连接符 8">
            <a:extLst>
              <a:ext uri="{FF2B5EF4-FFF2-40B4-BE49-F238E27FC236}">
                <a16:creationId xmlns:a16="http://schemas.microsoft.com/office/drawing/2014/main" id="{344BD00C-A2D3-B215-87E0-EB770F2578C1}"/>
              </a:ext>
            </a:extLst>
          </p:cNvPr>
          <p:cNvCxnSpPr/>
          <p:nvPr/>
        </p:nvCxnSpPr>
        <p:spPr>
          <a:xfrm>
            <a:off x="4254500" y="2209800"/>
            <a:ext cx="1651000" cy="0"/>
          </a:xfrm>
          <a:prstGeom prst="line">
            <a:avLst/>
          </a:prstGeom>
          <a:ln w="38100">
            <a:solidFill>
              <a:srgbClr val="E89A3C"/>
            </a:solidFill>
          </a:ln>
        </p:spPr>
        <p:style>
          <a:lnRef idx="2">
            <a:schemeClr val="accent1"/>
          </a:lnRef>
          <a:fillRef idx="0">
            <a:schemeClr val="accent1"/>
          </a:fillRef>
          <a:effectRef idx="1">
            <a:schemeClr val="accent1"/>
          </a:effectRef>
          <a:fontRef idx="minor">
            <a:schemeClr val="tx1"/>
          </a:fontRef>
        </p:style>
      </p:cxnSp>
      <p:sp>
        <p:nvSpPr>
          <p:cNvPr id="10" name="文本框 9">
            <a:extLst>
              <a:ext uri="{FF2B5EF4-FFF2-40B4-BE49-F238E27FC236}">
                <a16:creationId xmlns:a16="http://schemas.microsoft.com/office/drawing/2014/main" id="{5AB2DF50-DC3D-BF40-4711-ED441D36B93B}"/>
              </a:ext>
            </a:extLst>
          </p:cNvPr>
          <p:cNvSpPr txBox="1"/>
          <p:nvPr/>
        </p:nvSpPr>
        <p:spPr>
          <a:xfrm>
            <a:off x="6172200" y="1905000"/>
            <a:ext cx="889000" cy="461665"/>
          </a:xfrm>
          <a:prstGeom prst="rect">
            <a:avLst/>
          </a:prstGeom>
          <a:noFill/>
        </p:spPr>
        <p:txBody>
          <a:bodyPr vert="horz" lIns="0" tIns="0" rIns="0" bIns="0" rtlCol="0">
            <a:spAutoFit/>
          </a:bodyPr>
          <a:lstStyle/>
          <a:p>
            <a:r>
              <a:rPr lang="en-US" altLang="zh-CN" sz="3000" b="1">
                <a:solidFill>
                  <a:srgbClr val="2F9E75"/>
                </a:solidFill>
                <a:latin typeface="Aptos" panose="020B0004020202020204" pitchFamily="34" charset="0"/>
              </a:rPr>
              <a:t>02</a:t>
            </a:r>
            <a:endParaRPr lang="zh-CN" altLang="en-US" sz="3000" b="1">
              <a:solidFill>
                <a:srgbClr val="2F9E75"/>
              </a:solidFill>
              <a:latin typeface="Aptos" panose="020B0004020202020204" pitchFamily="34" charset="0"/>
            </a:endParaRPr>
          </a:p>
        </p:txBody>
      </p:sp>
      <p:sp>
        <p:nvSpPr>
          <p:cNvPr id="11" name="文本框 10">
            <a:extLst>
              <a:ext uri="{FF2B5EF4-FFF2-40B4-BE49-F238E27FC236}">
                <a16:creationId xmlns:a16="http://schemas.microsoft.com/office/drawing/2014/main" id="{46394644-A258-E9F1-CEB0-10FF33631030}"/>
              </a:ext>
            </a:extLst>
          </p:cNvPr>
          <p:cNvSpPr txBox="1"/>
          <p:nvPr/>
        </p:nvSpPr>
        <p:spPr>
          <a:xfrm>
            <a:off x="7061200" y="2006600"/>
            <a:ext cx="3302000" cy="246221"/>
          </a:xfrm>
          <a:prstGeom prst="rect">
            <a:avLst/>
          </a:prstGeom>
          <a:noFill/>
        </p:spPr>
        <p:txBody>
          <a:bodyPr vert="horz" lIns="0" tIns="0" rIns="0" bIns="0" rtlCol="0">
            <a:spAutoFit/>
          </a:bodyPr>
          <a:lstStyle/>
          <a:p>
            <a:r>
              <a:rPr lang="zh-CN" altLang="en-US" sz="1600" b="1">
                <a:solidFill>
                  <a:srgbClr val="23343B"/>
                </a:solidFill>
                <a:latin typeface="Microsoft YaHei" panose="020B0503020204020204" pitchFamily="34" charset="-122"/>
              </a:rPr>
              <a:t>流路模拟与审查</a:t>
            </a:r>
          </a:p>
        </p:txBody>
      </p:sp>
      <p:sp>
        <p:nvSpPr>
          <p:cNvPr id="12" name="矩形: 圆角 11">
            <a:extLst>
              <a:ext uri="{FF2B5EF4-FFF2-40B4-BE49-F238E27FC236}">
                <a16:creationId xmlns:a16="http://schemas.microsoft.com/office/drawing/2014/main" id="{0B641C68-3CE9-E911-2902-8F7C283B65AA}"/>
              </a:ext>
            </a:extLst>
          </p:cNvPr>
          <p:cNvSpPr/>
          <p:nvPr/>
        </p:nvSpPr>
        <p:spPr>
          <a:xfrm>
            <a:off x="889000" y="3276600"/>
            <a:ext cx="10414000" cy="1625600"/>
          </a:xfrm>
          <a:prstGeom prst="roundRect">
            <a:avLst/>
          </a:prstGeom>
          <a:solidFill>
            <a:srgbClr val="263F42"/>
          </a:solidFill>
          <a:ln w="9525">
            <a:solidFill>
              <a:srgbClr val="263F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E21DB222-B280-E3ED-3379-FC25C0476526}"/>
              </a:ext>
            </a:extLst>
          </p:cNvPr>
          <p:cNvSpPr txBox="1"/>
          <p:nvPr/>
        </p:nvSpPr>
        <p:spPr>
          <a:xfrm>
            <a:off x="1333500" y="3632200"/>
            <a:ext cx="9525000" cy="338554"/>
          </a:xfrm>
          <a:prstGeom prst="rect">
            <a:avLst/>
          </a:prstGeom>
          <a:noFill/>
        </p:spPr>
        <p:txBody>
          <a:bodyPr vert="horz" lIns="0" tIns="0" rIns="0" bIns="0" rtlCol="0">
            <a:spAutoFit/>
          </a:bodyPr>
          <a:lstStyle/>
          <a:p>
            <a:pPr algn="ctr"/>
            <a:r>
              <a:rPr lang="zh-CN" altLang="en-US" sz="2200" b="1">
                <a:solidFill>
                  <a:srgbClr val="FFFFFF"/>
                </a:solidFill>
                <a:latin typeface="Microsoft YaHei" panose="020B0503020204020204" pitchFamily="34" charset="-122"/>
              </a:rPr>
              <a:t>将 </a:t>
            </a:r>
            <a:r>
              <a:rPr lang="en-US" altLang="zh-CN" sz="2200" b="1">
                <a:solidFill>
                  <a:srgbClr val="FFFFFF"/>
                </a:solidFill>
                <a:latin typeface="Microsoft YaHei" panose="020B0503020204020204" pitchFamily="34" charset="-122"/>
              </a:rPr>
              <a:t>CIP </a:t>
            </a:r>
            <a:r>
              <a:rPr lang="zh-CN" altLang="en-US" sz="2200" b="1">
                <a:solidFill>
                  <a:srgbClr val="FFFFFF"/>
                </a:solidFill>
                <a:latin typeface="Microsoft YaHei" panose="020B0503020204020204" pitchFamily="34" charset="-122"/>
              </a:rPr>
              <a:t>过程、</a:t>
            </a:r>
            <a:r>
              <a:rPr lang="en-US" altLang="zh-CN" sz="2200" b="1">
                <a:solidFill>
                  <a:srgbClr val="FFFFFF"/>
                </a:solidFill>
                <a:latin typeface="Microsoft YaHei" panose="020B0503020204020204" pitchFamily="34" charset="-122"/>
              </a:rPr>
              <a:t>P&amp;ID </a:t>
            </a:r>
            <a:r>
              <a:rPr lang="zh-CN" altLang="en-US" sz="2200" b="1">
                <a:solidFill>
                  <a:srgbClr val="FFFFFF"/>
                </a:solidFill>
                <a:latin typeface="Microsoft YaHei" panose="020B0503020204020204" pitchFamily="34" charset="-122"/>
              </a:rPr>
              <a:t>状态与报告输出连接为一条完整的数字化业务链路。</a:t>
            </a:r>
          </a:p>
        </p:txBody>
      </p:sp>
      <p:sp>
        <p:nvSpPr>
          <p:cNvPr id="14" name="文本框 13">
            <a:extLst>
              <a:ext uri="{FF2B5EF4-FFF2-40B4-BE49-F238E27FC236}">
                <a16:creationId xmlns:a16="http://schemas.microsoft.com/office/drawing/2014/main" id="{AA41D62B-62D3-23A6-E01F-319D0C0BD905}"/>
              </a:ext>
            </a:extLst>
          </p:cNvPr>
          <p:cNvSpPr txBox="1"/>
          <p:nvPr/>
        </p:nvSpPr>
        <p:spPr>
          <a:xfrm>
            <a:off x="1905000" y="5334000"/>
            <a:ext cx="8382000" cy="169277"/>
          </a:xfrm>
          <a:prstGeom prst="rect">
            <a:avLst/>
          </a:prstGeom>
          <a:noFill/>
        </p:spPr>
        <p:txBody>
          <a:bodyPr vert="horz" lIns="0" tIns="0" rIns="0" bIns="0" rtlCol="0">
            <a:spAutoFit/>
          </a:bodyPr>
          <a:lstStyle/>
          <a:p>
            <a:pPr algn="ctr"/>
            <a:r>
              <a:rPr lang="zh-CN" altLang="en-US" sz="1100" b="1">
                <a:solidFill>
                  <a:srgbClr val="2F9E75"/>
                </a:solidFill>
                <a:latin typeface="Microsoft YaHei" panose="020B0503020204020204" pitchFamily="34" charset="-122"/>
              </a:rPr>
              <a:t>降低重复工作 </a:t>
            </a:r>
            <a:r>
              <a:rPr lang="en-US" altLang="zh-CN" sz="1100" b="1">
                <a:solidFill>
                  <a:srgbClr val="2F9E75"/>
                </a:solidFill>
                <a:latin typeface="Microsoft YaHei" panose="020B0503020204020204" pitchFamily="34" charset="-122"/>
              </a:rPr>
              <a:t>· </a:t>
            </a:r>
            <a:r>
              <a:rPr lang="zh-CN" altLang="en-US" sz="1100" b="1">
                <a:solidFill>
                  <a:srgbClr val="2F9E75"/>
                </a:solidFill>
                <a:latin typeface="Microsoft YaHei" panose="020B0503020204020204" pitchFamily="34" charset="-122"/>
              </a:rPr>
              <a:t>减少遗漏风险 </a:t>
            </a:r>
            <a:r>
              <a:rPr lang="en-US" altLang="zh-CN" sz="1100" b="1">
                <a:solidFill>
                  <a:srgbClr val="2F9E75"/>
                </a:solidFill>
                <a:latin typeface="Microsoft YaHei" panose="020B0503020204020204" pitchFamily="34" charset="-122"/>
              </a:rPr>
              <a:t>· </a:t>
            </a:r>
            <a:r>
              <a:rPr lang="zh-CN" altLang="en-US" sz="1100" b="1">
                <a:solidFill>
                  <a:srgbClr val="2F9E75"/>
                </a:solidFill>
                <a:latin typeface="Microsoft YaHei" panose="020B0503020204020204" pitchFamily="34" charset="-122"/>
              </a:rPr>
              <a:t>提升交付一致性</a:t>
            </a:r>
          </a:p>
        </p:txBody>
      </p:sp>
    </p:spTree>
    <p:extLst>
      <p:ext uri="{BB962C8B-B14F-4D97-AF65-F5344CB8AC3E}">
        <p14:creationId xmlns:p14="http://schemas.microsoft.com/office/powerpoint/2010/main" val="134420982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2044</Words>
  <Application>Microsoft Office PowerPoint</Application>
  <PresentationFormat>自定义</PresentationFormat>
  <Paragraphs>138</Paragraphs>
  <Slides>11</Slides>
  <Notes>11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11</vt:i4>
      </vt:variant>
    </vt:vector>
  </HeadingPairs>
  <TitlesOfParts>
    <vt:vector size="18" baseType="lpstr">
      <vt:lpstr>等线</vt:lpstr>
      <vt:lpstr>等线 Light</vt:lpstr>
      <vt:lpstr>Microsoft YaHei</vt:lpstr>
      <vt:lpstr>Aptos</vt:lpstr>
      <vt:lpstr>Aptos Display</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Sai Shang</dc:creator>
  <cp:lastModifiedBy>Sai Shang</cp:lastModifiedBy>
  <cp:revision>1</cp:revision>
  <dcterms:created xsi:type="dcterms:W3CDTF">2026-08-13T02:51:09Z</dcterms:created>
  <dcterms:modified xsi:type="dcterms:W3CDTF">2026-08-13T02:51:09Z</dcterms:modified>
</cp:coreProperties>
</file>